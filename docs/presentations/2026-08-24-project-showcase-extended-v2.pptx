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e661336ea945ee" /><Relationship Type="http://schemas.openxmlformats.org/officeDocument/2006/relationships/extended-properties" Target="/docProps/app.xml" Id="R5e0cc1a49c854911" /><Relationship Type="http://schemas.openxmlformats.org/officeDocument/2006/relationships/officeDocument" Target="/ppt/presentation.xml" Id="R5a2aa00a426a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203d4fe4f04b19"/>
  </p:sldMasterIdLst>
  <p:notesMasterIdLst>
    <p:notesMasterId xmlns:r="http://schemas.openxmlformats.org/officeDocument/2006/relationships" r:id="Rc67ff3f609ef4036"/>
  </p:notesMasterIdLst>
  <p:sldIdLst>
    <p:sldId xmlns:r="http://schemas.openxmlformats.org/officeDocument/2006/relationships" id="256" r:id="R40dabb6229cb4988"/>
    <p:sldId xmlns:r="http://schemas.openxmlformats.org/officeDocument/2006/relationships" id="257" r:id="R6290350666754ab4"/>
    <p:sldId xmlns:r="http://schemas.openxmlformats.org/officeDocument/2006/relationships" id="258" r:id="Rcc391ba998c04d0e"/>
    <p:sldId xmlns:r="http://schemas.openxmlformats.org/officeDocument/2006/relationships" id="259" r:id="R49de2672f9d54c94"/>
    <p:sldId xmlns:r="http://schemas.openxmlformats.org/officeDocument/2006/relationships" id="260" r:id="R0f6f016a4ede44a6"/>
    <p:sldId xmlns:r="http://schemas.openxmlformats.org/officeDocument/2006/relationships" id="261" r:id="R8ed5b23dd1974c22"/>
    <p:sldId xmlns:r="http://schemas.openxmlformats.org/officeDocument/2006/relationships" id="262" r:id="Rf2f74db4961843ad"/>
    <p:sldId xmlns:r="http://schemas.openxmlformats.org/officeDocument/2006/relationships" id="263" r:id="R95e519022cb24e99"/>
    <p:sldId xmlns:r="http://schemas.openxmlformats.org/officeDocument/2006/relationships" id="264" r:id="R5eb91450e5464d82"/>
    <p:sldId xmlns:r="http://schemas.openxmlformats.org/officeDocument/2006/relationships" id="265" r:id="R9b0ed0098f0c4738"/>
    <p:sldId xmlns:r="http://schemas.openxmlformats.org/officeDocument/2006/relationships" id="266" r:id="R18e843118312427e"/>
    <p:sldId xmlns:r="http://schemas.openxmlformats.org/officeDocument/2006/relationships" id="267" r:id="Rd5878d318ade4310"/>
    <p:sldId xmlns:r="http://schemas.openxmlformats.org/officeDocument/2006/relationships" id="268" r:id="R0af5f56b9d95478e"/>
    <p:sldId xmlns:r="http://schemas.openxmlformats.org/officeDocument/2006/relationships" id="269" r:id="Ra8d21d7f4ebf47cb"/>
    <p:sldId xmlns:r="http://schemas.openxmlformats.org/officeDocument/2006/relationships" id="270" r:id="R0232fcfd4d4d4e86"/>
    <p:sldId xmlns:r="http://schemas.openxmlformats.org/officeDocument/2006/relationships" id="271" r:id="R43180a5760244d56"/>
    <p:sldId xmlns:r="http://schemas.openxmlformats.org/officeDocument/2006/relationships" id="272" r:id="R7228360ff7c24b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fde0d65f0c4641" /><Relationship Type="http://schemas.openxmlformats.org/officeDocument/2006/relationships/slideMaster" Target="/ppt/slideMasters/slideMaster1.xml" Id="Rd7203d4fe4f04b19" /><Relationship Type="http://schemas.openxmlformats.org/officeDocument/2006/relationships/notesMaster" Target="/ppt/notesMasters/notesMaster1.xml" Id="Rc67ff3f609ef4036" /><Relationship Type="http://schemas.openxmlformats.org/officeDocument/2006/relationships/presProps" Target="/ppt/presProps.xml" Id="Rb50db89f3bec4f66" /><Relationship Type="http://schemas.openxmlformats.org/officeDocument/2006/relationships/tableStyles" Target="/ppt/tableStyles.xml" Id="R11ccadcc7c624416" /><Relationship Type="http://schemas.openxmlformats.org/officeDocument/2006/relationships/slide" Target="/ppt/slides/slide1.xml" Id="R40dabb6229cb4988" /><Relationship Type="http://schemas.openxmlformats.org/officeDocument/2006/relationships/slide" Target="/ppt/slides/slide2.xml" Id="R6290350666754ab4" /><Relationship Type="http://schemas.openxmlformats.org/officeDocument/2006/relationships/slide" Target="/ppt/slides/slide3.xml" Id="Rcc391ba998c04d0e" /><Relationship Type="http://schemas.openxmlformats.org/officeDocument/2006/relationships/slide" Target="/ppt/slides/slide4.xml" Id="R49de2672f9d54c94" /><Relationship Type="http://schemas.openxmlformats.org/officeDocument/2006/relationships/slide" Target="/ppt/slides/slide5.xml" Id="R0f6f016a4ede44a6" /><Relationship Type="http://schemas.openxmlformats.org/officeDocument/2006/relationships/slide" Target="/ppt/slides/slide6.xml" Id="R8ed5b23dd1974c22" /><Relationship Type="http://schemas.openxmlformats.org/officeDocument/2006/relationships/slide" Target="/ppt/slides/slide7.xml" Id="Rf2f74db4961843ad" /><Relationship Type="http://schemas.openxmlformats.org/officeDocument/2006/relationships/slide" Target="/ppt/slides/slide8.xml" Id="R95e519022cb24e99" /><Relationship Type="http://schemas.openxmlformats.org/officeDocument/2006/relationships/slide" Target="/ppt/slides/slide9.xml" Id="R5eb91450e5464d82" /><Relationship Type="http://schemas.openxmlformats.org/officeDocument/2006/relationships/slide" Target="/ppt/slides/slide10.xml" Id="R9b0ed0098f0c4738" /><Relationship Type="http://schemas.openxmlformats.org/officeDocument/2006/relationships/slide" Target="/ppt/slides/slide11.xml" Id="R18e843118312427e" /><Relationship Type="http://schemas.openxmlformats.org/officeDocument/2006/relationships/slide" Target="/ppt/slides/slide12.xml" Id="Rd5878d318ade4310" /><Relationship Type="http://schemas.openxmlformats.org/officeDocument/2006/relationships/slide" Target="/ppt/slides/slide13.xml" Id="R0af5f56b9d95478e" /><Relationship Type="http://schemas.openxmlformats.org/officeDocument/2006/relationships/slide" Target="/ppt/slides/slide14.xml" Id="Ra8d21d7f4ebf47cb" /><Relationship Type="http://schemas.openxmlformats.org/officeDocument/2006/relationships/slide" Target="/ppt/slides/slide15.xml" Id="R0232fcfd4d4d4e86" /><Relationship Type="http://schemas.openxmlformats.org/officeDocument/2006/relationships/slide" Target="/ppt/slides/slide16.xml" Id="R43180a5760244d56" /><Relationship Type="http://schemas.openxmlformats.org/officeDocument/2006/relationships/slide" Target="/ppt/slides/slide17.xml" Id="R7228360ff7c24b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a43c37a3654c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f55bcaa46f4d63" /><Relationship Type="http://schemas.openxmlformats.org/officeDocument/2006/relationships/notesMaster" Target="/ppt/notesMasters/notesMaster1.xml" Id="Rc5649f8e44f344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40ff5b12f74471" /><Relationship Type="http://schemas.openxmlformats.org/officeDocument/2006/relationships/notesMaster" Target="/ppt/notesMasters/notesMaster1.xml" Id="R428d2edeeb9f43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f8b1feb7a74959" /><Relationship Type="http://schemas.openxmlformats.org/officeDocument/2006/relationships/notesMaster" Target="/ppt/notesMasters/notesMaster1.xml" Id="R7103414c680447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7a4361a66b4b5d" /><Relationship Type="http://schemas.openxmlformats.org/officeDocument/2006/relationships/notesMaster" Target="/ppt/notesMasters/notesMaster1.xml" Id="R3a94ada5067944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8d304a47dd4aa4" /><Relationship Type="http://schemas.openxmlformats.org/officeDocument/2006/relationships/notesMaster" Target="/ppt/notesMasters/notesMaster1.xml" Id="R75b82234c13846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7cc67696f4490f" /><Relationship Type="http://schemas.openxmlformats.org/officeDocument/2006/relationships/notesMaster" Target="/ppt/notesMasters/notesMaster1.xml" Id="Raee61cc75a7c43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07f700e264581" /><Relationship Type="http://schemas.openxmlformats.org/officeDocument/2006/relationships/notesMaster" Target="/ppt/notesMasters/notesMaster1.xml" Id="R2c4ab74ace1a4c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6dde8e265a4b8f" /><Relationship Type="http://schemas.openxmlformats.org/officeDocument/2006/relationships/notesMaster" Target="/ppt/notesMasters/notesMaster1.xml" Id="R999e9b7baf4b4f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f53369dd364fed" /><Relationship Type="http://schemas.openxmlformats.org/officeDocument/2006/relationships/notesMaster" Target="/ppt/notesMasters/notesMaster1.xml" Id="R7832abda90c54d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8c068bada24bf5" /><Relationship Type="http://schemas.openxmlformats.org/officeDocument/2006/relationships/notesMaster" Target="/ppt/notesMasters/notesMaster1.xml" Id="R60e494649233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f30ee01fb549d3" /><Relationship Type="http://schemas.openxmlformats.org/officeDocument/2006/relationships/notesMaster" Target="/ppt/notesMasters/notesMaster1.xml" Id="Rd31c81c1736f4c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7e5c424fdd44c5" /><Relationship Type="http://schemas.openxmlformats.org/officeDocument/2006/relationships/notesMaster" Target="/ppt/notesMasters/notesMaster1.xml" Id="Rc6308cf0dc1443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28b8100da947e9" /><Relationship Type="http://schemas.openxmlformats.org/officeDocument/2006/relationships/notesMaster" Target="/ppt/notesMasters/notesMaster1.xml" Id="Rec1a3056baad40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436318048c4c07" /><Relationship Type="http://schemas.openxmlformats.org/officeDocument/2006/relationships/notesMaster" Target="/ppt/notesMasters/notesMaster1.xml" Id="R12107258273d40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e0264e1e3146da" /><Relationship Type="http://schemas.openxmlformats.org/officeDocument/2006/relationships/notesMaster" Target="/ppt/notesMasters/notesMaster1.xml" Id="R1b6da822ac4846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aed06bb7dc47cd" /><Relationship Type="http://schemas.openxmlformats.org/officeDocument/2006/relationships/notesMaster" Target="/ppt/notesMasters/notesMaster1.xml" Id="R17211766f77c49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c17234aac946da" /><Relationship Type="http://schemas.openxmlformats.org/officeDocument/2006/relationships/notesMaster" Target="/ppt/notesMasters/notesMaster1.xml" Id="R02e2c7cfe97f4f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今天不是報告完成百分比，而是用一個真實多人 AI 產品，說明我如何把產品問題轉成 AWS 架構、風險控制與可驗證維運。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docs/evidence/2026-08-20-tier0-four-player-trial/validation.md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第一章先談產品問題與價值。服務選型只有在問題被說清楚後才有意義。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docs/product/source-of-truth.md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多人共創真正困難的是同步與共識。共演計劃讓 server 維持 canonical state 與 deterministic rules，AI 只在既定結果上生成敘事，因此同一核心能從娛樂延伸到培訓模擬、共創工作坊與互動內容。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docs/product/source-of-truth.md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RPG 是第一個可驗證場景，但核心不是奇幻故事，而是多人輸入、共同狀態、規則結算與 AI 受約束輸出。換成會議時，回合可對應議程與發言，AI 產生摘要和行動項；換成培訓時，規則可變成評估標準。這兩項是商業延伸概念，尚未實作。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docs/product/source-of-truth.md</a:t>
            </a:r>
          </a:p>
          <a:p xmlns:a="http://schemas.openxmlformats.org/drawingml/2006/main">
            <a:r>
              <a:t>- 產品延伸推論，未宣稱已實作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玩家只需要加入房間、提交行動、擲骰並閱讀共同故事。前端不接觸 AWS credential；後端結算規則和狀態，最後才把結果交給 Bedrock 轉成敘事。這個責任分離讓產品體驗簡單，也讓雲端元件能獨立替換。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docs/architecture/frontend-clean-architecture.md</a:t>
            </a:r>
          </a:p>
          <a:p xmlns:a="http://schemas.openxmlformats.org/drawingml/2006/main">
            <a:r>
              <a:t>- docs/architecture/llm-integration.md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這是公開 AWS 環境的實際遊玩畫面。四位玩家使用不同裝置完成世界生成、角色建立、四回合、AI 敘事、結局與刪房。這證明的是產品閉環，而不是只有單機畫面或後端測試。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docs/evidence/2026-08-20-tier0-four-player-trial/validation.md</a:t>
            </a:r>
          </a:p>
          <a:p xmlns:a="http://schemas.openxmlformats.org/drawingml/2006/main">
            <a:r>
              <a:t>- 內部實際遊玩截圖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第二章從問題回推服務。接下來依序說明服務選型、Nova Lite、模型抽換與實際部署架構。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docs/architecture/tier0-aws-deployment-plan.md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EC2 解決的是單一 process MVP 的可控部署；RDS 解決多人狀態與跨重啟 persistence；Bedrock 提供受治理的模型入口；SSM 讓維運不開 SSH；CloudWatch 把 log 轉成可查詢、可告警的操作證據。未使用的 NAT Gateway、ALB、ECS 等服務不是缺漏，而是目前沒有足夠價值支撐成本與複雜度。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docs/architecture/tier0-aws-deployment-plan.md</a:t>
            </a:r>
          </a:p>
          <a:p xmlns:a="http://schemas.openxmlformats.org/drawingml/2006/main">
            <a:r>
              <a:t>- infra/cloudformation/tier0-network.yaml</a:t>
            </a:r>
          </a:p>
          <a:p xmlns:a="http://schemas.openxmlformats.org/drawingml/2006/main">
            <a:r>
              <a:t>- infra/cloudformation/tier0-rds.yaml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Nova Lite 是目前已部署模型。AWS 將它定位為低成本、快速的 multimodal model；本專案只使用文字輸入，互動回合看重的是等待時間和成本平衡，而不是最大推理能力。程式以 Storyteller port 隔離應用層，Bedrock adapter 使用 Converse，model ID 由環境設定，因此在同介面模型間切換主要是設定與驗證工作，不需改寫遊戲規則。但『可抽換』不等於免測試，仍要重跑 schema、品質、延遲、成本、Region、IAM 與 Guardrail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https://docs.aws.amazon.com/bedrock/latest/userguide/model-card-amazon-nova-lite.html</a:t>
            </a:r>
          </a:p>
          <a:p xmlns:a="http://schemas.openxmlformats.org/drawingml/2006/main">
            <a:r>
              <a:t>- https://docs.aws.amazon.com/bedrock/latest/userguide/apis.html</a:t>
            </a:r>
          </a:p>
          <a:p xmlns:a="http://schemas.openxmlformats.org/drawingml/2006/main">
            <a:r>
              <a:t>- backend/app/application/ports.py</a:t>
            </a:r>
          </a:p>
          <a:p xmlns:a="http://schemas.openxmlformats.org/drawingml/2006/main">
            <a:r>
              <a:t>- backend/app/adapters/bedrock_storyteller.py</a:t>
            </a:r>
          </a:p>
          <a:p xmlns:a="http://schemas.openxmlformats.org/drawingml/2006/main">
            <a:r>
              <a:t>- backend/app/main.py</a:t>
            </a:r>
          </a:p>
          <a:p xmlns:a="http://schemas.openxmlformats.org/drawingml/2006/main">
            <a:r>
              <a:t>- ops/release/enable_public_https.sh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只是入口。Room Service 管理房間生命週期，Domain Rules 決定骰子、進度、危機與結局；RDS 和 Bedrock 都隔離在 adapters。這讓一致性規則、資料持久化與 AI 敘事可以獨立測試，也讓 production wiring 能 fail closed。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backend/app/application/room_service.py</a:t>
            </a:r>
          </a:p>
          <a:p xmlns:a="http://schemas.openxmlformats.org/drawingml/2006/main">
            <a:r>
              <a:t>- docs/decisions/0003-adopt-postgresql-room-aggregate-repository.md</a:t>
            </a:r>
          </a:p>
          <a:p xmlns:a="http://schemas.openxmlformats.org/drawingml/2006/main">
            <a:r>
              <a:t>- docs/architecture/llm-integration.md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前端與後端都把介面定義留在應用核心，外部 I/O 由 adapter 實作。前端的 Fetch adapter 對接 FastAPI；後端的 Repository Port 與 Storyteller Port 分別由 PostgreSQL 與 Bedrock adapter 實作。這讓產品規則不直接依賴 AWS SDK，模型、資料庫或運維接點可以在 adapter 層抽換與驗證。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docs/architecture/frontend-clean-architecture.md</a:t>
            </a:r>
          </a:p>
          <a:p xmlns:a="http://schemas.openxmlformats.org/drawingml/2006/main">
            <a:r>
              <a:t>- docs/decisions/0002-adopt-clean-frontend-architecture.md</a:t>
            </a:r>
          </a:p>
          <a:p xmlns:a="http://schemas.openxmlformats.org/drawingml/2006/main">
            <a:r>
              <a:t>- web/src/application/ports/game-api.js</a:t>
            </a:r>
          </a:p>
          <a:p xmlns:a="http://schemas.openxmlformats.org/drawingml/2006/main">
            <a:r>
              <a:t>- backend/app/application/ports.py</a:t>
            </a:r>
          </a:p>
          <a:p xmlns:a="http://schemas.openxmlformats.org/drawingml/2006/main">
            <a:r>
              <a:t>- backend/app/adapters/bedrock_storyteller.py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玩家經 Internet Gateway 進入 public app subnet 的 EC2，資料庫只在 private DB subnets。EC2 透過 Bedrock 產生受約束敘事，CloudWatch 收集 safe application logs，Systems Manager 提供免 SSH 維運。圖上的三條外部依賴分別走上方、下方與管理平面通道，避免與 VPC 或 Subnet 邊界重疊。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infra/cloudformation/tier0-network.yaml</a:t>
            </a:r>
          </a:p>
          <a:p xmlns:a="http://schemas.openxmlformats.org/drawingml/2006/main">
            <a:r>
              <a:t>- infra/cloudformation/tier0-rds.yaml</a:t>
            </a:r>
          </a:p>
          <a:p xmlns:a="http://schemas.openxmlformats.org/drawingml/2006/main">
            <a:r>
              <a:t>- infra/cloudformation/tier1-observability.yaml</a:t>
            </a:r>
          </a:p>
          <a:p xmlns:a="http://schemas.openxmlformats.org/drawingml/2006/main">
            <a:r>
              <a:t>- infra/cloudformation/tier1-operations.yaml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第三章展示安全、成本、SSM 與 CloudWatch 的實機證據，也清楚區分已完成與尚未完成。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docs/evidence/2026-08-24-tier1-runtime-observability/validation.md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網路、權限與成本都在部署前被設計。管理面以 SSM 取代 SSH；private RDS 只接受 App SG；AppRole 只取得指定 Bedrock、CloudWatch 與 runtime secret。成本用 US$1 Budget、最小規格、七天 log retention 與明確不建立清單控制。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docs/architecture/tier0-aws-change-envelope.md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FastAPI 只把 allowlist 欄位寫入安全 JSONL，CloudWatch Agent 收集固定檔案並送到七天 retention 的 Log Group。Metric filter 只辨識 500 到 599，Alarm 門檻是一分鐘至少一次。SSM Health Document 已驗證 service、live 與 ready；正向 delivery 已完成，5xx trigger 和 recovery 尚未宣稱完成。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infra/cloudformation/tier1-observability.yaml</a:t>
            </a:r>
          </a:p>
          <a:p xmlns:a="http://schemas.openxmlformats.org/drawingml/2006/main">
            <a:r>
              <a:t>- infra/cloudformation/tier1-ssm-health-check.yaml</a:t>
            </a:r>
          </a:p>
          <a:p xmlns:a="http://schemas.openxmlformats.org/drawingml/2006/main">
            <a:r>
              <a:t>- docs/evidence/2026-08-24-tier1-runtime-observability/validation.md</a:t>
            </a:r>
          </a:p>
          <a:p xmlns:a="http://schemas.openxmlformats.org/drawingml/2006/main">
            <a:r>
              <a:t>- AWS Architecture Icons 2026 Q3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Tier 0 到 Tier 5 是同一產品的累積演進。Tier 0 證明可玩、private data 與 AWS 部署；Tier 1 加入可觀測與免 SSH 維運。後續才做元件隔離、CI/CD、微服務與 Agentic AI，每一層都必須有實際成果和證據。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- docs/checkpoints.md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共演計劃展示的是完整的產品工程能力：把使用者需求轉成系統邊界，把風險轉成安全與 rollback，把部署轉成可重現證據。下一步會完成 5xx alarm、recovery 與 AIOps incident，但每次擴張仍以價值、成本與驗證為前提。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docs/handoffs/CURRENT.md</a:t>
            </a:r>
          </a:p>
          <a:p xmlns:a="http://schemas.openxmlformats.org/drawingml/2006/main">
            <a:r>
              <a:t>- docs/project-plan.md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e4c2e32f54b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826624ff3b4ee8" /><Relationship Type="http://schemas.openxmlformats.org/officeDocument/2006/relationships/slideLayout" Target="/ppt/slideLayouts/slideLayout1.xml" Id="Rb7ad2d96c85d4c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ad2d96c85d4c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b26cc8cbf4dd4" /><Relationship Type="http://schemas.openxmlformats.org/officeDocument/2006/relationships/notesSlide" Target="/ppt/notesSlides/notesSlide1.xml" Id="R54cfbe8d518a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ad898c216483b" /><Relationship Type="http://schemas.openxmlformats.org/officeDocument/2006/relationships/notesSlide" Target="/ppt/notesSlides/notesSlide2.xml" Id="R416d1c5fd4584f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a661809c24e0d" /><Relationship Type="http://schemas.openxmlformats.org/officeDocument/2006/relationships/notesSlide" Target="/ppt/notesSlides/notesSlide3.xml" Id="R8d225e60a7054e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7aedcd6884055" /><Relationship Type="http://schemas.openxmlformats.org/officeDocument/2006/relationships/notesSlide" Target="/ppt/notesSlides/notesSlide4.xml" Id="R95278ea371cc43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24555f74f4b17" /><Relationship Type="http://schemas.openxmlformats.org/officeDocument/2006/relationships/notesSlide" Target="/ppt/notesSlides/notesSlide5.xml" Id="R017991c2525d46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6e63a6c34438e" /><Relationship Type="http://schemas.openxmlformats.org/officeDocument/2006/relationships/image" Target="/ppt/media/image.png" Id="R4d9c9d11d30f4b58" /><Relationship Type="http://schemas.openxmlformats.org/officeDocument/2006/relationships/notesSlide" Target="/ppt/notesSlides/notesSlide6.xml" Id="Rf4f83c1a879347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4d3dbc49f4631" /><Relationship Type="http://schemas.openxmlformats.org/officeDocument/2006/relationships/notesSlide" Target="/ppt/notesSlides/notesSlide7.xml" Id="Rc117f4791f2945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93f8aba7145b6" /><Relationship Type="http://schemas.openxmlformats.org/officeDocument/2006/relationships/image" Target="/ppt/media/image.svg" Id="R69ab1a3cd5cb4db8" /><Relationship Type="http://schemas.openxmlformats.org/officeDocument/2006/relationships/image" Target="/ppt/media/image.png" Id="R2d6e22e02cf7494b" /><Relationship Type="http://schemas.openxmlformats.org/officeDocument/2006/relationships/image" Target="/ppt/media/image2.png" Id="R87aedb805a7e4dc2" /><Relationship Type="http://schemas.openxmlformats.org/officeDocument/2006/relationships/image" Target="/ppt/media/image2.svg" Id="Rf6c321df3a124ce4" /><Relationship Type="http://schemas.openxmlformats.org/officeDocument/2006/relationships/image" Target="/ppt/media/image3.png" Id="R217d6b1d873a46c9" /><Relationship Type="http://schemas.openxmlformats.org/officeDocument/2006/relationships/image" Target="/ppt/media/image3.svg" Id="Ra171c6d4fa554e9c" /><Relationship Type="http://schemas.openxmlformats.org/officeDocument/2006/relationships/image" Target="/ppt/media/image4.png" Id="R615fe04a21784b9c" /><Relationship Type="http://schemas.openxmlformats.org/officeDocument/2006/relationships/image" Target="/ppt/media/image4.svg" Id="R5c6ac4bfd1614a3b" /><Relationship Type="http://schemas.openxmlformats.org/officeDocument/2006/relationships/image" Target="/ppt/media/image5.png" Id="R8ca00432a04b490a" /><Relationship Type="http://schemas.openxmlformats.org/officeDocument/2006/relationships/image" Target="/ppt/media/image5.svg" Id="R451c7b18fd4a4823" /><Relationship Type="http://schemas.openxmlformats.org/officeDocument/2006/relationships/notesSlide" Target="/ppt/notesSlides/notesSlide8.xml" Id="Rd643207111db42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bc25fc680402a" /><Relationship Type="http://schemas.openxmlformats.org/officeDocument/2006/relationships/image" Target="/ppt/media/image6.png" Id="Rab0555e11e214868" /><Relationship Type="http://schemas.openxmlformats.org/officeDocument/2006/relationships/image" Target="/ppt/media/image6.svg" Id="Rb38946f5608e4750" /><Relationship Type="http://schemas.openxmlformats.org/officeDocument/2006/relationships/notesSlide" Target="/ppt/notesSlides/notesSlide9.xml" Id="R9b4585af87ab4b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dc48f43224eed" /><Relationship Type="http://schemas.openxmlformats.org/officeDocument/2006/relationships/image" Target="/ppt/media/image7.png" Id="R6abfd484474d4d2a" /><Relationship Type="http://schemas.openxmlformats.org/officeDocument/2006/relationships/notesSlide" Target="/ppt/notesSlides/notesSlide10.xml" Id="R4b917e22930749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e3e7d1af94baa" /><Relationship Type="http://schemas.openxmlformats.org/officeDocument/2006/relationships/image" Target="/ppt/media/image8.png" Id="Rdd89169decf24247" /><Relationship Type="http://schemas.openxmlformats.org/officeDocument/2006/relationships/notesSlide" Target="/ppt/notesSlides/notesSlide11.xml" Id="R9976d5fb0b1144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5e0479c974652" /><Relationship Type="http://schemas.openxmlformats.org/officeDocument/2006/relationships/image" Target="/ppt/media/image9.png" Id="Rc2471d29496d46fa" /><Relationship Type="http://schemas.openxmlformats.org/officeDocument/2006/relationships/notesSlide" Target="/ppt/notesSlides/notesSlide12.xml" Id="Rd73c8ac294fc48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11ed2ebe44833" /><Relationship Type="http://schemas.openxmlformats.org/officeDocument/2006/relationships/notesSlide" Target="/ppt/notesSlides/notesSlide13.xml" Id="R1d3fb41e244443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6c89bdebd46e0" /><Relationship Type="http://schemas.openxmlformats.org/officeDocument/2006/relationships/image" Target="/ppt/media/image10.png" Id="R758f664c1a424481" /><Relationship Type="http://schemas.openxmlformats.org/officeDocument/2006/relationships/image" Target="/ppt/media/image7.svg" Id="R1290e46f850b4107" /><Relationship Type="http://schemas.openxmlformats.org/officeDocument/2006/relationships/image" Target="/ppt/media/image11.png" Id="R95f081be297640b6" /><Relationship Type="http://schemas.openxmlformats.org/officeDocument/2006/relationships/image" Target="/ppt/media/image8.svg" Id="R3468da89425e4528" /><Relationship Type="http://schemas.openxmlformats.org/officeDocument/2006/relationships/image" Target="/ppt/media/image12.png" Id="R653b52f255304286" /><Relationship Type="http://schemas.openxmlformats.org/officeDocument/2006/relationships/image" Target="/ppt/media/image9.svg" Id="R7df3ddb0a17e484f" /><Relationship Type="http://schemas.openxmlformats.org/officeDocument/2006/relationships/notesSlide" Target="/ppt/notesSlides/notesSlide14.xml" Id="Rbdec718f559245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b0d4030484ad5" /><Relationship Type="http://schemas.openxmlformats.org/officeDocument/2006/relationships/image" Target="/ppt/media/image13.png" Id="R6d6c0859f52440ef" /><Relationship Type="http://schemas.openxmlformats.org/officeDocument/2006/relationships/notesSlide" Target="/ppt/notesSlides/notesSlide15.xml" Id="Rf5267ca6b1974f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32f5656934ff0" /><Relationship Type="http://schemas.openxmlformats.org/officeDocument/2006/relationships/notesSlide" Target="/ppt/notesSlides/notesSlide16.xml" Id="R629f2a61b4c74f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344875a1a45a9" /><Relationship Type="http://schemas.openxmlformats.org/officeDocument/2006/relationships/notesSlide" Target="/ppt/notesSlides/notesSlide17.xml" Id="R7d608f92d9cb4b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69A32BA-0FD2-42FD-A6B9-0215B509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AWS CLOUD PRODUCT CASE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6400521-4AB7-42BE-B1B4-0B11FE5B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1AA789C-738C-4FE5-BDB1-F449182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多人 AI 產品如何同時做到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共同決策、私有資料與可觀測維運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A9424A19-DFBF-4CA2-8E2D-E4444EAD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F409F23F-57B4-41B3-AC67-780D7DA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FE0B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7FE0B5"/>
                </a:solidFill>
                <a:latin typeface="PingFang TC"/>
                <a:ea typeface="PingFang TC"/>
                <a:cs typeface="PingFang TC"/>
              </a:rPr>
              <a:t>4 位玩家 · 4 回合 · AWS 實機驗證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650E14F-8F89-44AF-8F83-BC80E21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FastAPI  ·  Amazon RDS  ·  Amazon Bedrock  ·  CloudWatch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565D9072-EB7A-4B11-AD83-6E0CECB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產品架構展示  |  2026.08.24</a:t>
            </a:r>
          </a:p>
        </p:txBody>
      </p:sp>
      <p:sp>
        <p:nvSpPr>
          <p:cNvPr id="8" name="cover-orbit-1">
            <a:extLst xmlns:a="http://schemas.openxmlformats.org/drawingml/2006/main">
              <a:ext uri="{FF2B5EF4-FFF2-40B4-BE49-F238E27FC236}">
                <a16:creationId xmlns:a16="http://schemas.microsoft.com/office/drawing/2014/main" id="{D1DCC3F3-0E16-477A-92C7-C8FA33A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57250"/>
            <a:ext cx="1047750" cy="1047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34B65"/>
            </a:solidFill>
            <a:prstDash val="solid"/>
          </a:ln>
        </p:spPr>
      </p:sp>
      <p:sp>
        <p:nvSpPr>
          <p:cNvPr id="9" name="cover-orbit-2">
            <a:extLst xmlns:a="http://schemas.openxmlformats.org/drawingml/2006/main">
              <a:ext uri="{FF2B5EF4-FFF2-40B4-BE49-F238E27FC236}">
                <a16:creationId xmlns:a16="http://schemas.microsoft.com/office/drawing/2014/main" id="{94EDC4F1-BB33-4E0A-9FDF-48F734A8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95500" cy="2095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34B65"/>
            </a:solidFill>
            <a:prstDash val="solid"/>
          </a:ln>
        </p:spPr>
      </p:sp>
      <p:sp>
        <p:nvSpPr>
          <p:cNvPr id="10" name="cover-dot">
            <a:extLst xmlns:a="http://schemas.openxmlformats.org/drawingml/2006/main">
              <a:ext uri="{FF2B5EF4-FFF2-40B4-BE49-F238E27FC236}">
                <a16:creationId xmlns:a16="http://schemas.microsoft.com/office/drawing/2014/main" id="{07CB5C10-B3D5-4ECA-9AE2-C67F381E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sk-1">
            <a:extLst xmlns:a="http://schemas.openxmlformats.org/drawingml/2006/main">
              <a:ext uri="{FF2B5EF4-FFF2-40B4-BE49-F238E27FC236}">
                <a16:creationId xmlns:a16="http://schemas.microsoft.com/office/drawing/2014/main" id="{6F732F66-3388-40A7-AE4B-67B91906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new-1">
            <a:extLst xmlns:a="http://schemas.openxmlformats.org/drawingml/2006/main">
              <a:ext uri="{FF2B5EF4-FFF2-40B4-BE49-F238E27FC236}">
                <a16:creationId xmlns:a16="http://schemas.microsoft.com/office/drawing/2014/main" id="{615A92D9-0DDB-42D8-9619-9D6B71C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4" name="page-mask-v2-1">
            <a:extLst xmlns:a="http://schemas.openxmlformats.org/drawingml/2006/main">
              <a:ext uri="{FF2B5EF4-FFF2-40B4-BE49-F238E27FC236}">
                <a16:creationId xmlns:a16="http://schemas.microsoft.com/office/drawing/2014/main" id="{3C1A0D31-AE28-47EA-80D7-04202723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-v2-1">
            <a:extLst xmlns:a="http://schemas.openxmlformats.org/drawingml/2006/main">
              <a:ext uri="{FF2B5EF4-FFF2-40B4-BE49-F238E27FC236}">
                <a16:creationId xmlns:a16="http://schemas.microsoft.com/office/drawing/2014/main" id="{2A1318AE-A767-4387-B9FD-CE8C266B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7364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-no-01">
            <a:extLst xmlns:a="http://schemas.openxmlformats.org/drawingml/2006/main">
              <a:ext uri="{FF2B5EF4-FFF2-40B4-BE49-F238E27FC236}">
                <a16:creationId xmlns:a16="http://schemas.microsoft.com/office/drawing/2014/main" id="{BC8C3A07-8959-4B26-9394-7D9646B7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2" name="chapter-label-01">
            <a:extLst xmlns:a="http://schemas.openxmlformats.org/drawingml/2006/main">
              <a:ext uri="{FF2B5EF4-FFF2-40B4-BE49-F238E27FC236}">
                <a16:creationId xmlns:a16="http://schemas.microsoft.com/office/drawing/2014/main" id="{D0CB7B11-CC54-4D68-98B1-694F6645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WHY</a:t>
            </a:r>
          </a:p>
        </p:txBody>
      </p:sp>
      <p:sp>
        <p:nvSpPr>
          <p:cNvPr id="3" name="chapter-rule-01">
            <a:extLst xmlns:a="http://schemas.openxmlformats.org/drawingml/2006/main">
              <a:ext uri="{FF2B5EF4-FFF2-40B4-BE49-F238E27FC236}">
                <a16:creationId xmlns:a16="http://schemas.microsoft.com/office/drawing/2014/main" id="{A9BB5AEC-0751-4CBB-8319-546940B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4" name="chapter-title-01">
            <a:extLst xmlns:a="http://schemas.openxmlformats.org/drawingml/2006/main">
              <a:ext uri="{FF2B5EF4-FFF2-40B4-BE49-F238E27FC236}">
                <a16:creationId xmlns:a16="http://schemas.microsoft.com/office/drawing/2014/main" id="{E8BCD834-163B-4DF7-95DD-F74E485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先證明產品價值，再談雲端服務。</a:t>
            </a:r>
          </a:p>
        </p:txBody>
      </p:sp>
      <p:sp>
        <p:nvSpPr>
          <p:cNvPr id="6" name="chapter-mark-01">
            <a:extLst xmlns:a="http://schemas.openxmlformats.org/drawingml/2006/main">
              <a:ext uri="{FF2B5EF4-FFF2-40B4-BE49-F238E27FC236}">
                <a16:creationId xmlns:a16="http://schemas.microsoft.com/office/drawing/2014/main" id="{0767F2C1-1A84-4368-AD15-97598CD7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2">
            <a:extLst xmlns:a="http://schemas.openxmlformats.org/drawingml/2006/main">
              <a:ext uri="{FF2B5EF4-FFF2-40B4-BE49-F238E27FC236}">
                <a16:creationId xmlns:a16="http://schemas.microsoft.com/office/drawing/2014/main" id="{F5C570C5-C088-42E7-8065-C3CBB98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new-2">
            <a:extLst xmlns:a="http://schemas.openxmlformats.org/drawingml/2006/main">
              <a:ext uri="{FF2B5EF4-FFF2-40B4-BE49-F238E27FC236}">
                <a16:creationId xmlns:a16="http://schemas.microsoft.com/office/drawing/2014/main" id="{00685C7A-C08D-46E7-80AA-F4E42DBB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chapter-prompt-mask-v2-2">
            <a:extLst xmlns:a="http://schemas.openxmlformats.org/drawingml/2006/main">
              <a:ext uri="{FF2B5EF4-FFF2-40B4-BE49-F238E27FC236}">
                <a16:creationId xmlns:a16="http://schemas.microsoft.com/office/drawing/2014/main" id="{C88D22A9-206F-491D-A0D6-EBD4C79F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apter-prompt-v2-2">
            <a:extLst xmlns:a="http://schemas.openxmlformats.org/drawingml/2006/main">
              <a:ext uri="{FF2B5EF4-FFF2-40B4-BE49-F238E27FC236}">
                <a16:creationId xmlns:a16="http://schemas.microsoft.com/office/drawing/2014/main" id="{D9D6AF65-1638-480D-BEE3-32955766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多人共同決策需要一致狀態、可延伸流程與可被信任的 AI 輸出。</a:t>
            </a:r>
          </a:p>
        </p:txBody>
      </p:sp>
      <p:sp>
        <p:nvSpPr>
          <p:cNvPr id="12" name="page-mask-v2-2">
            <a:extLst xmlns:a="http://schemas.openxmlformats.org/drawingml/2006/main">
              <a:ext uri="{FF2B5EF4-FFF2-40B4-BE49-F238E27FC236}">
                <a16:creationId xmlns:a16="http://schemas.microsoft.com/office/drawing/2014/main" id="{75214AFB-23B9-4B12-8C16-A7350AB7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v2-2">
            <a:extLst xmlns:a="http://schemas.openxmlformats.org/drawingml/2006/main">
              <a:ext uri="{FF2B5EF4-FFF2-40B4-BE49-F238E27FC236}">
                <a16:creationId xmlns:a16="http://schemas.microsoft.com/office/drawing/2014/main" id="{8C7076A1-AD71-4A64-8370-EC4850B6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1914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6EA771EB-F951-434D-BDCC-619BFC6A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  PRODUCT VALUE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C2B8B58-82CF-4877-86A3-7EF37F5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problem-spine">
            <a:extLst xmlns:a="http://schemas.openxmlformats.org/drawingml/2006/main">
              <a:ext uri="{FF2B5EF4-FFF2-40B4-BE49-F238E27FC236}">
                <a16:creationId xmlns:a16="http://schemas.microsoft.com/office/drawing/2014/main" id="{5D89A989-9F49-4701-8BC7-9A37751D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908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  <a:prstDash val="solid"/>
          </a:ln>
        </p:spPr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9BE966AB-3F57-4978-BC99-101ADBC6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num-0">
            <a:extLst xmlns:a="http://schemas.openxmlformats.org/drawingml/2006/main">
              <a:ext uri="{FF2B5EF4-FFF2-40B4-BE49-F238E27FC236}">
                <a16:creationId xmlns:a16="http://schemas.microsoft.com/office/drawing/2014/main" id="{5C7FEB8E-9AA3-4BB3-8E59-87A6E460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8" name="problem-big-0">
            <a:extLst xmlns:a="http://schemas.openxmlformats.org/drawingml/2006/main">
              <a:ext uri="{FF2B5EF4-FFF2-40B4-BE49-F238E27FC236}">
                <a16:creationId xmlns:a16="http://schemas.microsoft.com/office/drawing/2014/main" id="{C601723E-0D88-43FF-914D-8E2C623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不同步</a:t>
            </a:r>
          </a:p>
        </p:txBody>
      </p:sp>
      <p:sp>
        <p:nvSpPr>
          <p:cNvPr id="9" name="problem-sub-0">
            <a:extLst xmlns:a="http://schemas.openxmlformats.org/drawingml/2006/main">
              <a:ext uri="{FF2B5EF4-FFF2-40B4-BE49-F238E27FC236}">
                <a16:creationId xmlns:a16="http://schemas.microsoft.com/office/drawing/2014/main" id="{CDF219A8-C211-4345-B969-A7C581C7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每個人看見不同版本</a:t>
            </a:r>
          </a:p>
        </p:txBody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B5AC822E-CA15-48EA-91B3-4E203049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DF954D62-A654-4EAF-AD26-C96DE19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problem-big-1">
            <a:extLst xmlns:a="http://schemas.openxmlformats.org/drawingml/2006/main">
              <a:ext uri="{FF2B5EF4-FFF2-40B4-BE49-F238E27FC236}">
                <a16:creationId xmlns:a16="http://schemas.microsoft.com/office/drawing/2014/main" id="{73A26D66-5C92-4E1A-BEFE-58497C4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無共識</a:t>
            </a:r>
          </a:p>
        </p:txBody>
      </p:sp>
      <p:sp>
        <p:nvSpPr>
          <p:cNvPr id="13" name="problem-sub-1">
            <a:extLst xmlns:a="http://schemas.openxmlformats.org/drawingml/2006/main">
              <a:ext uri="{FF2B5EF4-FFF2-40B4-BE49-F238E27FC236}">
                <a16:creationId xmlns:a16="http://schemas.microsoft.com/office/drawing/2014/main" id="{364A45E8-178E-444E-905D-270011C2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AI 內容無法約束規則</a:t>
            </a:r>
          </a:p>
        </p:txBody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30E342AC-8563-4FBE-A634-2FCAA7FF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2D765F35-2B3A-420B-897A-44E8893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6" name="problem-big-2">
            <a:extLst xmlns:a="http://schemas.openxmlformats.org/drawingml/2006/main">
              <a:ext uri="{FF2B5EF4-FFF2-40B4-BE49-F238E27FC236}">
                <a16:creationId xmlns:a16="http://schemas.microsoft.com/office/drawing/2014/main" id="{29801C3A-72D0-4301-8F71-27BB694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難延伸</a:t>
            </a:r>
          </a:p>
        </p:txBody>
      </p:sp>
      <p:sp>
        <p:nvSpPr>
          <p:cNvPr id="17" name="problem-sub-2">
            <a:extLst xmlns:a="http://schemas.openxmlformats.org/drawingml/2006/main">
              <a:ext uri="{FF2B5EF4-FFF2-40B4-BE49-F238E27FC236}">
                <a16:creationId xmlns:a16="http://schemas.microsoft.com/office/drawing/2014/main" id="{F0003D5D-0DCF-468C-88D1-1C99495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一次性體驗難變成服務</a:t>
            </a:r>
          </a:p>
        </p:txBody>
      </p:sp>
      <p:sp>
        <p:nvSpPr>
          <p:cNvPr id="18" name="problem-answer">
            <a:extLst xmlns:a="http://schemas.openxmlformats.org/drawingml/2006/main">
              <a:ext uri="{FF2B5EF4-FFF2-40B4-BE49-F238E27FC236}">
                <a16:creationId xmlns:a16="http://schemas.microsoft.com/office/drawing/2014/main" id="{62C9FFFA-D2D7-4191-BD89-C42D2E5B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861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共演計劃用伺服器統一規則，讓 AI 專注生成故事。</a:t>
            </a:r>
          </a:p>
        </p:txBody>
      </p:sp>
      <p:sp>
        <p:nvSpPr>
          <p:cNvPr id="20" name="page-mask-3">
            <a:extLst xmlns:a="http://schemas.openxmlformats.org/drawingml/2006/main">
              <a:ext uri="{FF2B5EF4-FFF2-40B4-BE49-F238E27FC236}">
                <a16:creationId xmlns:a16="http://schemas.microsoft.com/office/drawing/2014/main" id="{7D9C23E0-FB22-4804-BB80-3E315BDB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ge-new-3">
            <a:extLst xmlns:a="http://schemas.openxmlformats.org/drawingml/2006/main">
              <a:ext uri="{FF2B5EF4-FFF2-40B4-BE49-F238E27FC236}">
                <a16:creationId xmlns:a16="http://schemas.microsoft.com/office/drawing/2014/main" id="{F80AFB59-31E6-47A6-A5DC-B033AD72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PRODUCT VALUE-header-mask">
            <a:extLst xmlns:a="http://schemas.openxmlformats.org/drawingml/2006/main">
              <a:ext uri="{FF2B5EF4-FFF2-40B4-BE49-F238E27FC236}">
                <a16:creationId xmlns:a16="http://schemas.microsoft.com/office/drawing/2014/main" id="{676271B3-9677-4DDA-92E0-A1123727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RODUCT VALUE-kicker">
            <a:extLst xmlns:a="http://schemas.openxmlformats.org/drawingml/2006/main">
              <a:ext uri="{FF2B5EF4-FFF2-40B4-BE49-F238E27FC236}">
                <a16:creationId xmlns:a16="http://schemas.microsoft.com/office/drawing/2014/main" id="{10F34B56-7491-40EB-8C90-FC5F8228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PRODUCT VALUE</a:t>
            </a:r>
          </a:p>
        </p:txBody>
      </p:sp>
      <p:sp>
        <p:nvSpPr>
          <p:cNvPr id="24" name="PRODUCT VALUE-title">
            <a:extLst xmlns:a="http://schemas.openxmlformats.org/drawingml/2006/main">
              <a:ext uri="{FF2B5EF4-FFF2-40B4-BE49-F238E27FC236}">
                <a16:creationId xmlns:a16="http://schemas.microsoft.com/office/drawing/2014/main" id="{2B141931-DEA4-42D7-BC87-7738CEC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多人共創需要所有人共享同一狀態</a:t>
            </a:r>
          </a:p>
        </p:txBody>
      </p:sp>
      <p:sp>
        <p:nvSpPr>
          <p:cNvPr id="25" name="PRODUCT VALUE-rule">
            <a:extLst xmlns:a="http://schemas.openxmlformats.org/drawingml/2006/main">
              <a:ext uri="{FF2B5EF4-FFF2-40B4-BE49-F238E27FC236}">
                <a16:creationId xmlns:a16="http://schemas.microsoft.com/office/drawing/2014/main" id="{D31C663C-DF55-47F9-8E42-FC01195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6" name="PRODUCT VALUE-kicker-mask">
            <a:extLst xmlns:a="http://schemas.openxmlformats.org/drawingml/2006/main">
              <a:ext uri="{FF2B5EF4-FFF2-40B4-BE49-F238E27FC236}">
                <a16:creationId xmlns:a16="http://schemas.microsoft.com/office/drawing/2014/main" id="{11B021AB-967A-46BE-980D-88654B09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DUCT VALUE-kicker-new">
            <a:extLst xmlns:a="http://schemas.openxmlformats.org/drawingml/2006/main">
              <a:ext uri="{FF2B5EF4-FFF2-40B4-BE49-F238E27FC236}">
                <a16:creationId xmlns:a16="http://schemas.microsoft.com/office/drawing/2014/main" id="{D41F7520-F555-4305-BB28-136ECE42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PRODUCT VALUE</a:t>
            </a:r>
          </a:p>
        </p:txBody>
      </p:sp>
      <p:sp>
        <p:nvSpPr>
          <p:cNvPr id="28" name="page-mask-v2-3">
            <a:extLst xmlns:a="http://schemas.openxmlformats.org/drawingml/2006/main">
              <a:ext uri="{FF2B5EF4-FFF2-40B4-BE49-F238E27FC236}">
                <a16:creationId xmlns:a16="http://schemas.microsoft.com/office/drawing/2014/main" id="{80694BDF-98BA-4DBC-816E-BB6D7D0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ge-v2-3">
            <a:extLst xmlns:a="http://schemas.openxmlformats.org/drawingml/2006/main">
              <a:ext uri="{FF2B5EF4-FFF2-40B4-BE49-F238E27FC236}">
                <a16:creationId xmlns:a16="http://schemas.microsoft.com/office/drawing/2014/main" id="{565DFF1B-21FF-4343-8462-78CAA36B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6370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-BUSINESS EXTENSION">
            <a:extLst xmlns:a="http://schemas.openxmlformats.org/drawingml/2006/main">
              <a:ext uri="{FF2B5EF4-FFF2-40B4-BE49-F238E27FC236}">
                <a16:creationId xmlns:a16="http://schemas.microsoft.com/office/drawing/2014/main" id="{B4B5AC1E-3EBD-482A-B66D-99778B0D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BUSINESS EXTENSION</a:t>
            </a:r>
          </a:p>
        </p:txBody>
      </p:sp>
      <p:sp>
        <p:nvSpPr>
          <p:cNvPr id="2" name="t-BUSINESS EXTENSION">
            <a:extLst xmlns:a="http://schemas.openxmlformats.org/drawingml/2006/main">
              <a:ext uri="{FF2B5EF4-FFF2-40B4-BE49-F238E27FC236}">
                <a16:creationId xmlns:a16="http://schemas.microsoft.com/office/drawing/2014/main" id="{AD8D743B-0002-431E-A54F-70DDBC5A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同一個多人協作核心，可以換成不同場景</a:t>
            </a:r>
          </a:p>
        </p:txBody>
      </p:sp>
      <p:sp>
        <p:nvSpPr>
          <p:cNvPr id="3" name="r-BUSINESS EXTENSION">
            <a:extLst xmlns:a="http://schemas.openxmlformats.org/drawingml/2006/main">
              <a:ext uri="{FF2B5EF4-FFF2-40B4-BE49-F238E27FC236}">
                <a16:creationId xmlns:a16="http://schemas.microsoft.com/office/drawing/2014/main" id="{B2FB8F87-E761-409B-93E6-61918871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business-no-0">
            <a:extLst xmlns:a="http://schemas.openxmlformats.org/drawingml/2006/main">
              <a:ext uri="{FF2B5EF4-FFF2-40B4-BE49-F238E27FC236}">
                <a16:creationId xmlns:a16="http://schemas.microsoft.com/office/drawing/2014/main" id="{033D3956-D2BE-4C53-851E-78C2F00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business-title-0">
            <a:extLst xmlns:a="http://schemas.openxmlformats.org/drawingml/2006/main">
              <a:ext uri="{FF2B5EF4-FFF2-40B4-BE49-F238E27FC236}">
                <a16:creationId xmlns:a16="http://schemas.microsoft.com/office/drawing/2014/main" id="{97D0EA47-A687-443E-AB1D-E315E573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 AI 文字 RPG</a:t>
            </a:r>
          </a:p>
        </p:txBody>
      </p:sp>
      <p:sp>
        <p:nvSpPr>
          <p:cNvPr id="6" name="business-line-0">
            <a:extLst xmlns:a="http://schemas.openxmlformats.org/drawingml/2006/main">
              <a:ext uri="{FF2B5EF4-FFF2-40B4-BE49-F238E27FC236}">
                <a16:creationId xmlns:a16="http://schemas.microsoft.com/office/drawing/2014/main" id="{172FCC25-42C7-428E-A69F-3354F92B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73B7"/>
            </a:solidFill>
            <a:prstDash val="solid"/>
          </a:ln>
        </p:spPr>
      </p:sp>
      <p:sp>
        <p:nvSpPr>
          <p:cNvPr id="7" name="business-flow-0">
            <a:extLst xmlns:a="http://schemas.openxmlformats.org/drawingml/2006/main">
              <a:ext uri="{FF2B5EF4-FFF2-40B4-BE49-F238E27FC236}">
                <a16:creationId xmlns:a16="http://schemas.microsoft.com/office/drawing/2014/main" id="{EBF9931C-289A-45C5-B120-13851B6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共同輸入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規則結算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故事敘事</a:t>
            </a:r>
          </a:p>
        </p:txBody>
      </p:sp>
      <p:sp>
        <p:nvSpPr>
          <p:cNvPr id="8" name="business-value-0">
            <a:extLst xmlns:a="http://schemas.openxmlformats.org/drawingml/2006/main">
              <a:ext uri="{FF2B5EF4-FFF2-40B4-BE49-F238E27FC236}">
                <a16:creationId xmlns:a16="http://schemas.microsoft.com/office/drawing/2014/main" id="{220D410A-DDBE-433B-BBA9-28DF4927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娛樂與互動內容</a:t>
            </a:r>
          </a:p>
        </p:txBody>
      </p:sp>
      <p:sp>
        <p:nvSpPr>
          <p:cNvPr id="9" name="business-no-1">
            <a:extLst xmlns:a="http://schemas.openxmlformats.org/drawingml/2006/main">
              <a:ext uri="{FF2B5EF4-FFF2-40B4-BE49-F238E27FC236}">
                <a16:creationId xmlns:a16="http://schemas.microsoft.com/office/drawing/2014/main" id="{98FD853D-7A60-4C82-A7C4-8F4F3AC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business-title-1">
            <a:extLst xmlns:a="http://schemas.openxmlformats.org/drawingml/2006/main">
              <a:ext uri="{FF2B5EF4-FFF2-40B4-BE49-F238E27FC236}">
                <a16:creationId xmlns:a16="http://schemas.microsoft.com/office/drawing/2014/main" id="{EFA30C8A-B1DF-4795-87F6-B75F641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AI 輔助會議</a:t>
            </a:r>
          </a:p>
        </p:txBody>
      </p:sp>
      <p:sp>
        <p:nvSpPr>
          <p:cNvPr id="11" name="business-line-1">
            <a:extLst xmlns:a="http://schemas.openxmlformats.org/drawingml/2006/main">
              <a:ext uri="{FF2B5EF4-FFF2-40B4-BE49-F238E27FC236}">
                <a16:creationId xmlns:a16="http://schemas.microsoft.com/office/drawing/2014/main" id="{F87069D8-225F-4608-8E1A-F2947536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25D"/>
            </a:solidFill>
            <a:prstDash val="solid"/>
          </a:ln>
        </p:spPr>
      </p:sp>
      <p:sp>
        <p:nvSpPr>
          <p:cNvPr id="12" name="business-flow-1">
            <a:extLst xmlns:a="http://schemas.openxmlformats.org/drawingml/2006/main">
              <a:ext uri="{FF2B5EF4-FFF2-40B4-BE49-F238E27FC236}">
                <a16:creationId xmlns:a16="http://schemas.microsoft.com/office/drawing/2014/main" id="{E9C06EA7-D6A6-4527-979B-95053B75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多人發言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主題聚類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摘要與行動項</a:t>
            </a:r>
          </a:p>
        </p:txBody>
      </p:sp>
      <p:sp>
        <p:nvSpPr>
          <p:cNvPr id="13" name="business-value-1">
            <a:extLst xmlns:a="http://schemas.openxmlformats.org/drawingml/2006/main">
              <a:ext uri="{FF2B5EF4-FFF2-40B4-BE49-F238E27FC236}">
                <a16:creationId xmlns:a16="http://schemas.microsoft.com/office/drawing/2014/main" id="{5C4EEB0D-2FC8-4C94-B4CB-6C708E94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縮短整理時間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保留共同脈絡</a:t>
            </a:r>
          </a:p>
        </p:txBody>
      </p:sp>
      <p:sp>
        <p:nvSpPr>
          <p:cNvPr id="14" name="business-no-2">
            <a:extLst xmlns:a="http://schemas.openxmlformats.org/drawingml/2006/main">
              <a:ext uri="{FF2B5EF4-FFF2-40B4-BE49-F238E27FC236}">
                <a16:creationId xmlns:a16="http://schemas.microsoft.com/office/drawing/2014/main" id="{D2B38E51-0C3D-4F6C-B1D2-85CD0DC1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95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5" name="business-title-2">
            <a:extLst xmlns:a="http://schemas.openxmlformats.org/drawingml/2006/main">
              <a:ext uri="{FF2B5EF4-FFF2-40B4-BE49-F238E27FC236}">
                <a16:creationId xmlns:a16="http://schemas.microsoft.com/office/drawing/2014/main" id="{1BD6187C-D12F-4DD3-ABC4-39BD9D22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14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培訓與工作坊</a:t>
            </a:r>
          </a:p>
        </p:txBody>
      </p:sp>
      <p:sp>
        <p:nvSpPr>
          <p:cNvPr id="16" name="business-line-2">
            <a:extLst xmlns:a="http://schemas.openxmlformats.org/drawingml/2006/main">
              <a:ext uri="{FF2B5EF4-FFF2-40B4-BE49-F238E27FC236}">
                <a16:creationId xmlns:a16="http://schemas.microsoft.com/office/drawing/2014/main" id="{8BCFC447-6A28-4C79-9E62-4EFE0D3C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900"/>
            </a:solidFill>
            <a:prstDash val="solid"/>
          </a:ln>
        </p:spPr>
      </p:sp>
      <p:sp>
        <p:nvSpPr>
          <p:cNvPr id="17" name="business-flow-2">
            <a:extLst xmlns:a="http://schemas.openxmlformats.org/drawingml/2006/main">
              <a:ext uri="{FF2B5EF4-FFF2-40B4-BE49-F238E27FC236}">
                <a16:creationId xmlns:a16="http://schemas.microsoft.com/office/drawing/2014/main" id="{A356A0D3-02DC-427C-8483-932A3AA5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7180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角色任務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情境評估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→ 回饋與復盤</a:t>
            </a:r>
          </a:p>
        </p:txBody>
      </p:sp>
      <p:sp>
        <p:nvSpPr>
          <p:cNvPr id="18" name="business-value-2">
            <a:extLst xmlns:a="http://schemas.openxmlformats.org/drawingml/2006/main">
              <a:ext uri="{FF2B5EF4-FFF2-40B4-BE49-F238E27FC236}">
                <a16:creationId xmlns:a16="http://schemas.microsoft.com/office/drawing/2014/main" id="{8B850AD9-5911-4FEF-BF17-69D8B47C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可重複情境演練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可量化觀察</a:t>
            </a:r>
          </a:p>
        </p:txBody>
      </p:sp>
      <p:sp>
        <p:nvSpPr>
          <p:cNvPr id="19" name="business-note">
            <a:extLst xmlns:a="http://schemas.openxmlformats.org/drawingml/2006/main">
              <a:ext uri="{FF2B5EF4-FFF2-40B4-BE49-F238E27FC236}">
                <a16:creationId xmlns:a16="http://schemas.microsoft.com/office/drawing/2014/main" id="{9FD09BB7-7F80-413B-B206-88AFEE96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975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siness-note-text">
            <a:extLst xmlns:a="http://schemas.openxmlformats.org/drawingml/2006/main">
              <a:ext uri="{FF2B5EF4-FFF2-40B4-BE49-F238E27FC236}">
                <a16:creationId xmlns:a16="http://schemas.microsoft.com/office/drawing/2014/main" id="{684AF467-6843-45F6-B279-79E4DBB9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共同核心：參與者、回合／議程、canonical state、AI 受約束輸出。後兩項為延伸方向，尚未實作。</a:t>
            </a:r>
          </a:p>
        </p:txBody>
      </p:sp>
      <p:sp>
        <p:nvSpPr>
          <p:cNvPr id="21" name="page-mask-4">
            <a:extLst xmlns:a="http://schemas.openxmlformats.org/drawingml/2006/main">
              <a:ext uri="{FF2B5EF4-FFF2-40B4-BE49-F238E27FC236}">
                <a16:creationId xmlns:a16="http://schemas.microsoft.com/office/drawing/2014/main" id="{9429F4BC-4BAC-4AF3-9B67-16188F25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-new-4">
            <a:extLst xmlns:a="http://schemas.openxmlformats.org/drawingml/2006/main">
              <a:ext uri="{FF2B5EF4-FFF2-40B4-BE49-F238E27FC236}">
                <a16:creationId xmlns:a16="http://schemas.microsoft.com/office/drawing/2014/main" id="{A0194F30-F632-454C-B43F-48E4809C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BUSINESS EXTENSION-kicker-mask">
            <a:extLst xmlns:a="http://schemas.openxmlformats.org/drawingml/2006/main">
              <a:ext uri="{FF2B5EF4-FFF2-40B4-BE49-F238E27FC236}">
                <a16:creationId xmlns:a16="http://schemas.microsoft.com/office/drawing/2014/main" id="{5FE4DA1A-CA09-4D18-9FFB-FD6C80F5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SINESS EXTENSION-kicker-new">
            <a:extLst xmlns:a="http://schemas.openxmlformats.org/drawingml/2006/main">
              <a:ext uri="{FF2B5EF4-FFF2-40B4-BE49-F238E27FC236}">
                <a16:creationId xmlns:a16="http://schemas.microsoft.com/office/drawing/2014/main" id="{EB7A47EF-1434-4078-AB41-FA07728D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BUSINESS EXTENSION</a:t>
            </a:r>
          </a:p>
        </p:txBody>
      </p:sp>
      <p:sp>
        <p:nvSpPr>
          <p:cNvPr id="26" name="page-mask-v2-4">
            <a:extLst xmlns:a="http://schemas.openxmlformats.org/drawingml/2006/main">
              <a:ext uri="{FF2B5EF4-FFF2-40B4-BE49-F238E27FC236}">
                <a16:creationId xmlns:a16="http://schemas.microsoft.com/office/drawing/2014/main" id="{C26A4061-FE9F-42E7-8305-4CE198E8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ge-v2-4">
            <a:extLst xmlns:a="http://schemas.openxmlformats.org/drawingml/2006/main">
              <a:ext uri="{FF2B5EF4-FFF2-40B4-BE49-F238E27FC236}">
                <a16:creationId xmlns:a16="http://schemas.microsoft.com/office/drawing/2014/main" id="{4FFD4AF4-AE83-44D1-A1F0-EE098D5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0168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3">
            <a:extLst xmlns:a="http://schemas.openxmlformats.org/drawingml/2006/main">
              <a:ext uri="{FF2B5EF4-FFF2-40B4-BE49-F238E27FC236}">
                <a16:creationId xmlns:a16="http://schemas.microsoft.com/office/drawing/2014/main" id="{5E38F992-E110-4417-89C7-4DC6A6E8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02  EXPERIENCE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ED6E4ED-CA66-49B2-AB67-81865A56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玩家只做決策，平台完成其餘閉環</a:t>
            </a:r>
          </a:p>
        </p:txBody>
      </p:sp>
      <p:sp>
        <p:nvSpPr>
          <p:cNvPr id="3" name="title-line-3">
            <a:extLst xmlns:a="http://schemas.openxmlformats.org/drawingml/2006/main">
              <a:ext uri="{FF2B5EF4-FFF2-40B4-BE49-F238E27FC236}">
                <a16:creationId xmlns:a16="http://schemas.microsoft.com/office/drawing/2014/main" id="{1AD0DDDC-AD72-406E-9515-D1CCA55E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62DB084-1D0F-4AF0-8608-FCE29D6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99EDB4D7-F95C-4EB4-94F8-EB44CC38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1">
            <a:extLst xmlns:a="http://schemas.openxmlformats.org/drawingml/2006/main">
              <a:ext uri="{FF2B5EF4-FFF2-40B4-BE49-F238E27FC236}">
                <a16:creationId xmlns:a16="http://schemas.microsoft.com/office/drawing/2014/main" id="{EAC23EB4-DD25-4F42-B77C-799970A8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op-2">
            <a:extLst xmlns:a="http://schemas.openxmlformats.org/drawingml/2006/main">
              <a:ext uri="{FF2B5EF4-FFF2-40B4-BE49-F238E27FC236}">
                <a16:creationId xmlns:a16="http://schemas.microsoft.com/office/drawing/2014/main" id="{2624FC9E-F8BA-42AF-ADC0-3678AAF2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op-3">
            <a:extLst xmlns:a="http://schemas.openxmlformats.org/drawingml/2006/main">
              <a:ext uri="{FF2B5EF4-FFF2-40B4-BE49-F238E27FC236}">
                <a16:creationId xmlns:a16="http://schemas.microsoft.com/office/drawing/2014/main" id="{1AC7B721-78E2-4AF2-A42B-2748BA76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18097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3B7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3400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25D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43850" y="32861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73B7"/>
            </a:solidFill>
            <a:prstDash val="solid"/>
            <a:tailEnd type="triangle" w="sm" len="sm"/>
          </a:ln>
        </p:spPr>
      </p:cxnSp>
      <p:sp>
        <p:nvSpPr>
          <p:cNvPr id="12" name="loop-no-0">
            <a:extLst xmlns:a="http://schemas.openxmlformats.org/drawingml/2006/main">
              <a:ext uri="{FF2B5EF4-FFF2-40B4-BE49-F238E27FC236}">
                <a16:creationId xmlns:a16="http://schemas.microsoft.com/office/drawing/2014/main" id="{869CD38C-03A7-4B6D-B382-1E09A16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3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70AB09FC-79CA-45BC-A97C-FE61955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加入房間</a:t>
            </a:r>
          </a:p>
        </p:txBody>
      </p:sp>
      <p:sp>
        <p:nvSpPr>
          <p:cNvPr id="14" name="loop-sub-0">
            <a:extLst xmlns:a="http://schemas.openxmlformats.org/drawingml/2006/main">
              <a:ext uri="{FF2B5EF4-FFF2-40B4-BE49-F238E27FC236}">
                <a16:creationId xmlns:a16="http://schemas.microsoft.com/office/drawing/2014/main" id="{3D296C5B-EB16-4FD7-B291-5570F24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3–5 位玩家</a:t>
            </a:r>
          </a:p>
        </p:txBody>
      </p:sp>
      <p:sp>
        <p:nvSpPr>
          <p:cNvPr id="15" name="loop-no-1">
            <a:extLst xmlns:a="http://schemas.openxmlformats.org/drawingml/2006/main">
              <a:ext uri="{FF2B5EF4-FFF2-40B4-BE49-F238E27FC236}">
                <a16:creationId xmlns:a16="http://schemas.microsoft.com/office/drawing/2014/main" id="{56CE029D-B774-47A0-AB46-91DFCD5A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FEBD13C1-F644-480A-A7B1-4C04FD55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共同決策</a:t>
            </a:r>
          </a:p>
        </p:txBody>
      </p:sp>
      <p:sp>
        <p:nvSpPr>
          <p:cNvPr id="17" name="loop-sub-1">
            <a:extLst xmlns:a="http://schemas.openxmlformats.org/drawingml/2006/main">
              <a:ext uri="{FF2B5EF4-FFF2-40B4-BE49-F238E27FC236}">
                <a16:creationId xmlns:a16="http://schemas.microsoft.com/office/drawing/2014/main" id="{8DE9543E-9867-4165-98C8-E3759C0A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行動 · 骰子</a:t>
            </a:r>
          </a:p>
        </p:txBody>
      </p:sp>
      <p:sp>
        <p:nvSpPr>
          <p:cNvPr id="18" name="loop-no-2">
            <a:extLst xmlns:a="http://schemas.openxmlformats.org/drawingml/2006/main">
              <a:ext uri="{FF2B5EF4-FFF2-40B4-BE49-F238E27FC236}">
                <a16:creationId xmlns:a16="http://schemas.microsoft.com/office/drawing/2014/main" id="{785B1877-47F5-42D2-95BF-8C7A413D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750A07DF-16D9-4BB5-A9BB-A5879777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規則結算</a:t>
            </a:r>
          </a:p>
        </p:txBody>
      </p:sp>
      <p:sp>
        <p:nvSpPr>
          <p:cNvPr id="20" name="loop-sub-2">
            <a:extLst xmlns:a="http://schemas.openxmlformats.org/drawingml/2006/main">
              <a:ext uri="{FF2B5EF4-FFF2-40B4-BE49-F238E27FC236}">
                <a16:creationId xmlns:a16="http://schemas.microsoft.com/office/drawing/2014/main" id="{859A2220-E832-446A-85B8-B6CA6F6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進度 · 危機 · 結局</a:t>
            </a:r>
          </a:p>
        </p:txBody>
      </p:sp>
      <p:sp>
        <p:nvSpPr>
          <p:cNvPr id="21" name="loop-no-3">
            <a:extLst xmlns:a="http://schemas.openxmlformats.org/drawingml/2006/main">
              <a:ext uri="{FF2B5EF4-FFF2-40B4-BE49-F238E27FC236}">
                <a16:creationId xmlns:a16="http://schemas.microsoft.com/office/drawing/2014/main" id="{BDC3EFFC-3A01-4CF9-8A3A-14967286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71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2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C06F0DDD-0657-4F84-8D61-F22BB88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同步敘事</a:t>
            </a:r>
          </a:p>
        </p:txBody>
      </p:sp>
      <p:sp>
        <p:nvSpPr>
          <p:cNvPr id="23" name="loop-sub-3">
            <a:extLst xmlns:a="http://schemas.openxmlformats.org/drawingml/2006/main">
              <a:ext uri="{FF2B5EF4-FFF2-40B4-BE49-F238E27FC236}">
                <a16:creationId xmlns:a16="http://schemas.microsoft.com/office/drawing/2014/main" id="{35D96379-60FA-41AB-B6D1-C141B387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4330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所有人看到同一結果</a:t>
            </a:r>
          </a:p>
        </p:txBody>
      </p:sp>
      <p:sp>
        <p:nvSpPr>
          <p:cNvPr id="24" name="loop-boundary">
            <a:extLst xmlns:a="http://schemas.openxmlformats.org/drawingml/2006/main">
              <a:ext uri="{FF2B5EF4-FFF2-40B4-BE49-F238E27FC236}">
                <a16:creationId xmlns:a16="http://schemas.microsoft.com/office/drawing/2014/main" id="{2383A8E6-0EDF-44D0-9013-4DF4C1C1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瀏覽器不持有 AWS credential  ·  canonical state 由 server 判定  ·  LLM 不直接改寫規則</a:t>
            </a:r>
          </a:p>
        </p:txBody>
      </p:sp>
      <p:sp>
        <p:nvSpPr>
          <p:cNvPr id="47" name="page-mask-5">
            <a:extLst xmlns:a="http://schemas.openxmlformats.org/drawingml/2006/main">
              <a:ext uri="{FF2B5EF4-FFF2-40B4-BE49-F238E27FC236}">
                <a16:creationId xmlns:a16="http://schemas.microsoft.com/office/drawing/2014/main" id="{31E1E2C1-5C40-4DC9-B90F-C3182C9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ge-new-5">
            <a:extLst xmlns:a="http://schemas.openxmlformats.org/drawingml/2006/main">
              <a:ext uri="{FF2B5EF4-FFF2-40B4-BE49-F238E27FC236}">
                <a16:creationId xmlns:a16="http://schemas.microsoft.com/office/drawing/2014/main" id="{FA14EDD2-2D6D-4798-A220-B8D45E4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60" name="EXPERIENCE-kicker-mask">
            <a:extLst xmlns:a="http://schemas.openxmlformats.org/drawingml/2006/main">
              <a:ext uri="{FF2B5EF4-FFF2-40B4-BE49-F238E27FC236}">
                <a16:creationId xmlns:a16="http://schemas.microsoft.com/office/drawing/2014/main" id="{BECAA193-7654-4C3C-8F08-14016EE6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EXPERIENCE-kicker-new">
            <a:extLst xmlns:a="http://schemas.openxmlformats.org/drawingml/2006/main">
              <a:ext uri="{FF2B5EF4-FFF2-40B4-BE49-F238E27FC236}">
                <a16:creationId xmlns:a16="http://schemas.microsoft.com/office/drawing/2014/main" id="{4F805631-BEDC-4DC9-85C6-9229041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EXPERIENCE</a:t>
            </a:r>
          </a:p>
        </p:txBody>
      </p:sp>
      <p:sp>
        <p:nvSpPr>
          <p:cNvPr id="62" name="page-mask-v2-5">
            <a:extLst xmlns:a="http://schemas.openxmlformats.org/drawingml/2006/main">
              <a:ext uri="{FF2B5EF4-FFF2-40B4-BE49-F238E27FC236}">
                <a16:creationId xmlns:a16="http://schemas.microsoft.com/office/drawing/2014/main" id="{C0A6C230-E5AC-4404-85A9-649E3BB0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ge-v2-5">
            <a:extLst xmlns:a="http://schemas.openxmlformats.org/drawingml/2006/main">
              <a:ext uri="{FF2B5EF4-FFF2-40B4-BE49-F238E27FC236}">
                <a16:creationId xmlns:a16="http://schemas.microsoft.com/office/drawing/2014/main" id="{CC9AC5CD-6266-407A-9E6C-D477CF2D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7228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83AA0740-14EC-42FB-AD3D-1620DF71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03  PROOF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EA9CCED-DA9C-44A6-811C-E1707BFE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四位玩家已在 AWS 完成四回合與結局</a:t>
            </a:r>
          </a:p>
        </p:txBody>
      </p:sp>
      <p:sp>
        <p:nvSpPr>
          <p:cNvPr id="3" name="title-line-4">
            <a:extLst xmlns:a="http://schemas.openxmlformats.org/drawingml/2006/main">
              <a:ext uri="{FF2B5EF4-FFF2-40B4-BE49-F238E27FC236}">
                <a16:creationId xmlns:a16="http://schemas.microsoft.com/office/drawing/2014/main" id="{BC21AF1C-D83F-4580-88CD-6152B59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95FB3EF-23C3-4BDC-B3A5-28E98FDF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c9d11d30f4b58"/>
          <a:srcRect xmlns:a="http://schemas.openxmlformats.org/drawingml/2006/main" l="0" t="12306" r="0" b="12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09700"/>
            <a:ext cx="809625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proof-border">
            <a:extLst xmlns:a="http://schemas.openxmlformats.org/drawingml/2006/main">
              <a:ext uri="{FF2B5EF4-FFF2-40B4-BE49-F238E27FC236}">
                <a16:creationId xmlns:a16="http://schemas.microsoft.com/office/drawing/2014/main" id="{0B7ABACA-CBD8-4369-99AB-FE3320D1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096250" cy="4762500"/>
          </a:xfrm>
          <a:prstGeom xmlns:a="http://schemas.openxmlformats.org/drawingml/2006/main" prst="roundRect">
            <a:avLst>
              <a:gd name="adj" fmla="val 12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7" name="proof-4">
            <a:extLst xmlns:a="http://schemas.openxmlformats.org/drawingml/2006/main">
              <a:ext uri="{FF2B5EF4-FFF2-40B4-BE49-F238E27FC236}">
                <a16:creationId xmlns:a16="http://schemas.microsoft.com/office/drawing/2014/main" id="{6140D164-A542-459C-95A7-B391E63E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8" name="proof-4-label">
            <a:extLst xmlns:a="http://schemas.openxmlformats.org/drawingml/2006/main">
              <a:ext uri="{FF2B5EF4-FFF2-40B4-BE49-F238E27FC236}">
                <a16:creationId xmlns:a16="http://schemas.microsoft.com/office/drawing/2014/main" id="{DBE31D07-41D0-454E-AC57-0589FB05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位真實玩家</a:t>
            </a:r>
          </a:p>
        </p:txBody>
      </p:sp>
      <p:sp>
        <p:nvSpPr>
          <p:cNvPr id="9" name="proof-divider-1">
            <a:extLst xmlns:a="http://schemas.openxmlformats.org/drawingml/2006/main">
              <a:ext uri="{FF2B5EF4-FFF2-40B4-BE49-F238E27FC236}">
                <a16:creationId xmlns:a16="http://schemas.microsoft.com/office/drawing/2014/main" id="{F8063A82-1F0D-46D8-B51D-B2171C5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0" name="proof-rounds">
            <a:extLst xmlns:a="http://schemas.openxmlformats.org/drawingml/2006/main">
              <a:ext uri="{FF2B5EF4-FFF2-40B4-BE49-F238E27FC236}">
                <a16:creationId xmlns:a16="http://schemas.microsoft.com/office/drawing/2014/main" id="{ADBC221F-84E9-4226-815E-E7512FD8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4 回合</a:t>
            </a:r>
          </a:p>
        </p:txBody>
      </p:sp>
      <p:sp>
        <p:nvSpPr>
          <p:cNvPr id="11" name="proof-result">
            <a:extLst xmlns:a="http://schemas.openxmlformats.org/drawingml/2006/main">
              <a:ext uri="{FF2B5EF4-FFF2-40B4-BE49-F238E27FC236}">
                <a16:creationId xmlns:a16="http://schemas.microsoft.com/office/drawing/2014/main" id="{A56F136F-79D6-4512-882F-82BDDCD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結局完成</a:t>
            </a:r>
          </a:p>
        </p:txBody>
      </p:sp>
      <p:sp>
        <p:nvSpPr>
          <p:cNvPr id="12" name="proof-divider-2">
            <a:extLst xmlns:a="http://schemas.openxmlformats.org/drawingml/2006/main">
              <a:ext uri="{FF2B5EF4-FFF2-40B4-BE49-F238E27FC236}">
                <a16:creationId xmlns:a16="http://schemas.microsoft.com/office/drawing/2014/main" id="{6E6973DA-63EB-48AC-A5BB-51CBBF2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3" name="proof-pass">
            <a:extLst xmlns:a="http://schemas.openxmlformats.org/drawingml/2006/main">
              <a:ext uri="{FF2B5EF4-FFF2-40B4-BE49-F238E27FC236}">
                <a16:creationId xmlns:a16="http://schemas.microsoft.com/office/drawing/2014/main" id="{72426F0C-9B23-4709-A2FE-5B47B68A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33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PASS</a:t>
            </a:r>
          </a:p>
        </p:txBody>
      </p:sp>
      <p:sp>
        <p:nvSpPr>
          <p:cNvPr id="14" name="proof-platforms">
            <a:extLst xmlns:a="http://schemas.openxmlformats.org/drawingml/2006/main">
              <a:ext uri="{FF2B5EF4-FFF2-40B4-BE49-F238E27FC236}">
                <a16:creationId xmlns:a16="http://schemas.microsoft.com/office/drawing/2014/main" id="{315E6B1E-53BE-4EFB-8A57-CAEF0442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562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iPhone · macOS · Windows</a:t>
            </a:r>
          </a:p>
        </p:txBody>
      </p:sp>
      <p:sp>
        <p:nvSpPr>
          <p:cNvPr id="17" name="page-mask-6">
            <a:extLst xmlns:a="http://schemas.openxmlformats.org/drawingml/2006/main">
              <a:ext uri="{FF2B5EF4-FFF2-40B4-BE49-F238E27FC236}">
                <a16:creationId xmlns:a16="http://schemas.microsoft.com/office/drawing/2014/main" id="{755C7CD0-16D1-499B-A74A-DE9BD01D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ge-new-6">
            <a:extLst xmlns:a="http://schemas.openxmlformats.org/drawingml/2006/main">
              <a:ext uri="{FF2B5EF4-FFF2-40B4-BE49-F238E27FC236}">
                <a16:creationId xmlns:a16="http://schemas.microsoft.com/office/drawing/2014/main" id="{E13395A8-97C1-4F04-A2AF-80E21564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20" name="PROOF-kicker-mask">
            <a:extLst xmlns:a="http://schemas.openxmlformats.org/drawingml/2006/main">
              <a:ext uri="{FF2B5EF4-FFF2-40B4-BE49-F238E27FC236}">
                <a16:creationId xmlns:a16="http://schemas.microsoft.com/office/drawing/2014/main" id="{C2FC59B5-4D0F-4912-9980-D68B882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OOF-kicker-new">
            <a:extLst xmlns:a="http://schemas.openxmlformats.org/drawingml/2006/main">
              <a:ext uri="{FF2B5EF4-FFF2-40B4-BE49-F238E27FC236}">
                <a16:creationId xmlns:a16="http://schemas.microsoft.com/office/drawing/2014/main" id="{57221059-2144-4834-B03B-3F12EB1B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PROOF</a:t>
            </a:r>
          </a:p>
        </p:txBody>
      </p:sp>
      <p:sp>
        <p:nvSpPr>
          <p:cNvPr id="22" name="page-mask-v2-6">
            <a:extLst xmlns:a="http://schemas.openxmlformats.org/drawingml/2006/main">
              <a:ext uri="{FF2B5EF4-FFF2-40B4-BE49-F238E27FC236}">
                <a16:creationId xmlns:a16="http://schemas.microsoft.com/office/drawing/2014/main" id="{EC3DD205-F759-43D7-ACCE-654789FC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v2-6">
            <a:extLst xmlns:a="http://schemas.openxmlformats.org/drawingml/2006/main">
              <a:ext uri="{FF2B5EF4-FFF2-40B4-BE49-F238E27FC236}">
                <a16:creationId xmlns:a16="http://schemas.microsoft.com/office/drawing/2014/main" id="{6CC212B6-5AA7-4031-A8D1-DF47ACB8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3152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-no-02">
            <a:extLst xmlns:a="http://schemas.openxmlformats.org/drawingml/2006/main">
              <a:ext uri="{FF2B5EF4-FFF2-40B4-BE49-F238E27FC236}">
                <a16:creationId xmlns:a16="http://schemas.microsoft.com/office/drawing/2014/main" id="{BF854A61-0142-4966-BD4E-5F30F7CB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2" name="chapter-label-02">
            <a:extLst xmlns:a="http://schemas.openxmlformats.org/drawingml/2006/main">
              <a:ext uri="{FF2B5EF4-FFF2-40B4-BE49-F238E27FC236}">
                <a16:creationId xmlns:a16="http://schemas.microsoft.com/office/drawing/2014/main" id="{7DF3C4F1-5921-4A79-A64B-021DC686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DESIGN</a:t>
            </a:r>
          </a:p>
        </p:txBody>
      </p:sp>
      <p:sp>
        <p:nvSpPr>
          <p:cNvPr id="3" name="chapter-rule-02">
            <a:extLst xmlns:a="http://schemas.openxmlformats.org/drawingml/2006/main">
              <a:ext uri="{FF2B5EF4-FFF2-40B4-BE49-F238E27FC236}">
                <a16:creationId xmlns:a16="http://schemas.microsoft.com/office/drawing/2014/main" id="{4B382A4B-BB32-4850-A902-AF10B02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4" name="chapter-title-02">
            <a:extLst xmlns:a="http://schemas.openxmlformats.org/drawingml/2006/main">
              <a:ext uri="{FF2B5EF4-FFF2-40B4-BE49-F238E27FC236}">
                <a16:creationId xmlns:a16="http://schemas.microsoft.com/office/drawing/2014/main" id="{4D9A9824-91A8-436F-B2E6-2C7A9A22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每個 AWS 服務都要回答一個產品問題。</a:t>
            </a:r>
          </a:p>
        </p:txBody>
      </p:sp>
      <p:sp>
        <p:nvSpPr>
          <p:cNvPr id="6" name="chapter-mark-02">
            <a:extLst xmlns:a="http://schemas.openxmlformats.org/drawingml/2006/main">
              <a:ext uri="{FF2B5EF4-FFF2-40B4-BE49-F238E27FC236}">
                <a16:creationId xmlns:a16="http://schemas.microsoft.com/office/drawing/2014/main" id="{BEF25CBD-A1FB-4BB3-80D2-E493EF6D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7">
            <a:extLst xmlns:a="http://schemas.openxmlformats.org/drawingml/2006/main">
              <a:ext uri="{FF2B5EF4-FFF2-40B4-BE49-F238E27FC236}">
                <a16:creationId xmlns:a16="http://schemas.microsoft.com/office/drawing/2014/main" id="{1C7FD291-78D6-4BEF-8BCB-EFA641E1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new-7">
            <a:extLst xmlns:a="http://schemas.openxmlformats.org/drawingml/2006/main">
              <a:ext uri="{FF2B5EF4-FFF2-40B4-BE49-F238E27FC236}">
                <a16:creationId xmlns:a16="http://schemas.microsoft.com/office/drawing/2014/main" id="{B8AED0F6-3606-4E55-8A81-A71E747C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10" name="chapter-prompt-mask-v2-7">
            <a:extLst xmlns:a="http://schemas.openxmlformats.org/drawingml/2006/main">
              <a:ext uri="{FF2B5EF4-FFF2-40B4-BE49-F238E27FC236}">
                <a16:creationId xmlns:a16="http://schemas.microsoft.com/office/drawing/2014/main" id="{4805B64B-C890-4217-BF6C-8021C3C1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apter-prompt-v2-7">
            <a:extLst xmlns:a="http://schemas.openxmlformats.org/drawingml/2006/main">
              <a:ext uri="{FF2B5EF4-FFF2-40B4-BE49-F238E27FC236}">
                <a16:creationId xmlns:a16="http://schemas.microsoft.com/office/drawing/2014/main" id="{63F0AA50-2734-49CC-94D0-6CE8DB58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從產品限制回推服務，並同時衡量成本、資料一致性、模型演進與維運方式。</a:t>
            </a:r>
          </a:p>
        </p:txBody>
      </p:sp>
      <p:sp>
        <p:nvSpPr>
          <p:cNvPr id="12" name="page-mask-v2-7">
            <a:extLst xmlns:a="http://schemas.openxmlformats.org/drawingml/2006/main">
              <a:ext uri="{FF2B5EF4-FFF2-40B4-BE49-F238E27FC236}">
                <a16:creationId xmlns:a16="http://schemas.microsoft.com/office/drawing/2014/main" id="{65179958-8508-4AAB-BDD1-D370E2A5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v2-7">
            <a:extLst xmlns:a="http://schemas.openxmlformats.org/drawingml/2006/main">
              <a:ext uri="{FF2B5EF4-FFF2-40B4-BE49-F238E27FC236}">
                <a16:creationId xmlns:a16="http://schemas.microsoft.com/office/drawing/2014/main" id="{2883ABD0-5403-4DAC-94AF-7E7774A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80279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-SERVICE DECISIONS">
            <a:extLst xmlns:a="http://schemas.openxmlformats.org/drawingml/2006/main">
              <a:ext uri="{FF2B5EF4-FFF2-40B4-BE49-F238E27FC236}">
                <a16:creationId xmlns:a16="http://schemas.microsoft.com/office/drawing/2014/main" id="{56098100-9795-419E-97F7-4B928D7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SERVICE DECISIONS</a:t>
            </a:r>
          </a:p>
        </p:txBody>
      </p:sp>
      <p:sp>
        <p:nvSpPr>
          <p:cNvPr id="4" name="choice-problem-0">
            <a:extLst xmlns:a="http://schemas.openxmlformats.org/drawingml/2006/main">
              <a:ext uri="{FF2B5EF4-FFF2-40B4-BE49-F238E27FC236}">
                <a16:creationId xmlns:a16="http://schemas.microsoft.com/office/drawing/2014/main" id="{4989176D-650E-466B-A13A-6E194456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單一 MVP 需要直接控制 runtime</a:t>
            </a:r>
          </a:p>
        </p:txBody>
      </p:sp>
      <p:sp>
        <p:nvSpPr>
          <p:cNvPr id="5" name="choice-arrow-0">
            <a:extLst xmlns:a="http://schemas.openxmlformats.org/drawingml/2006/main">
              <a:ext uri="{FF2B5EF4-FFF2-40B4-BE49-F238E27FC236}">
                <a16:creationId xmlns:a16="http://schemas.microsoft.com/office/drawing/2014/main" id="{34468438-51B0-4ACE-86A3-5225DFA0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e22e02cf7494b">
            <a:extLst>
              <a:ext uri="{96DAC541-7B7A-43D3-8B79-37D633B846F1}">
                <asvg:svgBlip xmlns:asvg="http://schemas.microsoft.com/office/drawing/2016/SVG/main" r:embed="R69ab1a3cd5cb4d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1543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7" name="choice-service-0">
            <a:extLst xmlns:a="http://schemas.openxmlformats.org/drawingml/2006/main">
              <a:ext uri="{FF2B5EF4-FFF2-40B4-BE49-F238E27FC236}">
                <a16:creationId xmlns:a16="http://schemas.microsoft.com/office/drawing/2014/main" id="{B134942C-26C4-44BD-80C8-AE2D2DC4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EC2</a:t>
            </a:r>
          </a:p>
        </p:txBody>
      </p:sp>
      <p:sp>
        <p:nvSpPr>
          <p:cNvPr id="8" name="choice-reason-0">
            <a:extLst xmlns:a="http://schemas.openxmlformats.org/drawingml/2006/main">
              <a:ext uri="{FF2B5EF4-FFF2-40B4-BE49-F238E27FC236}">
                <a16:creationId xmlns:a16="http://schemas.microsoft.com/office/drawing/2014/main" id="{E5258B00-AAEB-45AF-A16F-D8BCCAE4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Nginx + FastAPI；先避免容器與負載平衡複雜度</a:t>
            </a:r>
          </a:p>
        </p:txBody>
      </p:sp>
      <p:sp>
        <p:nvSpPr>
          <p:cNvPr id="9" name="choice-divider-1">
            <a:extLst xmlns:a="http://schemas.openxmlformats.org/drawingml/2006/main">
              <a:ext uri="{FF2B5EF4-FFF2-40B4-BE49-F238E27FC236}">
                <a16:creationId xmlns:a16="http://schemas.microsoft.com/office/drawing/2014/main" id="{16E374EA-2F8F-4F64-A918-A33CFA49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0" name="choice-problem-1">
            <a:extLst xmlns:a="http://schemas.openxmlformats.org/drawingml/2006/main">
              <a:ext uri="{FF2B5EF4-FFF2-40B4-BE49-F238E27FC236}">
                <a16:creationId xmlns:a16="http://schemas.microsoft.com/office/drawing/2014/main" id="{3A2BFD42-A4B7-40A9-AC42-5F6A0FA1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多人狀態必須一致且能跨重啟</a:t>
            </a:r>
          </a:p>
        </p:txBody>
      </p:sp>
      <p:sp>
        <p:nvSpPr>
          <p:cNvPr id="11" name="choice-arrow-1">
            <a:extLst xmlns:a="http://schemas.openxmlformats.org/drawingml/2006/main">
              <a:ext uri="{FF2B5EF4-FFF2-40B4-BE49-F238E27FC236}">
                <a16:creationId xmlns:a16="http://schemas.microsoft.com/office/drawing/2014/main" id="{A52CBEBF-D539-45A8-9A1A-C04581B5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193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edb805a7e4dc2">
            <a:extLst>
              <a:ext uri="{96DAC541-7B7A-43D3-8B79-37D633B846F1}">
                <asvg:svgBlip xmlns:asvg="http://schemas.microsoft.com/office/drawing/2016/SVG/main" r:embed="Rf6c321df3a124c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24384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3" name="choice-service-1">
            <a:extLst xmlns:a="http://schemas.openxmlformats.org/drawingml/2006/main">
              <a:ext uri="{FF2B5EF4-FFF2-40B4-BE49-F238E27FC236}">
                <a16:creationId xmlns:a16="http://schemas.microsoft.com/office/drawing/2014/main" id="{5AC20F74-D97C-4DED-9E7D-81BD2327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RDS</a:t>
            </a:r>
          </a:p>
        </p:txBody>
      </p:sp>
      <p:sp>
        <p:nvSpPr>
          <p:cNvPr id="14" name="choice-reason-1">
            <a:extLst xmlns:a="http://schemas.openxmlformats.org/drawingml/2006/main">
              <a:ext uri="{FF2B5EF4-FFF2-40B4-BE49-F238E27FC236}">
                <a16:creationId xmlns:a16="http://schemas.microsoft.com/office/drawing/2014/main" id="{F8E0BE4B-2615-40D3-ABB0-6C2254D0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PostgreSQL transaction、private subnet、持久化</a:t>
            </a:r>
          </a:p>
        </p:txBody>
      </p:sp>
      <p:sp>
        <p:nvSpPr>
          <p:cNvPr id="15" name="choice-divider-2">
            <a:extLst xmlns:a="http://schemas.openxmlformats.org/drawingml/2006/main">
              <a:ext uri="{FF2B5EF4-FFF2-40B4-BE49-F238E27FC236}">
                <a16:creationId xmlns:a16="http://schemas.microsoft.com/office/drawing/2014/main" id="{7300D017-0758-4F98-BD04-F9B3DABF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6" name="choice-problem-2">
            <a:extLst xmlns:a="http://schemas.openxmlformats.org/drawingml/2006/main">
              <a:ext uri="{FF2B5EF4-FFF2-40B4-BE49-F238E27FC236}">
                <a16:creationId xmlns:a16="http://schemas.microsoft.com/office/drawing/2014/main" id="{9EB6CB2D-D97B-4C14-95BE-EC61BFF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需要受治理、可替換的模型入口</a:t>
            </a:r>
          </a:p>
        </p:txBody>
      </p:sp>
      <p:sp>
        <p:nvSpPr>
          <p:cNvPr id="17" name="choice-arrow-2">
            <a:extLst xmlns:a="http://schemas.openxmlformats.org/drawingml/2006/main">
              <a:ext uri="{FF2B5EF4-FFF2-40B4-BE49-F238E27FC236}">
                <a16:creationId xmlns:a16="http://schemas.microsoft.com/office/drawing/2014/main" id="{15B567B0-D10B-429E-A366-67452009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d6b1d873a46c9">
            <a:extLst>
              <a:ext uri="{96DAC541-7B7A-43D3-8B79-37D633B846F1}">
                <asvg:svgBlip xmlns:asvg="http://schemas.microsoft.com/office/drawing/2016/SVG/main" r:embed="Ra171c6d4fa554e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33337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9" name="choice-service-2">
            <a:extLst xmlns:a="http://schemas.openxmlformats.org/drawingml/2006/main">
              <a:ext uri="{FF2B5EF4-FFF2-40B4-BE49-F238E27FC236}">
                <a16:creationId xmlns:a16="http://schemas.microsoft.com/office/drawing/2014/main" id="{1B03D315-4533-46C7-B911-3646345A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Bedrock</a:t>
            </a:r>
          </a:p>
        </p:txBody>
      </p:sp>
      <p:sp>
        <p:nvSpPr>
          <p:cNvPr id="20" name="choice-reason-2">
            <a:extLst xmlns:a="http://schemas.openxmlformats.org/drawingml/2006/main">
              <a:ext uri="{FF2B5EF4-FFF2-40B4-BE49-F238E27FC236}">
                <a16:creationId xmlns:a16="http://schemas.microsoft.com/office/drawing/2014/main" id="{CA849E2B-EC06-4A58-9A00-40E013B5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Converse 統一介面、IAM、模型 ID 外部設定</a:t>
            </a:r>
          </a:p>
        </p:txBody>
      </p:sp>
      <p:sp>
        <p:nvSpPr>
          <p:cNvPr id="21" name="choice-divider-3">
            <a:extLst xmlns:a="http://schemas.openxmlformats.org/drawingml/2006/main">
              <a:ext uri="{FF2B5EF4-FFF2-40B4-BE49-F238E27FC236}">
                <a16:creationId xmlns:a16="http://schemas.microsoft.com/office/drawing/2014/main" id="{3E2D5DCA-C2AE-4F0F-B20D-CD930D68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2" name="choice-problem-3">
            <a:extLst xmlns:a="http://schemas.openxmlformats.org/drawingml/2006/main">
              <a:ext uri="{FF2B5EF4-FFF2-40B4-BE49-F238E27FC236}">
                <a16:creationId xmlns:a16="http://schemas.microsoft.com/office/drawing/2014/main" id="{7201F65B-D77F-4840-BC85-32DDCEB1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維運不能依賴 public SSH</a:t>
            </a:r>
          </a:p>
        </p:txBody>
      </p:sp>
      <p:sp>
        <p:nvSpPr>
          <p:cNvPr id="23" name="choice-arrow-3">
            <a:extLst xmlns:a="http://schemas.openxmlformats.org/drawingml/2006/main">
              <a:ext uri="{FF2B5EF4-FFF2-40B4-BE49-F238E27FC236}">
                <a16:creationId xmlns:a16="http://schemas.microsoft.com/office/drawing/2014/main" id="{4DCB769E-3C4E-4A97-9D90-97926065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100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fe04a21784b9c">
            <a:extLst>
              <a:ext uri="{96DAC541-7B7A-43D3-8B79-37D633B846F1}">
                <asvg:svgBlip xmlns:asvg="http://schemas.microsoft.com/office/drawing/2016/SVG/main" r:embed="R5c6ac4bfd1614a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42291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5" name="choice-service-3">
            <a:extLst xmlns:a="http://schemas.openxmlformats.org/drawingml/2006/main">
              <a:ext uri="{FF2B5EF4-FFF2-40B4-BE49-F238E27FC236}">
                <a16:creationId xmlns:a16="http://schemas.microsoft.com/office/drawing/2014/main" id="{BE53AFD8-8DA8-4B18-8E8B-1F34AC24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Systems Manager</a:t>
            </a:r>
          </a:p>
        </p:txBody>
      </p:sp>
      <p:sp>
        <p:nvSpPr>
          <p:cNvPr id="26" name="choice-reason-3">
            <a:extLst xmlns:a="http://schemas.openxmlformats.org/drawingml/2006/main">
              <a:ext uri="{FF2B5EF4-FFF2-40B4-BE49-F238E27FC236}">
                <a16:creationId xmlns:a16="http://schemas.microsoft.com/office/drawing/2014/main" id="{69018DC4-F0AA-4ACE-87D6-A41D5B24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33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Session Manager + 受限 Run Command</a:t>
            </a:r>
          </a:p>
        </p:txBody>
      </p:sp>
      <p:sp>
        <p:nvSpPr>
          <p:cNvPr id="27" name="choice-divider-4">
            <a:extLst xmlns:a="http://schemas.openxmlformats.org/drawingml/2006/main">
              <a:ext uri="{FF2B5EF4-FFF2-40B4-BE49-F238E27FC236}">
                <a16:creationId xmlns:a16="http://schemas.microsoft.com/office/drawing/2014/main" id="{35CA7248-99CC-4C44-994D-60B44665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8" name="choice-problem-4">
            <a:extLst xmlns:a="http://schemas.openxmlformats.org/drawingml/2006/main">
              <a:ext uri="{FF2B5EF4-FFF2-40B4-BE49-F238E27FC236}">
                <a16:creationId xmlns:a16="http://schemas.microsoft.com/office/drawing/2014/main" id="{9BBE7C1B-C15F-41BE-90F8-E6D18A6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發生問題時要有時間線與告警</a:t>
            </a:r>
          </a:p>
        </p:txBody>
      </p:sp>
      <p:sp>
        <p:nvSpPr>
          <p:cNvPr id="29" name="choice-arrow-4">
            <a:extLst xmlns:a="http://schemas.openxmlformats.org/drawingml/2006/main">
              <a:ext uri="{FF2B5EF4-FFF2-40B4-BE49-F238E27FC236}">
                <a16:creationId xmlns:a16="http://schemas.microsoft.com/office/drawing/2014/main" id="{A619E9C5-1EDE-45B4-B771-D7B24F07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00432a04b490a">
            <a:extLst>
              <a:ext uri="{96DAC541-7B7A-43D3-8B79-37D633B846F1}">
                <asvg:svgBlip xmlns:asvg="http://schemas.microsoft.com/office/drawing/2016/SVG/main" r:embed="R451c7b18fd4a48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91150" y="51244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1" name="choice-service-4">
            <a:extLst xmlns:a="http://schemas.openxmlformats.org/drawingml/2006/main">
              <a:ext uri="{FF2B5EF4-FFF2-40B4-BE49-F238E27FC236}">
                <a16:creationId xmlns:a16="http://schemas.microsoft.com/office/drawing/2014/main" id="{88FB5195-152F-45F0-BB01-E8C664B6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05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Amazon CloudWatch</a:t>
            </a:r>
          </a:p>
        </p:txBody>
      </p:sp>
      <p:sp>
        <p:nvSpPr>
          <p:cNvPr id="32" name="choice-reason-4">
            <a:extLst xmlns:a="http://schemas.openxmlformats.org/drawingml/2006/main">
              <a:ext uri="{FF2B5EF4-FFF2-40B4-BE49-F238E27FC236}">
                <a16:creationId xmlns:a16="http://schemas.microsoft.com/office/drawing/2014/main" id="{9BF42C5C-0532-481A-880D-4464AA79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2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safe logs、metric filter、alarm</a:t>
            </a:r>
          </a:p>
        </p:txBody>
      </p:sp>
      <p:sp>
        <p:nvSpPr>
          <p:cNvPr id="33" name="page-mask-8">
            <a:extLst xmlns:a="http://schemas.openxmlformats.org/drawingml/2006/main">
              <a:ext uri="{FF2B5EF4-FFF2-40B4-BE49-F238E27FC236}">
                <a16:creationId xmlns:a16="http://schemas.microsoft.com/office/drawing/2014/main" id="{5353CAB4-1FE0-4181-B664-9DE4237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ge-new-8">
            <a:extLst xmlns:a="http://schemas.openxmlformats.org/drawingml/2006/main">
              <a:ext uri="{FF2B5EF4-FFF2-40B4-BE49-F238E27FC236}">
                <a16:creationId xmlns:a16="http://schemas.microsoft.com/office/drawing/2014/main" id="{6676EC4B-14E4-4F6C-BD75-0082B2F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1" name="SERVICE DECISIONS-header-mask">
            <a:extLst xmlns:a="http://schemas.openxmlformats.org/drawingml/2006/main">
              <a:ext uri="{FF2B5EF4-FFF2-40B4-BE49-F238E27FC236}">
                <a16:creationId xmlns:a16="http://schemas.microsoft.com/office/drawing/2014/main" id="{88C21FB4-D737-4CC1-A391-52D300FC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ERVICE DECISIONS-kicker">
            <a:extLst xmlns:a="http://schemas.openxmlformats.org/drawingml/2006/main">
              <a:ext uri="{FF2B5EF4-FFF2-40B4-BE49-F238E27FC236}">
                <a16:creationId xmlns:a16="http://schemas.microsoft.com/office/drawing/2014/main" id="{EB944799-9594-47CD-878D-F96A7CDC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SERVICE DECISIONS</a:t>
            </a:r>
          </a:p>
        </p:txBody>
      </p:sp>
      <p:sp>
        <p:nvSpPr>
          <p:cNvPr id="43" name="SERVICE DECISIONS-title">
            <a:extLst xmlns:a="http://schemas.openxmlformats.org/drawingml/2006/main">
              <a:ext uri="{FF2B5EF4-FFF2-40B4-BE49-F238E27FC236}">
                <a16:creationId xmlns:a16="http://schemas.microsoft.com/office/drawing/2014/main" id="{30FCBE2E-3076-475E-A59B-D23F1D04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五個產品限制，決定五項 AWS 服務選型</a:t>
            </a:r>
          </a:p>
        </p:txBody>
      </p:sp>
      <p:sp>
        <p:nvSpPr>
          <p:cNvPr id="44" name="SERVICE DECISIONS-rule">
            <a:extLst xmlns:a="http://schemas.openxmlformats.org/drawingml/2006/main">
              <a:ext uri="{FF2B5EF4-FFF2-40B4-BE49-F238E27FC236}">
                <a16:creationId xmlns:a16="http://schemas.microsoft.com/office/drawing/2014/main" id="{F468AC52-9BB7-47D4-91D6-E40AF280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5" name="SERVICE DECISIONS-kicker-mask">
            <a:extLst xmlns:a="http://schemas.openxmlformats.org/drawingml/2006/main">
              <a:ext uri="{FF2B5EF4-FFF2-40B4-BE49-F238E27FC236}">
                <a16:creationId xmlns:a16="http://schemas.microsoft.com/office/drawing/2014/main" id="{C0276F46-EDEC-4102-89AD-A55E8626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ERVICE DECISIONS-kicker-new">
            <a:extLst xmlns:a="http://schemas.openxmlformats.org/drawingml/2006/main">
              <a:ext uri="{FF2B5EF4-FFF2-40B4-BE49-F238E27FC236}">
                <a16:creationId xmlns:a16="http://schemas.microsoft.com/office/drawing/2014/main" id="{47804AC8-3679-4751-82A2-7812DEC1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SERVICE DECISIONS</a:t>
            </a:r>
          </a:p>
        </p:txBody>
      </p:sp>
      <p:sp>
        <p:nvSpPr>
          <p:cNvPr id="47" name="page-mask-v2-8">
            <a:extLst xmlns:a="http://schemas.openxmlformats.org/drawingml/2006/main">
              <a:ext uri="{FF2B5EF4-FFF2-40B4-BE49-F238E27FC236}">
                <a16:creationId xmlns:a16="http://schemas.microsoft.com/office/drawing/2014/main" id="{02812B93-DDAB-4A18-A69E-3C6A96F8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ge-v2-8">
            <a:extLst xmlns:a="http://schemas.openxmlformats.org/drawingml/2006/main">
              <a:ext uri="{FF2B5EF4-FFF2-40B4-BE49-F238E27FC236}">
                <a16:creationId xmlns:a16="http://schemas.microsoft.com/office/drawing/2014/main" id="{60574A43-9902-43CE-91C2-E887084F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9958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-MODEL STRATEGY">
            <a:extLst xmlns:a="http://schemas.openxmlformats.org/drawingml/2006/main">
              <a:ext uri="{FF2B5EF4-FFF2-40B4-BE49-F238E27FC236}">
                <a16:creationId xmlns:a16="http://schemas.microsoft.com/office/drawing/2014/main" id="{55FA3636-605B-4604-8832-2F4F6512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MODEL STRATEGY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555e11e214868">
            <a:extLst>
              <a:ext uri="{96DAC541-7B7A-43D3-8B79-37D633B846F1}">
                <asvg:svgBlip xmlns:asvg="http://schemas.microsoft.com/office/drawing/2016/SVG/main" r:embed="Rb38946f5608e47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17526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5" name="model-current">
            <a:extLst xmlns:a="http://schemas.openxmlformats.org/drawingml/2006/main">
              <a:ext uri="{FF2B5EF4-FFF2-40B4-BE49-F238E27FC236}">
                <a16:creationId xmlns:a16="http://schemas.microsoft.com/office/drawing/2014/main" id="{359562F5-386E-495D-A52C-DE9B4B44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5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目前：Amazon Nova Lite</a:t>
            </a:r>
          </a:p>
        </p:txBody>
      </p:sp>
      <p:sp>
        <p:nvSpPr>
          <p:cNvPr id="6" name="model-why">
            <a:extLst xmlns:a="http://schemas.openxmlformats.org/drawingml/2006/main">
              <a:ext uri="{FF2B5EF4-FFF2-40B4-BE49-F238E27FC236}">
                <a16:creationId xmlns:a16="http://schemas.microsoft.com/office/drawing/2014/main" id="{DCFEA481-E225-47C5-A77F-8106AA0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4315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低成本、快速、支援文字輸入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適合每回合都要等待結果的互動敘事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目前輸出上限只設 800 tokens</a:t>
            </a:r>
          </a:p>
        </p:txBody>
      </p:sp>
      <p:sp>
        <p:nvSpPr>
          <p:cNvPr id="7" name="model-boundary">
            <a:extLst xmlns:a="http://schemas.openxmlformats.org/drawingml/2006/main">
              <a:ext uri="{FF2B5EF4-FFF2-40B4-BE49-F238E27FC236}">
                <a16:creationId xmlns:a16="http://schemas.microsoft.com/office/drawing/2014/main" id="{1193724C-94A1-4535-B041-A42A3DBD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3340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del-boundary-title">
            <a:extLst xmlns:a="http://schemas.openxmlformats.org/drawingml/2006/main">
              <a:ext uri="{FF2B5EF4-FFF2-40B4-BE49-F238E27FC236}">
                <a16:creationId xmlns:a16="http://schemas.microsoft.com/office/drawing/2014/main" id="{4647F260-A340-4F4F-9B6C-40864221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選型原則</a:t>
            </a:r>
          </a:p>
        </p:txBody>
      </p:sp>
      <p:sp>
        <p:nvSpPr>
          <p:cNvPr id="9" name="model-boundary-copy">
            <a:extLst xmlns:a="http://schemas.openxmlformats.org/drawingml/2006/main">
              <a:ext uri="{FF2B5EF4-FFF2-40B4-BE49-F238E27FC236}">
                <a16:creationId xmlns:a16="http://schemas.microsoft.com/office/drawing/2014/main" id="{24050C9A-0D03-4F86-B02F-B7D03B79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互動延遲 × 敘事品質 × token 成本 × Region 可用性</a:t>
            </a:r>
          </a:p>
        </p:txBody>
      </p:sp>
      <p:sp>
        <p:nvSpPr>
          <p:cNvPr id="10" name="swap-title">
            <a:extLst xmlns:a="http://schemas.openxmlformats.org/drawingml/2006/main">
              <a:ext uri="{FF2B5EF4-FFF2-40B4-BE49-F238E27FC236}">
                <a16:creationId xmlns:a16="http://schemas.microsoft.com/office/drawing/2014/main" id="{336789E2-3060-4601-9D14-0D1844F9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快速抽換的設計</a:t>
            </a:r>
          </a:p>
        </p:txBody>
      </p:sp>
      <p:sp>
        <p:nvSpPr>
          <p:cNvPr id="11" name="swap-0">
            <a:extLst xmlns:a="http://schemas.openxmlformats.org/drawingml/2006/main">
              <a:ext uri="{FF2B5EF4-FFF2-40B4-BE49-F238E27FC236}">
                <a16:creationId xmlns:a16="http://schemas.microsoft.com/office/drawing/2014/main" id="{0D7204B7-3A31-4579-80CC-EB294FE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wap-text-0">
            <a:extLst xmlns:a="http://schemas.openxmlformats.org/drawingml/2006/main">
              <a:ext uri="{FF2B5EF4-FFF2-40B4-BE49-F238E27FC236}">
                <a16:creationId xmlns:a16="http://schemas.microsoft.com/office/drawing/2014/main" id="{A2C3DE77-0523-41D9-8B53-3D36B71B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RoomService</a:t>
            </a:r>
          </a:p>
        </p:txBody>
      </p:sp>
      <p:sp>
        <p:nvSpPr>
          <p:cNvPr id="13" name="swap-arrow-0">
            <a:extLst xmlns:a="http://schemas.openxmlformats.org/drawingml/2006/main">
              <a:ext uri="{FF2B5EF4-FFF2-40B4-BE49-F238E27FC236}">
                <a16:creationId xmlns:a16="http://schemas.microsoft.com/office/drawing/2014/main" id="{BF8C2277-4444-4F08-9915-86D5C711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95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14" name="swap-1">
            <a:extLst xmlns:a="http://schemas.openxmlformats.org/drawingml/2006/main">
              <a:ext uri="{FF2B5EF4-FFF2-40B4-BE49-F238E27FC236}">
                <a16:creationId xmlns:a16="http://schemas.microsoft.com/office/drawing/2014/main" id="{DD3AB711-B099-4C2A-80FB-CDD217E2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wap-text-1">
            <a:extLst xmlns:a="http://schemas.openxmlformats.org/drawingml/2006/main">
              <a:ext uri="{FF2B5EF4-FFF2-40B4-BE49-F238E27FC236}">
                <a16:creationId xmlns:a16="http://schemas.microsoft.com/office/drawing/2014/main" id="{CEF73EF7-4E9F-4111-8258-54F278B3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43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Storyteller port</a:t>
            </a:r>
          </a:p>
        </p:txBody>
      </p:sp>
      <p:sp>
        <p:nvSpPr>
          <p:cNvPr id="16" name="swap-arrow-1">
            <a:extLst xmlns:a="http://schemas.openxmlformats.org/drawingml/2006/main">
              <a:ext uri="{FF2B5EF4-FFF2-40B4-BE49-F238E27FC236}">
                <a16:creationId xmlns:a16="http://schemas.microsoft.com/office/drawing/2014/main" id="{0E6D78B4-7723-4AD0-BC00-4D0A306F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57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17" name="swap-2">
            <a:extLst xmlns:a="http://schemas.openxmlformats.org/drawingml/2006/main">
              <a:ext uri="{FF2B5EF4-FFF2-40B4-BE49-F238E27FC236}">
                <a16:creationId xmlns:a16="http://schemas.microsoft.com/office/drawing/2014/main" id="{6AD51BAF-64C8-4D58-B48D-A1CA0878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wap-text-2">
            <a:extLst xmlns:a="http://schemas.openxmlformats.org/drawingml/2006/main">
              <a:ext uri="{FF2B5EF4-FFF2-40B4-BE49-F238E27FC236}">
                <a16:creationId xmlns:a16="http://schemas.microsoft.com/office/drawing/2014/main" id="{9575B350-8C3F-4EEA-B4F9-DC45DB30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BedrockStoryteller</a:t>
            </a:r>
          </a:p>
        </p:txBody>
      </p:sp>
      <p:sp>
        <p:nvSpPr>
          <p:cNvPr id="19" name="swap-arrow-2">
            <a:extLst xmlns:a="http://schemas.openxmlformats.org/drawingml/2006/main">
              <a:ext uri="{FF2B5EF4-FFF2-40B4-BE49-F238E27FC236}">
                <a16:creationId xmlns:a16="http://schemas.microsoft.com/office/drawing/2014/main" id="{F91C464F-71EA-462A-92FA-2371664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196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↓</a:t>
            </a:r>
          </a:p>
        </p:txBody>
      </p:sp>
      <p:sp>
        <p:nvSpPr>
          <p:cNvPr id="20" name="swap-3">
            <a:extLst xmlns:a="http://schemas.openxmlformats.org/drawingml/2006/main">
              <a:ext uri="{FF2B5EF4-FFF2-40B4-BE49-F238E27FC236}">
                <a16:creationId xmlns:a16="http://schemas.microsoft.com/office/drawing/2014/main" id="{2B017383-AC88-449B-AFF9-23BBCB37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40957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wap-text-3">
            <a:extLst xmlns:a="http://schemas.openxmlformats.org/drawingml/2006/main">
              <a:ext uri="{FF2B5EF4-FFF2-40B4-BE49-F238E27FC236}">
                <a16:creationId xmlns:a16="http://schemas.microsoft.com/office/drawing/2014/main" id="{9F41BB1C-7514-43D4-B3F9-CB809334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CO_STORY_BEDROCK_MODEL_ID</a:t>
            </a:r>
          </a:p>
        </p:txBody>
      </p:sp>
      <p:sp>
        <p:nvSpPr>
          <p:cNvPr id="22" name="swap-gate">
            <a:extLst xmlns:a="http://schemas.openxmlformats.org/drawingml/2006/main">
              <a:ext uri="{FF2B5EF4-FFF2-40B4-BE49-F238E27FC236}">
                <a16:creationId xmlns:a16="http://schemas.microsoft.com/office/drawing/2014/main" id="{EFAD5AC4-A0A6-4DB8-91B1-9B069422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換 model ID 很快；上線前仍須重跑 schema、品質、延遲、成本、Region 與 IAM gate。</a:t>
            </a:r>
          </a:p>
        </p:txBody>
      </p:sp>
      <p:sp>
        <p:nvSpPr>
          <p:cNvPr id="23" name="page-mask-9">
            <a:extLst xmlns:a="http://schemas.openxmlformats.org/drawingml/2006/main">
              <a:ext uri="{FF2B5EF4-FFF2-40B4-BE49-F238E27FC236}">
                <a16:creationId xmlns:a16="http://schemas.microsoft.com/office/drawing/2014/main" id="{2156CF34-7C38-4334-82FF-E2620A71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ge-new-9">
            <a:extLst xmlns:a="http://schemas.openxmlformats.org/drawingml/2006/main">
              <a:ext uri="{FF2B5EF4-FFF2-40B4-BE49-F238E27FC236}">
                <a16:creationId xmlns:a16="http://schemas.microsoft.com/office/drawing/2014/main" id="{B07711F8-DD34-473A-A86E-C8846B4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27" name="MODEL STRATEGY-header-mask">
            <a:extLst xmlns:a="http://schemas.openxmlformats.org/drawingml/2006/main">
              <a:ext uri="{FF2B5EF4-FFF2-40B4-BE49-F238E27FC236}">
                <a16:creationId xmlns:a16="http://schemas.microsoft.com/office/drawing/2014/main" id="{58BB3058-A52D-40D0-B919-353F98F5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ODEL STRATEGY-kicker">
            <a:extLst xmlns:a="http://schemas.openxmlformats.org/drawingml/2006/main">
              <a:ext uri="{FF2B5EF4-FFF2-40B4-BE49-F238E27FC236}">
                <a16:creationId xmlns:a16="http://schemas.microsoft.com/office/drawing/2014/main" id="{D8CC5EA8-B91E-418B-8FEA-AA3395A1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MODEL STRATEGY</a:t>
            </a:r>
          </a:p>
        </p:txBody>
      </p:sp>
      <p:sp>
        <p:nvSpPr>
          <p:cNvPr id="29" name="MODEL STRATEGY-title">
            <a:extLst xmlns:a="http://schemas.openxmlformats.org/drawingml/2006/main">
              <a:ext uri="{FF2B5EF4-FFF2-40B4-BE49-F238E27FC236}">
                <a16:creationId xmlns:a16="http://schemas.microsoft.com/office/drawing/2014/main" id="{46B1E854-1288-44C9-B6DA-DBC0E17B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Nova Lite 提供現階段的成本與互動延遲平衡</a:t>
            </a:r>
          </a:p>
        </p:txBody>
      </p:sp>
      <p:sp>
        <p:nvSpPr>
          <p:cNvPr id="30" name="MODEL STRATEGY-rule">
            <a:extLst xmlns:a="http://schemas.openxmlformats.org/drawingml/2006/main">
              <a:ext uri="{FF2B5EF4-FFF2-40B4-BE49-F238E27FC236}">
                <a16:creationId xmlns:a16="http://schemas.microsoft.com/office/drawing/2014/main" id="{41BC3D68-E8B0-4D14-B67B-DA6BCCFB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31" name="MODEL STRATEGY-kicker-mask">
            <a:extLst xmlns:a="http://schemas.openxmlformats.org/drawingml/2006/main">
              <a:ext uri="{FF2B5EF4-FFF2-40B4-BE49-F238E27FC236}">
                <a16:creationId xmlns:a16="http://schemas.microsoft.com/office/drawing/2014/main" id="{8A60DBD4-DEED-42CE-B334-CBFE7487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ODEL STRATEGY-kicker-new">
            <a:extLst xmlns:a="http://schemas.openxmlformats.org/drawingml/2006/main">
              <a:ext uri="{FF2B5EF4-FFF2-40B4-BE49-F238E27FC236}">
                <a16:creationId xmlns:a16="http://schemas.microsoft.com/office/drawing/2014/main" id="{998490C6-194E-4F18-AB7F-BF3CB291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MODEL STRATEGY</a:t>
            </a:r>
          </a:p>
        </p:txBody>
      </p:sp>
      <p:sp>
        <p:nvSpPr>
          <p:cNvPr id="33" name="page-mask-v2-9">
            <a:extLst xmlns:a="http://schemas.openxmlformats.org/drawingml/2006/main">
              <a:ext uri="{FF2B5EF4-FFF2-40B4-BE49-F238E27FC236}">
                <a16:creationId xmlns:a16="http://schemas.microsoft.com/office/drawing/2014/main" id="{0CF10BA7-F3F5-4BD4-9500-60D705D7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ge-v2-9">
            <a:extLst xmlns:a="http://schemas.openxmlformats.org/drawingml/2006/main">
              <a:ext uri="{FF2B5EF4-FFF2-40B4-BE49-F238E27FC236}">
                <a16:creationId xmlns:a16="http://schemas.microsoft.com/office/drawing/2014/main" id="{91AD8F9B-6E66-408C-A9E3-2B74792E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7136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fd484474d4d2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ge-mask-10">
            <a:extLst xmlns:a="http://schemas.openxmlformats.org/drawingml/2006/main">
              <a:ext uri="{FF2B5EF4-FFF2-40B4-BE49-F238E27FC236}">
                <a16:creationId xmlns:a16="http://schemas.microsoft.com/office/drawing/2014/main" id="{3D5A9390-C5F6-48A0-B8A0-F6E31060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ew-10">
            <a:extLst xmlns:a="http://schemas.openxmlformats.org/drawingml/2006/main">
              <a:ext uri="{FF2B5EF4-FFF2-40B4-BE49-F238E27FC236}">
                <a16:creationId xmlns:a16="http://schemas.microsoft.com/office/drawing/2014/main" id="{38C93921-1F4F-45B8-B23B-4C0C60F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APPLICATION ARCHITECTURE-kicker-mask">
            <a:extLst xmlns:a="http://schemas.openxmlformats.org/drawingml/2006/main">
              <a:ext uri="{FF2B5EF4-FFF2-40B4-BE49-F238E27FC236}">
                <a16:creationId xmlns:a16="http://schemas.microsoft.com/office/drawing/2014/main" id="{CB53A9B9-B669-4824-86A2-1189E36A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LICATION ARCHITECTURE-kicker-new">
            <a:extLst xmlns:a="http://schemas.openxmlformats.org/drawingml/2006/main">
              <a:ext uri="{FF2B5EF4-FFF2-40B4-BE49-F238E27FC236}">
                <a16:creationId xmlns:a16="http://schemas.microsoft.com/office/drawing/2014/main" id="{F355994F-7E58-478D-8C94-7383E88F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APPLICATION ARCHITECTURE</a:t>
            </a:r>
          </a:p>
        </p:txBody>
      </p:sp>
      <p:sp>
        <p:nvSpPr>
          <p:cNvPr id="7" name="page-mask-v2-10">
            <a:extLst xmlns:a="http://schemas.openxmlformats.org/drawingml/2006/main">
              <a:ext uri="{FF2B5EF4-FFF2-40B4-BE49-F238E27FC236}">
                <a16:creationId xmlns:a16="http://schemas.microsoft.com/office/drawing/2014/main" id="{1ED503BD-03DF-453B-9162-D0AAEA8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v2-10">
            <a:extLst xmlns:a="http://schemas.openxmlformats.org/drawingml/2006/main">
              <a:ext uri="{FF2B5EF4-FFF2-40B4-BE49-F238E27FC236}">
                <a16:creationId xmlns:a16="http://schemas.microsoft.com/office/drawing/2014/main" id="{4EC4FE6F-053C-4F9E-9300-44DBD764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7960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9169decf2424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097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71d29496d46f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187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-no-03">
            <a:extLst xmlns:a="http://schemas.openxmlformats.org/drawingml/2006/main">
              <a:ext uri="{FF2B5EF4-FFF2-40B4-BE49-F238E27FC236}">
                <a16:creationId xmlns:a16="http://schemas.microsoft.com/office/drawing/2014/main" id="{09863383-420D-4182-BB77-DAFCE8FB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" name="chapter-label-03">
            <a:extLst xmlns:a="http://schemas.openxmlformats.org/drawingml/2006/main">
              <a:ext uri="{FF2B5EF4-FFF2-40B4-BE49-F238E27FC236}">
                <a16:creationId xmlns:a16="http://schemas.microsoft.com/office/drawing/2014/main" id="{A5654BC9-62CA-47EC-A3EF-3CBD9570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OPERATE</a:t>
            </a:r>
          </a:p>
        </p:txBody>
      </p:sp>
      <p:sp>
        <p:nvSpPr>
          <p:cNvPr id="3" name="chapter-rule-03">
            <a:extLst xmlns:a="http://schemas.openxmlformats.org/drawingml/2006/main">
              <a:ext uri="{FF2B5EF4-FFF2-40B4-BE49-F238E27FC236}">
                <a16:creationId xmlns:a16="http://schemas.microsoft.com/office/drawing/2014/main" id="{13466292-2271-4D20-95C7-BEEDC446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9900"/>
            </a:solidFill>
            <a:prstDash val="solid"/>
          </a:ln>
        </p:spPr>
      </p:sp>
      <p:sp>
        <p:nvSpPr>
          <p:cNvPr id="4" name="chapter-title-03">
            <a:extLst xmlns:a="http://schemas.openxmlformats.org/drawingml/2006/main">
              <a:ext uri="{FF2B5EF4-FFF2-40B4-BE49-F238E27FC236}">
                <a16:creationId xmlns:a16="http://schemas.microsoft.com/office/drawing/2014/main" id="{C62F4E45-381B-4170-B3A9-C840A7BD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52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能被觀測與安全維運，才是雲端產品。</a:t>
            </a:r>
          </a:p>
        </p:txBody>
      </p:sp>
      <p:sp>
        <p:nvSpPr>
          <p:cNvPr id="5" name="chapter-prompt-03">
            <a:extLst xmlns:a="http://schemas.openxmlformats.org/drawingml/2006/main">
              <a:ext uri="{FF2B5EF4-FFF2-40B4-BE49-F238E27FC236}">
                <a16:creationId xmlns:a16="http://schemas.microsoft.com/office/drawing/2014/main" id="{54CFC55A-F975-45FE-88FF-76BC8F23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AFC2D0"/>
                </a:solidFill>
                <a:latin typeface="PingFang TC"/>
                <a:ea typeface="PingFang TC"/>
                <a:cs typeface="PingFang TC"/>
              </a:rPr>
              <a:t>正向健康檢查、safe logs 與 alarm 只是起點；下一步是完整 incident 閉環。</a:t>
            </a:r>
          </a:p>
        </p:txBody>
      </p:sp>
      <p:sp>
        <p:nvSpPr>
          <p:cNvPr id="6" name="chapter-mark-03">
            <a:extLst xmlns:a="http://schemas.openxmlformats.org/drawingml/2006/main">
              <a:ext uri="{FF2B5EF4-FFF2-40B4-BE49-F238E27FC236}">
                <a16:creationId xmlns:a16="http://schemas.microsoft.com/office/drawing/2014/main" id="{6567ACA0-83C5-4FFC-8328-6F2B7CA4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共演計劃</a:t>
            </a:r>
          </a:p>
        </p:txBody>
      </p:sp>
      <p:sp>
        <p:nvSpPr>
          <p:cNvPr id="7" name="page-mask-12">
            <a:extLst xmlns:a="http://schemas.openxmlformats.org/drawingml/2006/main">
              <a:ext uri="{FF2B5EF4-FFF2-40B4-BE49-F238E27FC236}">
                <a16:creationId xmlns:a16="http://schemas.microsoft.com/office/drawing/2014/main" id="{486893FA-01B1-416E-B103-A806D77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new-12">
            <a:extLst xmlns:a="http://schemas.openxmlformats.org/drawingml/2006/main">
              <a:ext uri="{FF2B5EF4-FFF2-40B4-BE49-F238E27FC236}">
                <a16:creationId xmlns:a16="http://schemas.microsoft.com/office/drawing/2014/main" id="{689BB81A-1606-4BFC-BEC8-1685577C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10" name="page-mask-v2-13">
            <a:extLst xmlns:a="http://schemas.openxmlformats.org/drawingml/2006/main">
              <a:ext uri="{FF2B5EF4-FFF2-40B4-BE49-F238E27FC236}">
                <a16:creationId xmlns:a16="http://schemas.microsoft.com/office/drawing/2014/main" id="{22FEC8B8-CEDE-41EF-8B61-DA3D5360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v2-13">
            <a:extLst xmlns:a="http://schemas.openxmlformats.org/drawingml/2006/main">
              <a:ext uri="{FF2B5EF4-FFF2-40B4-BE49-F238E27FC236}">
                <a16:creationId xmlns:a16="http://schemas.microsoft.com/office/drawing/2014/main" id="{7B2B9AA0-4748-4A8F-8748-0ECDEAC3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7F9AAD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21499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C9FD122B-67AE-45E4-91A7-3D188F97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06  GOVERNANCE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B3BEE4B7-7103-47DC-BE85-EF1A4BD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f664c1a424481">
            <a:extLst>
              <a:ext uri="{96DAC541-7B7A-43D3-8B79-37D633B846F1}">
                <asvg:svgBlip xmlns:asvg="http://schemas.microsoft.com/office/drawing/2016/SVG/main" r:embed="R1290e46f850b41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6" name="gov-title-0">
            <a:extLst xmlns:a="http://schemas.openxmlformats.org/drawingml/2006/main">
              <a:ext uri="{FF2B5EF4-FFF2-40B4-BE49-F238E27FC236}">
                <a16:creationId xmlns:a16="http://schemas.microsoft.com/office/drawing/2014/main" id="{0535D859-D452-4AD1-BFC5-9BB7A215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免 SSH</a:t>
            </a:r>
          </a:p>
        </p:txBody>
      </p:sp>
      <p:sp>
        <p:nvSpPr>
          <p:cNvPr id="7" name="gov-sub-0">
            <a:extLst xmlns:a="http://schemas.openxmlformats.org/drawingml/2006/main">
              <a:ext uri="{FF2B5EF4-FFF2-40B4-BE49-F238E27FC236}">
                <a16:creationId xmlns:a16="http://schemas.microsoft.com/office/drawing/2014/main" id="{6BFB0BFB-1B62-4F89-A411-8B6497C2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Session Manager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取代 public port 22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081be297640b6">
            <a:extLst>
              <a:ext uri="{96DAC541-7B7A-43D3-8B79-37D633B846F1}">
                <asvg:svgBlip xmlns:asvg="http://schemas.microsoft.com/office/drawing/2016/SVG/main" r:embed="R3468da89425e45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7675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9" name="gov-title-1">
            <a:extLst xmlns:a="http://schemas.openxmlformats.org/drawingml/2006/main">
              <a:ext uri="{FF2B5EF4-FFF2-40B4-BE49-F238E27FC236}">
                <a16:creationId xmlns:a16="http://schemas.microsoft.com/office/drawing/2014/main" id="{211BCD90-AA83-4545-98C5-2136A418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最小權限</a:t>
            </a:r>
          </a:p>
        </p:txBody>
      </p:sp>
      <p:sp>
        <p:nvSpPr>
          <p:cNvPr id="10" name="gov-sub-1">
            <a:extLst xmlns:a="http://schemas.openxmlformats.org/drawingml/2006/main">
              <a:ext uri="{FF2B5EF4-FFF2-40B4-BE49-F238E27FC236}">
                <a16:creationId xmlns:a16="http://schemas.microsoft.com/office/drawing/2014/main" id="{6213BD4B-DBF3-4A22-AA04-C10CF246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private RDS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AppRole 限定資源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b52f255304286">
            <a:extLst>
              <a:ext uri="{96DAC541-7B7A-43D3-8B79-37D633B846F1}">
                <asvg:svgBlip xmlns:asvg="http://schemas.microsoft.com/office/drawing/2016/SVG/main" r:embed="R7df3ddb0a17e48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0" y="209550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12" name="gov-title-2">
            <a:extLst xmlns:a="http://schemas.openxmlformats.org/drawingml/2006/main">
              <a:ext uri="{FF2B5EF4-FFF2-40B4-BE49-F238E27FC236}">
                <a16:creationId xmlns:a16="http://schemas.microsoft.com/office/drawing/2014/main" id="{C8A51C00-482B-49BB-8B8C-39A330C5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6230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US$1 Budget</a:t>
            </a:r>
          </a:p>
        </p:txBody>
      </p:sp>
      <p:sp>
        <p:nvSpPr>
          <p:cNvPr id="13" name="gov-sub-2">
            <a:extLst xmlns:a="http://schemas.openxmlformats.org/drawingml/2006/main">
              <a:ext uri="{FF2B5EF4-FFF2-40B4-BE49-F238E27FC236}">
                <a16:creationId xmlns:a16="http://schemas.microsoft.com/office/drawing/2014/main" id="{A873C049-692A-4605-BFE6-2143118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EC2／RDS 為主計費面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Logs retention 7 天</a:t>
            </a:r>
          </a:p>
        </p:txBody>
      </p:sp>
      <p:sp>
        <p:nvSpPr>
          <p:cNvPr id="14" name="gov-rule">
            <a:extLst xmlns:a="http://schemas.openxmlformats.org/drawingml/2006/main">
              <a:ext uri="{FF2B5EF4-FFF2-40B4-BE49-F238E27FC236}">
                <a16:creationId xmlns:a16="http://schemas.microsoft.com/office/drawing/2014/main" id="{B7478EE8-F499-47FA-AC2E-97171B1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5" name="gov-prompt">
            <a:extLst xmlns:a="http://schemas.openxmlformats.org/drawingml/2006/main">
              <a:ext uri="{FF2B5EF4-FFF2-40B4-BE49-F238E27FC236}">
                <a16:creationId xmlns:a16="http://schemas.microsoft.com/office/drawing/2014/main" id="{C35490CD-F593-4E64-9DFC-CEE40F0A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Prompt Injection：前置拒絕 + schema validation</a:t>
            </a:r>
          </a:p>
        </p:txBody>
      </p:sp>
      <p:sp>
        <p:nvSpPr>
          <p:cNvPr id="16" name="gov-omit">
            <a:extLst xmlns:a="http://schemas.openxmlformats.org/drawingml/2006/main">
              <a:ext uri="{FF2B5EF4-FFF2-40B4-BE49-F238E27FC236}">
                <a16:creationId xmlns:a16="http://schemas.microsoft.com/office/drawing/2014/main" id="{6468BD15-5F25-4E39-9BB1-4615EEC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未採用：NAT · ALB · CloudFront · Route 53</a:t>
            </a:r>
          </a:p>
        </p:txBody>
      </p:sp>
      <p:sp>
        <p:nvSpPr>
          <p:cNvPr id="21" name="page-mask-13">
            <a:extLst xmlns:a="http://schemas.openxmlformats.org/drawingml/2006/main">
              <a:ext uri="{FF2B5EF4-FFF2-40B4-BE49-F238E27FC236}">
                <a16:creationId xmlns:a16="http://schemas.microsoft.com/office/drawing/2014/main" id="{5B06F8BF-1F64-43C7-B958-256F0EFC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-new-13">
            <a:extLst xmlns:a="http://schemas.openxmlformats.org/drawingml/2006/main">
              <a:ext uri="{FF2B5EF4-FFF2-40B4-BE49-F238E27FC236}">
                <a16:creationId xmlns:a16="http://schemas.microsoft.com/office/drawing/2014/main" id="{5FC68AC2-D7AB-4964-81FC-2180CF92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26" name="GOVERNANCE-header-mask">
            <a:extLst xmlns:a="http://schemas.openxmlformats.org/drawingml/2006/main">
              <a:ext uri="{FF2B5EF4-FFF2-40B4-BE49-F238E27FC236}">
                <a16:creationId xmlns:a16="http://schemas.microsoft.com/office/drawing/2014/main" id="{EC107BF1-7ACF-428A-9D35-11FDFB8C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OVERNANCE-kicker">
            <a:extLst xmlns:a="http://schemas.openxmlformats.org/drawingml/2006/main">
              <a:ext uri="{FF2B5EF4-FFF2-40B4-BE49-F238E27FC236}">
                <a16:creationId xmlns:a16="http://schemas.microsoft.com/office/drawing/2014/main" id="{054A9A69-6080-40FE-861B-E34ECEC9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GOVERNANCE</a:t>
            </a:r>
          </a:p>
        </p:txBody>
      </p:sp>
      <p:sp>
        <p:nvSpPr>
          <p:cNvPr id="28" name="GOVERNANCE-title">
            <a:extLst xmlns:a="http://schemas.openxmlformats.org/drawingml/2006/main">
              <a:ext uri="{FF2B5EF4-FFF2-40B4-BE49-F238E27FC236}">
                <a16:creationId xmlns:a16="http://schemas.microsoft.com/office/drawing/2014/main" id="{38BC1CE8-8982-42D8-A349-D9E2C524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6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安全與成本從一開始就是架構輸入</a:t>
            </a:r>
          </a:p>
        </p:txBody>
      </p:sp>
      <p:sp>
        <p:nvSpPr>
          <p:cNvPr id="29" name="GOVERNANCE-rule">
            <a:extLst xmlns:a="http://schemas.openxmlformats.org/drawingml/2006/main">
              <a:ext uri="{FF2B5EF4-FFF2-40B4-BE49-F238E27FC236}">
                <a16:creationId xmlns:a16="http://schemas.microsoft.com/office/drawing/2014/main" id="{E23D5313-F098-4512-8247-CBCDF0C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30" name="GOVERNANCE-kicker-mask">
            <a:extLst xmlns:a="http://schemas.openxmlformats.org/drawingml/2006/main">
              <a:ext uri="{FF2B5EF4-FFF2-40B4-BE49-F238E27FC236}">
                <a16:creationId xmlns:a16="http://schemas.microsoft.com/office/drawing/2014/main" id="{AF25C5CD-5323-4BA4-B079-991FD40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OVERNANCE-kicker-new">
            <a:extLst xmlns:a="http://schemas.openxmlformats.org/drawingml/2006/main">
              <a:ext uri="{FF2B5EF4-FFF2-40B4-BE49-F238E27FC236}">
                <a16:creationId xmlns:a16="http://schemas.microsoft.com/office/drawing/2014/main" id="{BB191A7E-58D3-4867-BE51-5D5DACA2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GOVERNANCE</a:t>
            </a:r>
          </a:p>
        </p:txBody>
      </p:sp>
      <p:sp>
        <p:nvSpPr>
          <p:cNvPr id="32" name="page-mask-v2-14">
            <a:extLst xmlns:a="http://schemas.openxmlformats.org/drawingml/2006/main">
              <a:ext uri="{FF2B5EF4-FFF2-40B4-BE49-F238E27FC236}">
                <a16:creationId xmlns:a16="http://schemas.microsoft.com/office/drawing/2014/main" id="{A6636DC6-D2F7-4C2B-9F5D-00ECFB3D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ge-v2-14">
            <a:extLst xmlns:a="http://schemas.openxmlformats.org/drawingml/2006/main">
              <a:ext uri="{FF2B5EF4-FFF2-40B4-BE49-F238E27FC236}">
                <a16:creationId xmlns:a16="http://schemas.microsoft.com/office/drawing/2014/main" id="{C302E698-6F26-4715-B6A1-F2DC2D5D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18183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c0859f52440e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ge-mask-14">
            <a:extLst xmlns:a="http://schemas.openxmlformats.org/drawingml/2006/main">
              <a:ext uri="{FF2B5EF4-FFF2-40B4-BE49-F238E27FC236}">
                <a16:creationId xmlns:a16="http://schemas.microsoft.com/office/drawing/2014/main" id="{3CF39B02-C283-4547-936E-C03281F0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new-14">
            <a:extLst xmlns:a="http://schemas.openxmlformats.org/drawingml/2006/main">
              <a:ext uri="{FF2B5EF4-FFF2-40B4-BE49-F238E27FC236}">
                <a16:creationId xmlns:a16="http://schemas.microsoft.com/office/drawing/2014/main" id="{176CFCF1-09F2-4748-B447-1B71844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5" name="TIER 1 OBSERVABILITY-kicker-mask">
            <a:extLst xmlns:a="http://schemas.openxmlformats.org/drawingml/2006/main">
              <a:ext uri="{FF2B5EF4-FFF2-40B4-BE49-F238E27FC236}">
                <a16:creationId xmlns:a16="http://schemas.microsoft.com/office/drawing/2014/main" id="{64320DBC-CBAA-4BA3-818E-DDB3610F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ER 1 OBSERVABILITY-kicker-new">
            <a:extLst xmlns:a="http://schemas.openxmlformats.org/drawingml/2006/main">
              <a:ext uri="{FF2B5EF4-FFF2-40B4-BE49-F238E27FC236}">
                <a16:creationId xmlns:a16="http://schemas.microsoft.com/office/drawing/2014/main" id="{809CFDF7-5569-47F9-A341-03193FF8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TIER 1 OBSERVABILITY</a:t>
            </a:r>
          </a:p>
        </p:txBody>
      </p:sp>
      <p:sp>
        <p:nvSpPr>
          <p:cNvPr id="7" name="page-mask-v2-15">
            <a:extLst xmlns:a="http://schemas.openxmlformats.org/drawingml/2006/main">
              <a:ext uri="{FF2B5EF4-FFF2-40B4-BE49-F238E27FC236}">
                <a16:creationId xmlns:a16="http://schemas.microsoft.com/office/drawing/2014/main" id="{1151F7C6-498C-4AB6-BE92-86D33AEE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v2-15">
            <a:extLst xmlns:a="http://schemas.openxmlformats.org/drawingml/2006/main">
              <a:ext uri="{FF2B5EF4-FFF2-40B4-BE49-F238E27FC236}">
                <a16:creationId xmlns:a16="http://schemas.microsoft.com/office/drawing/2014/main" id="{B614A0B4-56EF-4760-86B1-73F84446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561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9">
            <a:extLst xmlns:a="http://schemas.openxmlformats.org/drawingml/2006/main">
              <a:ext uri="{FF2B5EF4-FFF2-40B4-BE49-F238E27FC236}">
                <a16:creationId xmlns:a16="http://schemas.microsoft.com/office/drawing/2014/main" id="{5A79BDC0-C42A-4918-9CF8-87313D3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08  EVOLUTION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23E3288-2983-490E-BCE5-B32412CE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同一產品，沿 Tier 0–5 累積企業能力</a:t>
            </a:r>
          </a:p>
        </p:txBody>
      </p:sp>
      <p:sp>
        <p:nvSpPr>
          <p:cNvPr id="3" name="title-line-9">
            <a:extLst xmlns:a="http://schemas.openxmlformats.org/drawingml/2006/main">
              <a:ext uri="{FF2B5EF4-FFF2-40B4-BE49-F238E27FC236}">
                <a16:creationId xmlns:a16="http://schemas.microsoft.com/office/drawing/2014/main" id="{ECE965BB-9391-4B9B-BB2F-6EF36802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0E61A1F0-9E8A-48DB-9CD5-5A0F000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road">
            <a:extLst xmlns:a="http://schemas.openxmlformats.org/drawingml/2006/main">
              <a:ext uri="{FF2B5EF4-FFF2-40B4-BE49-F238E27FC236}">
                <a16:creationId xmlns:a16="http://schemas.microsoft.com/office/drawing/2014/main" id="{132B5598-E2EA-427E-A623-17A2F0D0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E1E8"/>
            </a:solidFill>
            <a:prstDash val="solid"/>
          </a:ln>
        </p:spPr>
      </p:sp>
      <p:sp>
        <p:nvSpPr>
          <p:cNvPr id="6" name="tier-0">
            <a:extLst xmlns:a="http://schemas.openxmlformats.org/drawingml/2006/main">
              <a:ext uri="{FF2B5EF4-FFF2-40B4-BE49-F238E27FC236}">
                <a16:creationId xmlns:a16="http://schemas.microsoft.com/office/drawing/2014/main" id="{E0D023CE-D07D-47BE-8D47-640F831A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7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er-no-0">
            <a:extLst xmlns:a="http://schemas.openxmlformats.org/drawingml/2006/main">
              <a:ext uri="{FF2B5EF4-FFF2-40B4-BE49-F238E27FC236}">
                <a16:creationId xmlns:a16="http://schemas.microsoft.com/office/drawing/2014/main" id="{40C2A4D9-531C-4BF7-9EDD-380FE04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8" name="tier-label-0">
            <a:extLst xmlns:a="http://schemas.openxmlformats.org/drawingml/2006/main">
              <a:ext uri="{FF2B5EF4-FFF2-40B4-BE49-F238E27FC236}">
                <a16:creationId xmlns:a16="http://schemas.microsoft.com/office/drawing/2014/main" id="{16FCDAFD-6769-474B-A787-74909AFD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可玩雲端</a:t>
            </a:r>
          </a:p>
        </p:txBody>
      </p:sp>
      <p:sp>
        <p:nvSpPr>
          <p:cNvPr id="9" name="tier-1">
            <a:extLst xmlns:a="http://schemas.openxmlformats.org/drawingml/2006/main">
              <a:ext uri="{FF2B5EF4-FFF2-40B4-BE49-F238E27FC236}">
                <a16:creationId xmlns:a16="http://schemas.microsoft.com/office/drawing/2014/main" id="{03B6A0CF-5183-4262-B433-A495FF4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er-no-1">
            <a:extLst xmlns:a="http://schemas.openxmlformats.org/drawingml/2006/main">
              <a:ext uri="{FF2B5EF4-FFF2-40B4-BE49-F238E27FC236}">
                <a16:creationId xmlns:a16="http://schemas.microsoft.com/office/drawing/2014/main" id="{A0FD7C30-B694-4BD1-A8CE-A7C6228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11" name="tier-label-1">
            <a:extLst xmlns:a="http://schemas.openxmlformats.org/drawingml/2006/main">
              <a:ext uri="{FF2B5EF4-FFF2-40B4-BE49-F238E27FC236}">
                <a16:creationId xmlns:a16="http://schemas.microsoft.com/office/drawing/2014/main" id="{56C82D9C-3285-4C4A-B957-69F1D55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可觀測維運</a:t>
            </a:r>
          </a:p>
        </p:txBody>
      </p:sp>
      <p:sp>
        <p:nvSpPr>
          <p:cNvPr id="12" name="tier-2">
            <a:extLst xmlns:a="http://schemas.openxmlformats.org/drawingml/2006/main">
              <a:ext uri="{FF2B5EF4-FFF2-40B4-BE49-F238E27FC236}">
                <a16:creationId xmlns:a16="http://schemas.microsoft.com/office/drawing/2014/main" id="{ACE38B72-A6CF-4003-AC7D-12E2631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3" name="tier-no-2">
            <a:extLst xmlns:a="http://schemas.openxmlformats.org/drawingml/2006/main">
              <a:ext uri="{FF2B5EF4-FFF2-40B4-BE49-F238E27FC236}">
                <a16:creationId xmlns:a16="http://schemas.microsoft.com/office/drawing/2014/main" id="{D6C4B5A1-2382-4815-9505-8531D07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4" name="tier-label-2">
            <a:extLst xmlns:a="http://schemas.openxmlformats.org/drawingml/2006/main">
              <a:ext uri="{FF2B5EF4-FFF2-40B4-BE49-F238E27FC236}">
                <a16:creationId xmlns:a16="http://schemas.microsoft.com/office/drawing/2014/main" id="{A0B7D662-43B8-4325-AFF0-5CC4D7F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元件隔離</a:t>
            </a:r>
          </a:p>
        </p:txBody>
      </p:sp>
      <p:sp>
        <p:nvSpPr>
          <p:cNvPr id="15" name="tier-3">
            <a:extLst xmlns:a="http://schemas.openxmlformats.org/drawingml/2006/main">
              <a:ext uri="{FF2B5EF4-FFF2-40B4-BE49-F238E27FC236}">
                <a16:creationId xmlns:a16="http://schemas.microsoft.com/office/drawing/2014/main" id="{C48111BE-6CAB-4FAE-B163-F582CBA2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6" name="tier-no-3">
            <a:extLst xmlns:a="http://schemas.openxmlformats.org/drawingml/2006/main">
              <a:ext uri="{FF2B5EF4-FFF2-40B4-BE49-F238E27FC236}">
                <a16:creationId xmlns:a16="http://schemas.microsoft.com/office/drawing/2014/main" id="{F4A09240-5D9A-410B-A74E-9979FFFC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tier-label-3">
            <a:extLst xmlns:a="http://schemas.openxmlformats.org/drawingml/2006/main">
              <a:ext uri="{FF2B5EF4-FFF2-40B4-BE49-F238E27FC236}">
                <a16:creationId xmlns:a16="http://schemas.microsoft.com/office/drawing/2014/main" id="{42998EDC-A92C-4859-8592-8EFCEB6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自動交付</a:t>
            </a:r>
          </a:p>
        </p:txBody>
      </p:sp>
      <p:sp>
        <p:nvSpPr>
          <p:cNvPr id="18" name="tier-4">
            <a:extLst xmlns:a="http://schemas.openxmlformats.org/drawingml/2006/main">
              <a:ext uri="{FF2B5EF4-FFF2-40B4-BE49-F238E27FC236}">
                <a16:creationId xmlns:a16="http://schemas.microsoft.com/office/drawing/2014/main" id="{CAAF064C-ABDA-45C2-8B79-33211513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9" name="tier-no-4">
            <a:extLst xmlns:a="http://schemas.openxmlformats.org/drawingml/2006/main">
              <a:ext uri="{FF2B5EF4-FFF2-40B4-BE49-F238E27FC236}">
                <a16:creationId xmlns:a16="http://schemas.microsoft.com/office/drawing/2014/main" id="{1C5DADB8-F733-440F-AF69-C4103549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0" name="tier-label-4">
            <a:extLst xmlns:a="http://schemas.openxmlformats.org/drawingml/2006/main">
              <a:ext uri="{FF2B5EF4-FFF2-40B4-BE49-F238E27FC236}">
                <a16:creationId xmlns:a16="http://schemas.microsoft.com/office/drawing/2014/main" id="{D94A00C6-AC7A-4969-B1A6-A1D670E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微服務</a:t>
            </a:r>
          </a:p>
        </p:txBody>
      </p:sp>
      <p:sp>
        <p:nvSpPr>
          <p:cNvPr id="21" name="tier-5">
            <a:extLst xmlns:a="http://schemas.openxmlformats.org/drawingml/2006/main">
              <a:ext uri="{FF2B5EF4-FFF2-40B4-BE49-F238E27FC236}">
                <a16:creationId xmlns:a16="http://schemas.microsoft.com/office/drawing/2014/main" id="{7981DFDE-A1FE-4448-9BB0-AA6CD01B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05125"/>
            <a:ext cx="6667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22" name="tier-no-5">
            <a:extLst xmlns:a="http://schemas.openxmlformats.org/drawingml/2006/main">
              <a:ext uri="{FF2B5EF4-FFF2-40B4-BE49-F238E27FC236}">
                <a16:creationId xmlns:a16="http://schemas.microsoft.com/office/drawing/2014/main" id="{BA342E5A-C79D-4DA5-B33D-D998234D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051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3" name="tier-label-5">
            <a:extLst xmlns:a="http://schemas.openxmlformats.org/drawingml/2006/main">
              <a:ext uri="{FF2B5EF4-FFF2-40B4-BE49-F238E27FC236}">
                <a16:creationId xmlns:a16="http://schemas.microsoft.com/office/drawing/2014/main" id="{2D32E78E-58C1-4F7D-AD07-3621D35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29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Agentic AI</a:t>
            </a:r>
          </a:p>
        </p:txBody>
      </p:sp>
      <p:sp>
        <p:nvSpPr>
          <p:cNvPr id="24" name="road-now">
            <a:extLst xmlns:a="http://schemas.openxmlformats.org/drawingml/2006/main">
              <a:ext uri="{FF2B5EF4-FFF2-40B4-BE49-F238E27FC236}">
                <a16:creationId xmlns:a16="http://schemas.microsoft.com/office/drawing/2014/main" id="{7546A327-6E73-4E7D-98AA-04120E97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現在：Tier 0 已完成，Tier 1 正向可觀測路徑已通過</a:t>
            </a:r>
          </a:p>
        </p:txBody>
      </p:sp>
      <p:sp>
        <p:nvSpPr>
          <p:cNvPr id="25" name="road-rule">
            <a:extLst xmlns:a="http://schemas.openxmlformats.org/drawingml/2006/main">
              <a:ext uri="{FF2B5EF4-FFF2-40B4-BE49-F238E27FC236}">
                <a16:creationId xmlns:a16="http://schemas.microsoft.com/office/drawing/2014/main" id="{3155E7B4-F45A-40BF-B29A-120C89BF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每一層都保留可運作成果、架構理由與 AWS 驗證。</a:t>
            </a:r>
          </a:p>
        </p:txBody>
      </p:sp>
      <p:sp>
        <p:nvSpPr>
          <p:cNvPr id="26" name="road-gate">
            <a:extLst xmlns:a="http://schemas.openxmlformats.org/drawingml/2006/main">
              <a:ext uri="{FF2B5EF4-FFF2-40B4-BE49-F238E27FC236}">
                <a16:creationId xmlns:a16="http://schemas.microsoft.com/office/drawing/2014/main" id="{3931BF37-D280-42F8-ABE2-E2F836F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不為堆服務而擴張；只在價值、成本與證據成立時前進。</a:t>
            </a:r>
          </a:p>
        </p:txBody>
      </p:sp>
      <p:sp>
        <p:nvSpPr>
          <p:cNvPr id="28" name="page-mask-15">
            <a:extLst xmlns:a="http://schemas.openxmlformats.org/drawingml/2006/main">
              <a:ext uri="{FF2B5EF4-FFF2-40B4-BE49-F238E27FC236}">
                <a16:creationId xmlns:a16="http://schemas.microsoft.com/office/drawing/2014/main" id="{4C540D19-4BC6-4CA5-8324-EC27734F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ge-new-15">
            <a:extLst xmlns:a="http://schemas.openxmlformats.org/drawingml/2006/main">
              <a:ext uri="{FF2B5EF4-FFF2-40B4-BE49-F238E27FC236}">
                <a16:creationId xmlns:a16="http://schemas.microsoft.com/office/drawing/2014/main" id="{CCA7FBB1-EF99-43BC-8276-A48BDBFC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30" name="EVOLUTION-kicker-mask">
            <a:extLst xmlns:a="http://schemas.openxmlformats.org/drawingml/2006/main">
              <a:ext uri="{FF2B5EF4-FFF2-40B4-BE49-F238E27FC236}">
                <a16:creationId xmlns:a16="http://schemas.microsoft.com/office/drawing/2014/main" id="{D9D1BB7A-6A54-43A4-AEB9-372B3673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VOLUTION-kicker-new">
            <a:extLst xmlns:a="http://schemas.openxmlformats.org/drawingml/2006/main">
              <a:ext uri="{FF2B5EF4-FFF2-40B4-BE49-F238E27FC236}">
                <a16:creationId xmlns:a16="http://schemas.microsoft.com/office/drawing/2014/main" id="{72D5F70F-AB60-455C-B889-ABB4C88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EVOLUTION</a:t>
            </a:r>
          </a:p>
        </p:txBody>
      </p:sp>
      <p:sp>
        <p:nvSpPr>
          <p:cNvPr id="32" name="page-mask-v2-16">
            <a:extLst xmlns:a="http://schemas.openxmlformats.org/drawingml/2006/main">
              <a:ext uri="{FF2B5EF4-FFF2-40B4-BE49-F238E27FC236}">
                <a16:creationId xmlns:a16="http://schemas.microsoft.com/office/drawing/2014/main" id="{9013A00D-2EFD-437F-AC93-A6F0EFE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ge-v2-16">
            <a:extLst xmlns:a="http://schemas.openxmlformats.org/drawingml/2006/main">
              <a:ext uri="{FF2B5EF4-FFF2-40B4-BE49-F238E27FC236}">
                <a16:creationId xmlns:a16="http://schemas.microsoft.com/office/drawing/2014/main" id="{3CC31214-8A95-4557-9C85-7D6C125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85567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lose-big-0">
            <a:extLst xmlns:a="http://schemas.openxmlformats.org/drawingml/2006/main">
              <a:ext uri="{FF2B5EF4-FFF2-40B4-BE49-F238E27FC236}">
                <a16:creationId xmlns:a16="http://schemas.microsoft.com/office/drawing/2014/main" id="{7AEE70F0-9000-488A-BAE4-BC238534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5" name="close-sub-0">
            <a:extLst xmlns:a="http://schemas.openxmlformats.org/drawingml/2006/main">
              <a:ext uri="{FF2B5EF4-FFF2-40B4-BE49-F238E27FC236}">
                <a16:creationId xmlns:a16="http://schemas.microsoft.com/office/drawing/2014/main" id="{BA1387AD-161C-4D0B-8C29-50CBA4E6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多人共同決策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可玩閉環與真實驗證</a:t>
            </a:r>
          </a:p>
        </p:txBody>
      </p:sp>
      <p:sp>
        <p:nvSpPr>
          <p:cNvPr id="6" name="close-big-1">
            <a:extLst xmlns:a="http://schemas.openxmlformats.org/drawingml/2006/main">
              <a:ext uri="{FF2B5EF4-FFF2-40B4-BE49-F238E27FC236}">
                <a16:creationId xmlns:a16="http://schemas.microsoft.com/office/drawing/2014/main" id="{99982D59-8AD2-43C1-B3E1-3084B7DC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6825D"/>
                </a:solidFill>
                <a:latin typeface="PingFang TC"/>
                <a:ea typeface="PingFang TC"/>
                <a:cs typeface="PingFang TC"/>
              </a:rPr>
              <a:t>雲端工程</a:t>
            </a:r>
          </a:p>
        </p:txBody>
      </p:sp>
      <p:sp>
        <p:nvSpPr>
          <p:cNvPr id="7" name="close-sub-1">
            <a:extLst xmlns:a="http://schemas.openxmlformats.org/drawingml/2006/main">
              <a:ext uri="{FF2B5EF4-FFF2-40B4-BE49-F238E27FC236}">
                <a16:creationId xmlns:a16="http://schemas.microsoft.com/office/drawing/2014/main" id="{FC4DFF54-5AF0-4999-852E-3E2E3274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IaC · private data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SSM · CloudWatch</a:t>
            </a:r>
          </a:p>
        </p:txBody>
      </p:sp>
      <p:sp>
        <p:nvSpPr>
          <p:cNvPr id="8" name="close-big-2">
            <a:extLst xmlns:a="http://schemas.openxmlformats.org/drawingml/2006/main">
              <a:ext uri="{FF2B5EF4-FFF2-40B4-BE49-F238E27FC236}">
                <a16:creationId xmlns:a16="http://schemas.microsoft.com/office/drawing/2014/main" id="{67B4C4DF-2437-41A8-88BF-DBBFC4D1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FF9900"/>
                </a:solidFill>
                <a:latin typeface="PingFang TC"/>
                <a:ea typeface="PingFang TC"/>
                <a:cs typeface="PingFang TC"/>
              </a:rPr>
              <a:t>持續演進</a:t>
            </a:r>
          </a:p>
        </p:txBody>
      </p:sp>
      <p:sp>
        <p:nvSpPr>
          <p:cNvPr id="9" name="close-sub-2">
            <a:extLst xmlns:a="http://schemas.openxmlformats.org/drawingml/2006/main">
              <a:ext uri="{FF2B5EF4-FFF2-40B4-BE49-F238E27FC236}">
                <a16:creationId xmlns:a16="http://schemas.microsoft.com/office/drawing/2014/main" id="{595C4C21-46A1-4140-81FD-FD77FF8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CI/CD · 微服務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RAG · Agentic AI</a:t>
            </a:r>
          </a:p>
        </p:txBody>
      </p:sp>
      <p:sp>
        <p:nvSpPr>
          <p:cNvPr id="10" name="close-next">
            <a:extLst xmlns:a="http://schemas.openxmlformats.org/drawingml/2006/main">
              <a:ext uri="{FF2B5EF4-FFF2-40B4-BE49-F238E27FC236}">
                <a16:creationId xmlns:a16="http://schemas.microsoft.com/office/drawing/2014/main" id="{4DB4BA11-B8AC-4141-AB93-1E4C0C2F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next-copy">
            <a:extLst xmlns:a="http://schemas.openxmlformats.org/drawingml/2006/main">
              <a:ext uri="{FF2B5EF4-FFF2-40B4-BE49-F238E27FC236}">
                <a16:creationId xmlns:a16="http://schemas.microsoft.com/office/drawing/2014/main" id="{41F6E969-5EEB-4ADE-AA6D-ADA031A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下一步：5xx alarm → recovery → AIOps incident</a:t>
            </a:r>
          </a:p>
        </p:txBody>
      </p:sp>
      <p:sp>
        <p:nvSpPr>
          <p:cNvPr id="13" name="page-mask-16">
            <a:extLst xmlns:a="http://schemas.openxmlformats.org/drawingml/2006/main">
              <a:ext uri="{FF2B5EF4-FFF2-40B4-BE49-F238E27FC236}">
                <a16:creationId xmlns:a16="http://schemas.microsoft.com/office/drawing/2014/main" id="{715A9C8C-CFA1-40FA-891C-B89B0B49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1450"/>
            <a:ext cx="76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new-16">
            <a:extLst xmlns:a="http://schemas.openxmlformats.org/drawingml/2006/main">
              <a:ext uri="{FF2B5EF4-FFF2-40B4-BE49-F238E27FC236}">
                <a16:creationId xmlns:a16="http://schemas.microsoft.com/office/drawing/2014/main" id="{217726B0-E135-4C6C-9E0A-D9E512DB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5F6B78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15" name="closing-title-mask-v2">
            <a:extLst xmlns:a="http://schemas.openxmlformats.org/drawingml/2006/main">
              <a:ext uri="{FF2B5EF4-FFF2-40B4-BE49-F238E27FC236}">
                <a16:creationId xmlns:a16="http://schemas.microsoft.com/office/drawing/2014/main" id="{08FB3250-B490-4FD8-B890-20B48486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1049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ing-title-v2">
            <a:extLst xmlns:a="http://schemas.openxmlformats.org/drawingml/2006/main">
              <a:ext uri="{FF2B5EF4-FFF2-40B4-BE49-F238E27FC236}">
                <a16:creationId xmlns:a16="http://schemas.microsoft.com/office/drawing/2014/main" id="{C5B5FDAA-7FD8-4F36-8F7A-E036DABE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我把產品、風險與維運一起設計成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0B1F33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F33"/>
                </a:solidFill>
                <a:latin typeface="PingFang TC"/>
                <a:ea typeface="PingFang TC"/>
                <a:cs typeface="PingFang TC"/>
              </a:rPr>
              <a:t>可驗證、可持續演進的雲端服務。</a:t>
            </a:r>
          </a:p>
        </p:txBody>
      </p:sp>
      <p:sp>
        <p:nvSpPr>
          <p:cNvPr id="17" name="PORTFOLIO VALUE-kicker-mask">
            <a:extLst xmlns:a="http://schemas.openxmlformats.org/drawingml/2006/main">
              <a:ext uri="{FF2B5EF4-FFF2-40B4-BE49-F238E27FC236}">
                <a16:creationId xmlns:a16="http://schemas.microsoft.com/office/drawing/2014/main" id="{78F529E7-069D-4730-8423-99A170A4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ORTFOLIO VALUE-kicker-new">
            <a:extLst xmlns:a="http://schemas.openxmlformats.org/drawingml/2006/main">
              <a:ext uri="{FF2B5EF4-FFF2-40B4-BE49-F238E27FC236}">
                <a16:creationId xmlns:a16="http://schemas.microsoft.com/office/drawing/2014/main" id="{AC6CED10-AB7A-4E9C-851B-35B40E05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PORTFOLIO VALUE</a:t>
            </a:r>
          </a:p>
        </p:txBody>
      </p:sp>
      <p:sp>
        <p:nvSpPr>
          <p:cNvPr id="19" name="closing-kicker-deep-mask">
            <a:extLst xmlns:a="http://schemas.openxmlformats.org/drawingml/2006/main">
              <a:ext uri="{FF2B5EF4-FFF2-40B4-BE49-F238E27FC236}">
                <a16:creationId xmlns:a16="http://schemas.microsoft.com/office/drawing/2014/main" id="{F35A9260-18F4-4D83-A50F-FFC718FD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ing-kicker-final">
            <a:extLst xmlns:a="http://schemas.openxmlformats.org/drawingml/2006/main">
              <a:ext uri="{FF2B5EF4-FFF2-40B4-BE49-F238E27FC236}">
                <a16:creationId xmlns:a16="http://schemas.microsoft.com/office/drawing/2014/main" id="{F31315A2-7CE0-4BB8-ACCC-FA8BE278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F73B7"/>
                </a:solidFill>
                <a:latin typeface="PingFang TC"/>
                <a:ea typeface="PingFang TC"/>
                <a:cs typeface="PingFang TC"/>
              </a:rPr>
              <a:t>PORTFOLIO VALUE</a:t>
            </a:r>
          </a:p>
        </p:txBody>
      </p:sp>
      <p:sp>
        <p:nvSpPr>
          <p:cNvPr id="21" name="closing-line-remnant-mask">
            <a:extLst xmlns:a="http://schemas.openxmlformats.org/drawingml/2006/main">
              <a:ext uri="{FF2B5EF4-FFF2-40B4-BE49-F238E27FC236}">
                <a16:creationId xmlns:a16="http://schemas.microsoft.com/office/drawing/2014/main" id="{0B863255-4ED7-4EF2-89DB-03FEEC4D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57450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ge-mask-v2-17">
            <a:extLst xmlns:a="http://schemas.openxmlformats.org/drawingml/2006/main">
              <a:ext uri="{FF2B5EF4-FFF2-40B4-BE49-F238E27FC236}">
                <a16:creationId xmlns:a16="http://schemas.microsoft.com/office/drawing/2014/main" id="{EC85A49E-64E1-4F26-8AC9-7903A2B4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14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v2-17">
            <a:extLst xmlns:a="http://schemas.openxmlformats.org/drawingml/2006/main">
              <a:ext uri="{FF2B5EF4-FFF2-40B4-BE49-F238E27FC236}">
                <a16:creationId xmlns:a16="http://schemas.microsoft.com/office/drawing/2014/main" id="{B55848C6-127E-44D5-A283-61BD8BE5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586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4334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2026-08-24T06:48:02.1950000Z</dcterms:created>
  <dcterms:modified xsi:type="dcterms:W3CDTF">2026-08-24T06:48:02.1950000Z</dcterms:modified>
</coreProperties>
</file>