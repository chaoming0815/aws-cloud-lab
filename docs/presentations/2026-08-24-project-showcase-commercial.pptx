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0eacad5cb444e7" /><Relationship Type="http://schemas.openxmlformats.org/officeDocument/2006/relationships/extended-properties" Target="/docProps/app.xml" Id="Rb2b1b85f046d4dd1" /><Relationship Type="http://schemas.openxmlformats.org/officeDocument/2006/relationships/officeDocument" Target="/ppt/presentation.xml" Id="R287db176898a40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9ca3b3ef3b4b13"/>
  </p:sldMasterIdLst>
  <p:notesMasterIdLst>
    <p:notesMasterId xmlns:r="http://schemas.openxmlformats.org/officeDocument/2006/relationships" r:id="R0ff4018ce0f1497e"/>
  </p:notesMasterIdLst>
  <p:sldIdLst>
    <p:sldId xmlns:r="http://schemas.openxmlformats.org/officeDocument/2006/relationships" id="256" r:id="Rcd75a361108d4237"/>
    <p:sldId xmlns:r="http://schemas.openxmlformats.org/officeDocument/2006/relationships" id="257" r:id="R176b625e5c09498b"/>
    <p:sldId xmlns:r="http://schemas.openxmlformats.org/officeDocument/2006/relationships" id="258" r:id="R4a8618ca45794f1e"/>
    <p:sldId xmlns:r="http://schemas.openxmlformats.org/officeDocument/2006/relationships" id="259" r:id="R5b4ab3e710574465"/>
    <p:sldId xmlns:r="http://schemas.openxmlformats.org/officeDocument/2006/relationships" id="260" r:id="Ra93740b2e60e481a"/>
    <p:sldId xmlns:r="http://schemas.openxmlformats.org/officeDocument/2006/relationships" id="261" r:id="Rbcc849c1d28b450d"/>
    <p:sldId xmlns:r="http://schemas.openxmlformats.org/officeDocument/2006/relationships" id="262" r:id="Rbd26b721a1de4c65"/>
    <p:sldId xmlns:r="http://schemas.openxmlformats.org/officeDocument/2006/relationships" id="263" r:id="Rf2eaff643cbc47f8"/>
    <p:sldId xmlns:r="http://schemas.openxmlformats.org/officeDocument/2006/relationships" id="264" r:id="Ree6f4c92a193420c"/>
    <p:sldId xmlns:r="http://schemas.openxmlformats.org/officeDocument/2006/relationships" id="265" r:id="Rcd21c11e593d47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f41c0e0da34610" /><Relationship Type="http://schemas.openxmlformats.org/officeDocument/2006/relationships/slideMaster" Target="/ppt/slideMasters/slideMaster1.xml" Id="R249ca3b3ef3b4b13" /><Relationship Type="http://schemas.openxmlformats.org/officeDocument/2006/relationships/notesMaster" Target="/ppt/notesMasters/notesMaster1.xml" Id="R0ff4018ce0f1497e" /><Relationship Type="http://schemas.openxmlformats.org/officeDocument/2006/relationships/presProps" Target="/ppt/presProps.xml" Id="R27072fee045f44f8" /><Relationship Type="http://schemas.openxmlformats.org/officeDocument/2006/relationships/tableStyles" Target="/ppt/tableStyles.xml" Id="R3a0339ddffd34e0a" /><Relationship Type="http://schemas.openxmlformats.org/officeDocument/2006/relationships/slide" Target="/ppt/slides/slide1.xml" Id="Rcd75a361108d4237" /><Relationship Type="http://schemas.openxmlformats.org/officeDocument/2006/relationships/slide" Target="/ppt/slides/slide2.xml" Id="R176b625e5c09498b" /><Relationship Type="http://schemas.openxmlformats.org/officeDocument/2006/relationships/slide" Target="/ppt/slides/slide3.xml" Id="R4a8618ca45794f1e" /><Relationship Type="http://schemas.openxmlformats.org/officeDocument/2006/relationships/slide" Target="/ppt/slides/slide4.xml" Id="R5b4ab3e710574465" /><Relationship Type="http://schemas.openxmlformats.org/officeDocument/2006/relationships/slide" Target="/ppt/slides/slide5.xml" Id="Ra93740b2e60e481a" /><Relationship Type="http://schemas.openxmlformats.org/officeDocument/2006/relationships/slide" Target="/ppt/slides/slide6.xml" Id="Rbcc849c1d28b450d" /><Relationship Type="http://schemas.openxmlformats.org/officeDocument/2006/relationships/slide" Target="/ppt/slides/slide7.xml" Id="Rbd26b721a1de4c65" /><Relationship Type="http://schemas.openxmlformats.org/officeDocument/2006/relationships/slide" Target="/ppt/slides/slide8.xml" Id="Rf2eaff643cbc47f8" /><Relationship Type="http://schemas.openxmlformats.org/officeDocument/2006/relationships/slide" Target="/ppt/slides/slide9.xml" Id="Ree6f4c92a193420c" /><Relationship Type="http://schemas.openxmlformats.org/officeDocument/2006/relationships/slide" Target="/ppt/slides/slide10.xml" Id="Rcd21c11e593d47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16a33b7c2548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aed73e1f5942c2" /><Relationship Type="http://schemas.openxmlformats.org/officeDocument/2006/relationships/notesMaster" Target="/ppt/notesMasters/notesMaster1.xml" Id="Rb9887a4e7f0945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af2ec470e64788" /><Relationship Type="http://schemas.openxmlformats.org/officeDocument/2006/relationships/notesMaster" Target="/ppt/notesMasters/notesMaster1.xml" Id="R712ab32e05ad4c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a6ccc733fb447d" /><Relationship Type="http://schemas.openxmlformats.org/officeDocument/2006/relationships/notesMaster" Target="/ppt/notesMasters/notesMaster1.xml" Id="R9db7a7a1055d40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b61d5564b343f4" /><Relationship Type="http://schemas.openxmlformats.org/officeDocument/2006/relationships/notesMaster" Target="/ppt/notesMasters/notesMaster1.xml" Id="R8a062d8a16e442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fa6c40251d4632" /><Relationship Type="http://schemas.openxmlformats.org/officeDocument/2006/relationships/notesMaster" Target="/ppt/notesMasters/notesMaster1.xml" Id="Rff48f83162024d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560424805b4d7d" /><Relationship Type="http://schemas.openxmlformats.org/officeDocument/2006/relationships/notesMaster" Target="/ppt/notesMasters/notesMaster1.xml" Id="R9ffa98ab44d244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4749e13d8b4b57" /><Relationship Type="http://schemas.openxmlformats.org/officeDocument/2006/relationships/notesMaster" Target="/ppt/notesMasters/notesMaster1.xml" Id="R3c934672734d42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6f2fb300fa465b" /><Relationship Type="http://schemas.openxmlformats.org/officeDocument/2006/relationships/notesMaster" Target="/ppt/notesMasters/notesMaster1.xml" Id="Rb46a9147113440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bb7e82854f40d1" /><Relationship Type="http://schemas.openxmlformats.org/officeDocument/2006/relationships/notesMaster" Target="/ppt/notesMasters/notesMaster1.xml" Id="R5634db45efdf49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90e76abf3b4a27" /><Relationship Type="http://schemas.openxmlformats.org/officeDocument/2006/relationships/notesMaster" Target="/ppt/notesMasters/notesMaster1.xml" Id="Rc8276da0b81944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今天展示的不是進度清單，而是一個已在 AWS 上由真實玩家完成多人回合的產品。共演計劃把多人共同決策、可驗證規則與受約束的 AI 敘事整合成可部署、可觀測的雲端服務。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docs/handoffs/CURRENT.md</a:t>
            </a:r>
          </a:p>
          <a:p xmlns:a="http://schemas.openxmlformats.org/drawingml/2006/main">
            <a:r>
              <a:t>- docs/evidence/2026-08-20-tier0-four-player-trial/validation.md</a:t>
            </a:r>
          </a:p>
          <a:p xmlns:a="http://schemas.openxmlformats.org/drawingml/2006/main">
            <a:r>
              <a:t>- 內部實際遊玩截圖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多人共創真正困難的是同步與共識。共演計劃讓 server 維持 canonical state 與 deterministic rules，AI 只在既定結果上生成敘事，因此同一核心能從娛樂延伸到培訓模擬、共創工作坊與互動內容。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docs/product/source-of-truth.md</a:t>
            </a:r>
          </a:p>
          <a:p xmlns:a="http://schemas.openxmlformats.org/drawingml/2006/main">
            <a:r>
              <a:t>- docs/project-plan.md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玩家只需要加入房間、提交行動、擲骰並閱讀共同故事。前端不接觸 AWS credential；後端結算規則和狀態，最後才把結果交給 Bedrock 轉成敘事。這個責任分離讓產品體驗簡單，也讓雲端元件能獨立替換。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docs/architecture/frontend-clean-architecture.md</a:t>
            </a:r>
          </a:p>
          <a:p xmlns:a="http://schemas.openxmlformats.org/drawingml/2006/main">
            <a:r>
              <a:t>- docs/architecture/llm-integration.md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這是公開 AWS 環境的實際遊玩畫面。四位玩家使用不同裝置完成世界生成、角色建立、四回合、AI 敘事、結局與刪房。這證明的是產品閉環，而不是只有單機畫面或後端測試。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docs/evidence/2026-08-20-tier0-four-player-trial/validation.md</a:t>
            </a:r>
          </a:p>
          <a:p xmlns:a="http://schemas.openxmlformats.org/drawingml/2006/main">
            <a:r>
              <a:t>- 內部實際遊玩截圖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FastAPI 只是入口。Room Service 管理房間生命週期，Domain Rules 決定骰子、進度、危機與結局；RDS 和 Bedrock 都隔離在 adapters。這讓一致性規則、資料持久化與 AI 敘事可以獨立測試，也讓 production wiring 能 fail closed。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backend/app/application/room_service.py</a:t>
            </a:r>
          </a:p>
          <a:p xmlns:a="http://schemas.openxmlformats.org/drawingml/2006/main">
            <a:r>
              <a:t>- docs/decisions/0003-adopt-postgresql-room-aggregate-repository.md</a:t>
            </a:r>
          </a:p>
          <a:p xmlns:a="http://schemas.openxmlformats.org/drawingml/2006/main">
            <a:r>
              <a:t>- docs/architecture/llm-integration.md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玩家以 HTTPS 進入 public subnet 的 EC2；Nginx 反向代理 FastAPI。資料只寫入 private DB subnets 的 RDS，5432 僅接受 App Security Group。EC2 使用 instance role 呼叫 Bedrock 並送出 safe logs；人員透過 Systems Manager 維運，不開 public SSH。圖中只畫已部署服務。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infra/cloudformation/tier0-network.yaml</a:t>
            </a:r>
          </a:p>
          <a:p xmlns:a="http://schemas.openxmlformats.org/drawingml/2006/main">
            <a:r>
              <a:t>- infra/cloudformation/tier0-rds.yaml</a:t>
            </a:r>
          </a:p>
          <a:p xmlns:a="http://schemas.openxmlformats.org/drawingml/2006/main">
            <a:r>
              <a:t>- docs/architecture/tier0-aws-deployment-plan.md</a:t>
            </a:r>
          </a:p>
          <a:p xmlns:a="http://schemas.openxmlformats.org/drawingml/2006/main">
            <a:r>
              <a:t>- AWS Architecture Icons 2026 Q3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網路、權限與成本都在部署前被設計。管理面以 SSM 取代 SSH；private RDS 只接受 App SG；AppRole 只取得指定 Bedrock、CloudWatch 與 runtime secret。成本用 US$1 Budget、最小規格、七天 log retention 與明確不建立清單控制。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docs/architecture/tier0-aws-change-envelope.md</a:t>
            </a:r>
          </a:p>
          <a:p xmlns:a="http://schemas.openxmlformats.org/drawingml/2006/main">
            <a:r>
              <a:t>- docs/handoffs/CURRENT.md</a:t>
            </a:r>
          </a:p>
          <a:p xmlns:a="http://schemas.openxmlformats.org/drawingml/2006/main">
            <a:r>
              <a:t>- AWS Architecture Icons 2026 Q3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FastAPI 只把 allowlist 欄位寫入安全 JSONL，CloudWatch Agent 收集固定檔案並送到七天 retention 的 Log Group。Metric filter 只辨識 500 到 599，Alarm 門檻是一分鐘至少一次。SSM Health Document 已驗證 service、live 與 ready；正向 delivery 已完成，5xx trigger 和 recovery 尚未宣稱完成。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infra/cloudformation/tier1-observability.yaml</a:t>
            </a:r>
          </a:p>
          <a:p xmlns:a="http://schemas.openxmlformats.org/drawingml/2006/main">
            <a:r>
              <a:t>- infra/cloudformation/tier1-ssm-health-check.yaml</a:t>
            </a:r>
          </a:p>
          <a:p xmlns:a="http://schemas.openxmlformats.org/drawingml/2006/main">
            <a:r>
              <a:t>- docs/evidence/2026-08-24-tier1-runtime-observability/validation.md</a:t>
            </a:r>
          </a:p>
          <a:p xmlns:a="http://schemas.openxmlformats.org/drawingml/2006/main">
            <a:r>
              <a:t>- AWS Architecture Icons 2026 Q3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Tier 0 到 Tier 5 是同一產品的累積演進。Tier 0 證明可玩、private data 與 AWS 部署；Tier 1 加入可觀測與免 SSH 維運。後續才做元件隔離、CI/CD、微服務與 Agentic AI，每一層都必須有實際成果和證據。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- docs/project-plan.md</a:t>
            </a:r>
          </a:p>
          <a:p xmlns:a="http://schemas.openxmlformats.org/drawingml/2006/main">
            <a:r>
              <a:t>- docs/checkpoints.md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共演計劃展示的是完整的產品工程能力：把使用者需求轉成系統邊界，把風險轉成安全與 rollback，把部署轉成可重現證據。下一步會完成 5xx alarm、recovery 與 AIOps incident，但每次擴張仍以價值、成本與驗證為前提。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docs/handoffs/CURRENT.md</a:t>
            </a:r>
          </a:p>
          <a:p xmlns:a="http://schemas.openxmlformats.org/drawingml/2006/main">
            <a:r>
              <a:t>- docs/project-plan.md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fbc66103e4f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68c6fc927a4951" /><Relationship Type="http://schemas.openxmlformats.org/officeDocument/2006/relationships/slideLayout" Target="/ppt/slideLayouts/slideLayout1.xml" Id="R259c6fb99bf843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9c6fb99bf843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bb793cd6f49cd" /><Relationship Type="http://schemas.openxmlformats.org/officeDocument/2006/relationships/image" Target="/ppt/media/image.png" Id="R86ef3ef1de32451e" /><Relationship Type="http://schemas.openxmlformats.org/officeDocument/2006/relationships/notesSlide" Target="/ppt/notesSlides/notesSlide1.xml" Id="R2c5f4f1964bd4e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f166457fa4b17" /><Relationship Type="http://schemas.openxmlformats.org/officeDocument/2006/relationships/notesSlide" Target="/ppt/notesSlides/notesSlide2.xml" Id="R6cbae0c143fd46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f5e65ce8c4a72" /><Relationship Type="http://schemas.openxmlformats.org/officeDocument/2006/relationships/notesSlide" Target="/ppt/notesSlides/notesSlide3.xml" Id="Rf1f838c3b8eb49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d37dd6d4340d3" /><Relationship Type="http://schemas.openxmlformats.org/officeDocument/2006/relationships/image" Target="/ppt/media/image2.png" Id="R166a2ab5d32043bc" /><Relationship Type="http://schemas.openxmlformats.org/officeDocument/2006/relationships/notesSlide" Target="/ppt/notesSlides/notesSlide4.xml" Id="Rab03fe8ed46848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fe1edcd4544a9" /><Relationship Type="http://schemas.openxmlformats.org/officeDocument/2006/relationships/image" Target="/ppt/media/image3.png" Id="Rbd88a8a51a714df6" /><Relationship Type="http://schemas.openxmlformats.org/officeDocument/2006/relationships/notesSlide" Target="/ppt/notesSlides/notesSlide5.xml" Id="R73c9d21e11574a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5e54a10cb42b0" /><Relationship Type="http://schemas.openxmlformats.org/officeDocument/2006/relationships/image" Target="/ppt/media/image4.png" Id="Rbecddec7ffe240d8" /><Relationship Type="http://schemas.openxmlformats.org/officeDocument/2006/relationships/notesSlide" Target="/ppt/notesSlides/notesSlide6.xml" Id="R79eb7f5fa9314f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3add1715c446a" /><Relationship Type="http://schemas.openxmlformats.org/officeDocument/2006/relationships/image" Target="/ppt/media/image5.png" Id="R4ebdc5732ecc4034" /><Relationship Type="http://schemas.openxmlformats.org/officeDocument/2006/relationships/image" Target="/ppt/media/image.svg" Id="R3f4e1c817ca24103" /><Relationship Type="http://schemas.openxmlformats.org/officeDocument/2006/relationships/image" Target="/ppt/media/image6.png" Id="Rbf30dffe38b24173" /><Relationship Type="http://schemas.openxmlformats.org/officeDocument/2006/relationships/image" Target="/ppt/media/image2.svg" Id="R7db055ebf8e745b7" /><Relationship Type="http://schemas.openxmlformats.org/officeDocument/2006/relationships/image" Target="/ppt/media/image7.png" Id="R6cc51f9645cc4b10" /><Relationship Type="http://schemas.openxmlformats.org/officeDocument/2006/relationships/image" Target="/ppt/media/image3.svg" Id="Re90543e665334377" /><Relationship Type="http://schemas.openxmlformats.org/officeDocument/2006/relationships/notesSlide" Target="/ppt/notesSlides/notesSlide7.xml" Id="Rb9ca9c689afc44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99ab10c084fb3" /><Relationship Type="http://schemas.openxmlformats.org/officeDocument/2006/relationships/image" Target="/ppt/media/image8.png" Id="Rd66816bfc84046a5" /><Relationship Type="http://schemas.openxmlformats.org/officeDocument/2006/relationships/notesSlide" Target="/ppt/notesSlides/notesSlide8.xml" Id="R0585b5e839c943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7ecc66165483f" /><Relationship Type="http://schemas.openxmlformats.org/officeDocument/2006/relationships/notesSlide" Target="/ppt/notesSlides/notesSlide9.xml" Id="R65b9fd91e7b040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e9c03cc5a40c4" /><Relationship Type="http://schemas.openxmlformats.org/officeDocument/2006/relationships/notesSlide" Target="/ppt/notesSlides/notesSlide10.xml" Id="R67d78e6a342f49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ro-accent">
            <a:extLst xmlns:a="http://schemas.openxmlformats.org/drawingml/2006/main">
              <a:ext uri="{FF2B5EF4-FFF2-40B4-BE49-F238E27FC236}">
                <a16:creationId xmlns:a16="http://schemas.microsoft.com/office/drawing/2014/main" id="{DCAB14CF-0C96-46FC-B879-667FBA8C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2E1C793-D349-4B72-83A6-FF192336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AWS 雲端工程實戰作品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A198719-49CE-4F2D-B7D6-299095B6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825C90F-0471-44B5-9B03-2DE3BF51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 AI 故事平台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從可玩產品到可觀測雲端服務</a:t>
            </a:r>
          </a:p>
        </p:txBody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71A9B099-605E-46DE-98E7-AA469F98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4 位玩家 · 4 回合 · AWS 實機驗證</a:t>
            </a:r>
          </a:p>
        </p:txBody>
      </p:sp>
      <p:sp>
        <p:nvSpPr>
          <p:cNvPr id="6" name="cover-stack">
            <a:extLst xmlns:a="http://schemas.openxmlformats.org/drawingml/2006/main">
              <a:ext uri="{FF2B5EF4-FFF2-40B4-BE49-F238E27FC236}">
                <a16:creationId xmlns:a16="http://schemas.microsoft.com/office/drawing/2014/main" id="{7752F40D-C11C-41FD-83AF-7C4236E5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FastAPI  ·  Amazon RDS  ·  Amazon Bedrock  ·  CloudWatch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61CA3EF3-508D-468D-B7C8-0472478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5C1A0A59-9727-4CC7-996A-95DE69BB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產品架構展示  |  2026.08.24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f3ef1de32451e"/>
          <a:srcRect xmlns:a="http://schemas.openxmlformats.org/drawingml/2006/main" l="11486" t="0" r="114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457200"/>
            <a:ext cx="5867400" cy="5943600"/>
          </a:xfrm>
          <a:prstGeom xmlns:a="http://schemas.openxmlformats.org/drawingml/2006/main" prst="rect">
            <a:avLst/>
          </a:prstGeom>
        </p:spPr>
      </p:pic>
      <p:sp>
        <p:nvSpPr>
          <p:cNvPr id="10" name="cover-image-border">
            <a:extLst xmlns:a="http://schemas.openxmlformats.org/drawingml/2006/main">
              <a:ext uri="{FF2B5EF4-FFF2-40B4-BE49-F238E27FC236}">
                <a16:creationId xmlns:a16="http://schemas.microsoft.com/office/drawing/2014/main" id="{67B23E67-D1BE-4492-8D63-0E36EB4D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"/>
            <a:ext cx="5867400" cy="5943600"/>
          </a:xfrm>
          <a:prstGeom xmlns:a="http://schemas.openxmlformats.org/drawingml/2006/main" prst="roundRect">
            <a:avLst>
              <a:gd name="adj" fmla="val 12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7364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2">
            <a:extLst xmlns:a="http://schemas.openxmlformats.org/drawingml/2006/main">
              <a:ext uri="{FF2B5EF4-FFF2-40B4-BE49-F238E27FC236}">
                <a16:creationId xmlns:a16="http://schemas.microsoft.com/office/drawing/2014/main" id="{6EA771EB-F951-434D-BDCC-619BFC6A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01  PRODUCT VALUE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33653C2-3B53-4D04-AD6E-E3FA33D2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多人共創缺的不是文字，而是共同狀態</a:t>
            </a:r>
          </a:p>
        </p:txBody>
      </p:sp>
      <p:sp>
        <p:nvSpPr>
          <p:cNvPr id="3" name="title-line-2">
            <a:extLst xmlns:a="http://schemas.openxmlformats.org/drawingml/2006/main">
              <a:ext uri="{FF2B5EF4-FFF2-40B4-BE49-F238E27FC236}">
                <a16:creationId xmlns:a16="http://schemas.microsoft.com/office/drawing/2014/main" id="{010DE08B-15A3-46EB-B316-2C078F6E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C2B8B58-82CF-4877-86A3-7EF37F5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problem-spine">
            <a:extLst xmlns:a="http://schemas.openxmlformats.org/drawingml/2006/main">
              <a:ext uri="{FF2B5EF4-FFF2-40B4-BE49-F238E27FC236}">
                <a16:creationId xmlns:a16="http://schemas.microsoft.com/office/drawing/2014/main" id="{5D89A989-9F49-4701-8BC7-9A37751D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908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  <a:prstDash val="solid"/>
          </a:ln>
        </p:spPr>
      </p:sp>
      <p:sp>
        <p:nvSpPr>
          <p:cNvPr id="6" name="problem-dot-0">
            <a:extLst xmlns:a="http://schemas.openxmlformats.org/drawingml/2006/main">
              <a:ext uri="{FF2B5EF4-FFF2-40B4-BE49-F238E27FC236}">
                <a16:creationId xmlns:a16="http://schemas.microsoft.com/office/drawing/2014/main" id="{9BE966AB-3F57-4978-BC99-101ADBC6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5C7FEB8E-9AA3-4BB3-8E59-87A6E460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8" name="problem-big-0">
            <a:extLst xmlns:a="http://schemas.openxmlformats.org/drawingml/2006/main">
              <a:ext uri="{FF2B5EF4-FFF2-40B4-BE49-F238E27FC236}">
                <a16:creationId xmlns:a16="http://schemas.microsoft.com/office/drawing/2014/main" id="{C601723E-0D88-43FF-914D-8E2C623A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不同步</a:t>
            </a:r>
          </a:p>
        </p:txBody>
      </p:sp>
      <p:sp>
        <p:nvSpPr>
          <p:cNvPr id="9" name="problem-sub-0">
            <a:extLst xmlns:a="http://schemas.openxmlformats.org/drawingml/2006/main">
              <a:ext uri="{FF2B5EF4-FFF2-40B4-BE49-F238E27FC236}">
                <a16:creationId xmlns:a16="http://schemas.microsoft.com/office/drawing/2014/main" id="{CDF219A8-C211-4345-B969-A7C581C7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95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每個人看見不同版本</a:t>
            </a:r>
          </a:p>
        </p:txBody>
      </p:sp>
      <p:sp>
        <p:nvSpPr>
          <p:cNvPr id="10" name="problem-dot-1">
            <a:extLst xmlns:a="http://schemas.openxmlformats.org/drawingml/2006/main">
              <a:ext uri="{FF2B5EF4-FFF2-40B4-BE49-F238E27FC236}">
                <a16:creationId xmlns:a16="http://schemas.microsoft.com/office/drawing/2014/main" id="{B5AC822E-CA15-48EA-91B3-4E203049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DF954D62-A654-4EAF-AD26-C96DE196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problem-big-1">
            <a:extLst xmlns:a="http://schemas.openxmlformats.org/drawingml/2006/main">
              <a:ext uri="{FF2B5EF4-FFF2-40B4-BE49-F238E27FC236}">
                <a16:creationId xmlns:a16="http://schemas.microsoft.com/office/drawing/2014/main" id="{73A26D66-5C92-4E1A-BEFE-58497C40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43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無共識</a:t>
            </a:r>
          </a:p>
        </p:txBody>
      </p:sp>
      <p:sp>
        <p:nvSpPr>
          <p:cNvPr id="13" name="problem-sub-1">
            <a:extLst xmlns:a="http://schemas.openxmlformats.org/drawingml/2006/main">
              <a:ext uri="{FF2B5EF4-FFF2-40B4-BE49-F238E27FC236}">
                <a16:creationId xmlns:a16="http://schemas.microsoft.com/office/drawing/2014/main" id="{364A45E8-178E-444E-905D-270011C2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AI 內容無法約束規則</a:t>
            </a:r>
          </a:p>
        </p:txBody>
      </p:sp>
      <p:sp>
        <p:nvSpPr>
          <p:cNvPr id="14" name="problem-dot-2">
            <a:extLst xmlns:a="http://schemas.openxmlformats.org/drawingml/2006/main">
              <a:ext uri="{FF2B5EF4-FFF2-40B4-BE49-F238E27FC236}">
                <a16:creationId xmlns:a16="http://schemas.microsoft.com/office/drawing/2014/main" id="{30E342AC-8563-4FBE-A634-2FCAA7FF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2D765F35-2B3A-420B-897A-44E88937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6" name="problem-big-2">
            <a:extLst xmlns:a="http://schemas.openxmlformats.org/drawingml/2006/main">
              <a:ext uri="{FF2B5EF4-FFF2-40B4-BE49-F238E27FC236}">
                <a16:creationId xmlns:a16="http://schemas.microsoft.com/office/drawing/2014/main" id="{29801C3A-72D0-4301-8F71-27BB694B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43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難延伸</a:t>
            </a:r>
          </a:p>
        </p:txBody>
      </p:sp>
      <p:sp>
        <p:nvSpPr>
          <p:cNvPr id="17" name="problem-sub-2">
            <a:extLst xmlns:a="http://schemas.openxmlformats.org/drawingml/2006/main">
              <a:ext uri="{FF2B5EF4-FFF2-40B4-BE49-F238E27FC236}">
                <a16:creationId xmlns:a16="http://schemas.microsoft.com/office/drawing/2014/main" id="{F0003D5D-0DCF-468C-88D1-1C994951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一次性體驗難變成服務</a:t>
            </a:r>
          </a:p>
        </p:txBody>
      </p:sp>
      <p:sp>
        <p:nvSpPr>
          <p:cNvPr id="18" name="problem-answer">
            <a:extLst xmlns:a="http://schemas.openxmlformats.org/drawingml/2006/main">
              <a:ext uri="{FF2B5EF4-FFF2-40B4-BE49-F238E27FC236}">
                <a16:creationId xmlns:a16="http://schemas.microsoft.com/office/drawing/2014/main" id="{62C9FFFA-D2D7-4191-BD89-C42D2E5B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861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共演計劃用伺服器統一規則，讓 AI 專注生成故事。</a:t>
            </a:r>
          </a:p>
        </p:txBody>
      </p:sp>
    </p:spTree>
    <p:extLst>
      <p:ext uri="{BB962C8B-B14F-4D97-AF65-F5344CB8AC3E}">
        <p14:creationId xmlns:p14="http://schemas.microsoft.com/office/powerpoint/2010/main" val="596370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3">
            <a:extLst xmlns:a="http://schemas.openxmlformats.org/drawingml/2006/main">
              <a:ext uri="{FF2B5EF4-FFF2-40B4-BE49-F238E27FC236}">
                <a16:creationId xmlns:a16="http://schemas.microsoft.com/office/drawing/2014/main" id="{5E38F992-E110-4417-89C7-4DC6A6E8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02  EXPERIENCE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ED6E4ED-CA66-49B2-AB67-81865A56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玩家只做決策，平台完成其餘閉環</a:t>
            </a:r>
          </a:p>
        </p:txBody>
      </p:sp>
      <p:sp>
        <p:nvSpPr>
          <p:cNvPr id="3" name="title-line-3">
            <a:extLst xmlns:a="http://schemas.openxmlformats.org/drawingml/2006/main">
              <a:ext uri="{FF2B5EF4-FFF2-40B4-BE49-F238E27FC236}">
                <a16:creationId xmlns:a16="http://schemas.microsoft.com/office/drawing/2014/main" id="{1AD0DDDC-AD72-406E-9515-D1CCA55E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62DB084-1D0F-4AF0-8608-FCE29D64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loop-0">
            <a:extLst xmlns:a="http://schemas.openxmlformats.org/drawingml/2006/main">
              <a:ext uri="{FF2B5EF4-FFF2-40B4-BE49-F238E27FC236}">
                <a16:creationId xmlns:a16="http://schemas.microsoft.com/office/drawing/2014/main" id="{99EDB4D7-F95C-4EB4-94F8-EB44CC38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op-1">
            <a:extLst xmlns:a="http://schemas.openxmlformats.org/drawingml/2006/main">
              <a:ext uri="{FF2B5EF4-FFF2-40B4-BE49-F238E27FC236}">
                <a16:creationId xmlns:a16="http://schemas.microsoft.com/office/drawing/2014/main" id="{EAC23EB4-DD25-4F42-B77C-799970A8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oop-2">
            <a:extLst xmlns:a="http://schemas.openxmlformats.org/drawingml/2006/main">
              <a:ext uri="{FF2B5EF4-FFF2-40B4-BE49-F238E27FC236}">
                <a16:creationId xmlns:a16="http://schemas.microsoft.com/office/drawing/2014/main" id="{2624FC9E-F8BA-42AF-ADC0-3678AAF2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op-3">
            <a:extLst xmlns:a="http://schemas.openxmlformats.org/drawingml/2006/main">
              <a:ext uri="{FF2B5EF4-FFF2-40B4-BE49-F238E27FC236}">
                <a16:creationId xmlns:a16="http://schemas.microsoft.com/office/drawing/2014/main" id="{1AC7B721-78E2-4AF2-A42B-2748BA76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2861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3B7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334000" y="32861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25D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943850" y="32861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3B7"/>
            </a:solidFill>
            <a:prstDash val="solid"/>
            <a:tailEnd type="triangle" w="sm" len="sm"/>
          </a:ln>
        </p:spPr>
      </p:cxnSp>
      <p:sp>
        <p:nvSpPr>
          <p:cNvPr id="12" name="loop-no-0">
            <a:extLst xmlns:a="http://schemas.openxmlformats.org/drawingml/2006/main">
              <a:ext uri="{FF2B5EF4-FFF2-40B4-BE49-F238E27FC236}">
                <a16:creationId xmlns:a16="http://schemas.microsoft.com/office/drawing/2014/main" id="{869CD38C-03A7-4B6D-B382-1E09A163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3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70AB09FC-79CA-45BC-A97C-FE61955C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加入房間</a:t>
            </a:r>
          </a:p>
        </p:txBody>
      </p:sp>
      <p:sp>
        <p:nvSpPr>
          <p:cNvPr id="14" name="loop-sub-0">
            <a:extLst xmlns:a="http://schemas.openxmlformats.org/drawingml/2006/main">
              <a:ext uri="{FF2B5EF4-FFF2-40B4-BE49-F238E27FC236}">
                <a16:creationId xmlns:a16="http://schemas.microsoft.com/office/drawing/2014/main" id="{3D296C5B-EB16-4FD7-B291-5570F246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3–5 位玩家</a:t>
            </a:r>
          </a:p>
        </p:txBody>
      </p:sp>
      <p:sp>
        <p:nvSpPr>
          <p:cNvPr id="15" name="loop-no-1">
            <a:extLst xmlns:a="http://schemas.openxmlformats.org/drawingml/2006/main">
              <a:ext uri="{FF2B5EF4-FFF2-40B4-BE49-F238E27FC236}">
                <a16:creationId xmlns:a16="http://schemas.microsoft.com/office/drawing/2014/main" id="{56CE029D-B774-47A0-AB46-91DFCD5A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FEBD13C1-F644-480A-A7B1-4C04FD55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共同決策</a:t>
            </a:r>
          </a:p>
        </p:txBody>
      </p:sp>
      <p:sp>
        <p:nvSpPr>
          <p:cNvPr id="17" name="loop-sub-1">
            <a:extLst xmlns:a="http://schemas.openxmlformats.org/drawingml/2006/main">
              <a:ext uri="{FF2B5EF4-FFF2-40B4-BE49-F238E27FC236}">
                <a16:creationId xmlns:a16="http://schemas.microsoft.com/office/drawing/2014/main" id="{8DE9543E-9867-4165-98C8-E3759C0A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33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行動 · 骰子</a:t>
            </a:r>
          </a:p>
        </p:txBody>
      </p:sp>
      <p:sp>
        <p:nvSpPr>
          <p:cNvPr id="18" name="loop-no-2">
            <a:extLst xmlns:a="http://schemas.openxmlformats.org/drawingml/2006/main">
              <a:ext uri="{FF2B5EF4-FFF2-40B4-BE49-F238E27FC236}">
                <a16:creationId xmlns:a16="http://schemas.microsoft.com/office/drawing/2014/main" id="{785B1877-47F5-42D2-95BF-8C7A413D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9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750A07DF-16D9-4BB5-A9BB-A5879777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規則結算</a:t>
            </a:r>
          </a:p>
        </p:txBody>
      </p:sp>
      <p:sp>
        <p:nvSpPr>
          <p:cNvPr id="20" name="loop-sub-2">
            <a:extLst xmlns:a="http://schemas.openxmlformats.org/drawingml/2006/main">
              <a:ext uri="{FF2B5EF4-FFF2-40B4-BE49-F238E27FC236}">
                <a16:creationId xmlns:a16="http://schemas.microsoft.com/office/drawing/2014/main" id="{859A2220-E832-446A-85B8-B6CA6F6F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進度 · 危機 · 結局</a:t>
            </a:r>
          </a:p>
        </p:txBody>
      </p:sp>
      <p:sp>
        <p:nvSpPr>
          <p:cNvPr id="21" name="loop-no-3">
            <a:extLst xmlns:a="http://schemas.openxmlformats.org/drawingml/2006/main">
              <a:ext uri="{FF2B5EF4-FFF2-40B4-BE49-F238E27FC236}">
                <a16:creationId xmlns:a16="http://schemas.microsoft.com/office/drawing/2014/main" id="{BDC3EFFC-3A01-4CF9-8A3A-14967286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2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C06F0DDD-0657-4F84-8D61-F22BB887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同步敘事</a:t>
            </a:r>
          </a:p>
        </p:txBody>
      </p:sp>
      <p:sp>
        <p:nvSpPr>
          <p:cNvPr id="23" name="loop-sub-3">
            <a:extLst xmlns:a="http://schemas.openxmlformats.org/drawingml/2006/main">
              <a:ext uri="{FF2B5EF4-FFF2-40B4-BE49-F238E27FC236}">
                <a16:creationId xmlns:a16="http://schemas.microsoft.com/office/drawing/2014/main" id="{35D96379-60FA-41AB-B6D1-C141B387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所有人看到同一結果</a:t>
            </a:r>
          </a:p>
        </p:txBody>
      </p:sp>
      <p:sp>
        <p:nvSpPr>
          <p:cNvPr id="24" name="loop-boundary">
            <a:extLst xmlns:a="http://schemas.openxmlformats.org/drawingml/2006/main">
              <a:ext uri="{FF2B5EF4-FFF2-40B4-BE49-F238E27FC236}">
                <a16:creationId xmlns:a16="http://schemas.microsoft.com/office/drawing/2014/main" id="{2383A8E6-0EDF-44D0-9013-4DF4C1C1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瀏覽器不持有 AWS credential  ·  canonical state 由 server 判定  ·  LLM 不直接改寫規則</a:t>
            </a:r>
          </a:p>
        </p:txBody>
      </p:sp>
    </p:spTree>
    <p:extLst>
      <p:ext uri="{BB962C8B-B14F-4D97-AF65-F5344CB8AC3E}">
        <p14:creationId xmlns:p14="http://schemas.microsoft.com/office/powerpoint/2010/main" val="1687228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4">
            <a:extLst xmlns:a="http://schemas.openxmlformats.org/drawingml/2006/main">
              <a:ext uri="{FF2B5EF4-FFF2-40B4-BE49-F238E27FC236}">
                <a16:creationId xmlns:a16="http://schemas.microsoft.com/office/drawing/2014/main" id="{83AA0740-14EC-42FB-AD3D-1620DF71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03  PROOF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EA9CCED-DA9C-44A6-811C-E1707BFE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四位玩家已在 AWS 完成四回合與結局</a:t>
            </a:r>
          </a:p>
        </p:txBody>
      </p:sp>
      <p:sp>
        <p:nvSpPr>
          <p:cNvPr id="3" name="title-line-4">
            <a:extLst xmlns:a="http://schemas.openxmlformats.org/drawingml/2006/main">
              <a:ext uri="{FF2B5EF4-FFF2-40B4-BE49-F238E27FC236}">
                <a16:creationId xmlns:a16="http://schemas.microsoft.com/office/drawing/2014/main" id="{BC21AF1C-D83F-4580-88CD-6152B59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895FB3EF-23C3-4BDC-B3A5-28E98FDF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a2ab5d32043bc"/>
          <a:srcRect xmlns:a="http://schemas.openxmlformats.org/drawingml/2006/main" l="0" t="12306" r="0" b="123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09700"/>
            <a:ext cx="809625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proof-border">
            <a:extLst xmlns:a="http://schemas.openxmlformats.org/drawingml/2006/main">
              <a:ext uri="{FF2B5EF4-FFF2-40B4-BE49-F238E27FC236}">
                <a16:creationId xmlns:a16="http://schemas.microsoft.com/office/drawing/2014/main" id="{0B7ABACA-CBD8-4369-99AB-FE3320D1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096250" cy="4762500"/>
          </a:xfrm>
          <a:prstGeom xmlns:a="http://schemas.openxmlformats.org/drawingml/2006/main" prst="roundRect">
            <a:avLst>
              <a:gd name="adj" fmla="val 12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7" name="proof-4">
            <a:extLst xmlns:a="http://schemas.openxmlformats.org/drawingml/2006/main">
              <a:ext uri="{FF2B5EF4-FFF2-40B4-BE49-F238E27FC236}">
                <a16:creationId xmlns:a16="http://schemas.microsoft.com/office/drawing/2014/main" id="{6140D164-A542-459C-95A7-B391E63E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8" name="proof-4-label">
            <a:extLst xmlns:a="http://schemas.openxmlformats.org/drawingml/2006/main">
              <a:ext uri="{FF2B5EF4-FFF2-40B4-BE49-F238E27FC236}">
                <a16:creationId xmlns:a16="http://schemas.microsoft.com/office/drawing/2014/main" id="{DBE31D07-41D0-454E-AC57-0589FB05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位真實玩家</a:t>
            </a:r>
          </a:p>
        </p:txBody>
      </p:sp>
      <p:sp>
        <p:nvSpPr>
          <p:cNvPr id="9" name="proof-divider-1">
            <a:extLst xmlns:a="http://schemas.openxmlformats.org/drawingml/2006/main">
              <a:ext uri="{FF2B5EF4-FFF2-40B4-BE49-F238E27FC236}">
                <a16:creationId xmlns:a16="http://schemas.microsoft.com/office/drawing/2014/main" id="{F8063A82-1F0D-46D8-B51D-B2171C54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0" name="proof-rounds">
            <a:extLst xmlns:a="http://schemas.openxmlformats.org/drawingml/2006/main">
              <a:ext uri="{FF2B5EF4-FFF2-40B4-BE49-F238E27FC236}">
                <a16:creationId xmlns:a16="http://schemas.microsoft.com/office/drawing/2014/main" id="{ADBC221F-84E9-4226-815E-E7512FD8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4 回合</a:t>
            </a:r>
          </a:p>
        </p:txBody>
      </p:sp>
      <p:sp>
        <p:nvSpPr>
          <p:cNvPr id="11" name="proof-result">
            <a:extLst xmlns:a="http://schemas.openxmlformats.org/drawingml/2006/main">
              <a:ext uri="{FF2B5EF4-FFF2-40B4-BE49-F238E27FC236}">
                <a16:creationId xmlns:a16="http://schemas.microsoft.com/office/drawing/2014/main" id="{A56F136F-79D6-4512-882F-82BDDCD4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結局完成</a:t>
            </a:r>
          </a:p>
        </p:txBody>
      </p:sp>
      <p:sp>
        <p:nvSpPr>
          <p:cNvPr id="12" name="proof-divider-2">
            <a:extLst xmlns:a="http://schemas.openxmlformats.org/drawingml/2006/main">
              <a:ext uri="{FF2B5EF4-FFF2-40B4-BE49-F238E27FC236}">
                <a16:creationId xmlns:a16="http://schemas.microsoft.com/office/drawing/2014/main" id="{6E6973DA-63EB-48AC-A5BB-51CBBF20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3" name="proof-pass">
            <a:extLst xmlns:a="http://schemas.openxmlformats.org/drawingml/2006/main">
              <a:ext uri="{FF2B5EF4-FFF2-40B4-BE49-F238E27FC236}">
                <a16:creationId xmlns:a16="http://schemas.microsoft.com/office/drawing/2014/main" id="{72426F0C-9B23-4709-A2FE-5B47B68A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339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PASS</a:t>
            </a:r>
          </a:p>
        </p:txBody>
      </p:sp>
      <p:sp>
        <p:nvSpPr>
          <p:cNvPr id="14" name="proof-platforms">
            <a:extLst xmlns:a="http://schemas.openxmlformats.org/drawingml/2006/main">
              <a:ext uri="{FF2B5EF4-FFF2-40B4-BE49-F238E27FC236}">
                <a16:creationId xmlns:a16="http://schemas.microsoft.com/office/drawing/2014/main" id="{315E6B1E-53BE-4EFB-8A57-CAEF0442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62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iPhone · macOS · Windows</a:t>
            </a:r>
          </a:p>
        </p:txBody>
      </p:sp>
    </p:spTree>
    <p:extLst>
      <p:ext uri="{BB962C8B-B14F-4D97-AF65-F5344CB8AC3E}">
        <p14:creationId xmlns:p14="http://schemas.microsoft.com/office/powerpoint/2010/main" val="1523152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8a8a51a714df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60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ddec7ffe240d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18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7">
            <a:extLst xmlns:a="http://schemas.openxmlformats.org/drawingml/2006/main">
              <a:ext uri="{FF2B5EF4-FFF2-40B4-BE49-F238E27FC236}">
                <a16:creationId xmlns:a16="http://schemas.microsoft.com/office/drawing/2014/main" id="{C9FD122B-67AE-45E4-91A7-3D188F97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06  GOVERNANCE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A33E6BA-1FC0-4BB7-83F2-0CFD3350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安全與成本不是附註，而是架構輸入</a:t>
            </a:r>
          </a:p>
        </p:txBody>
      </p:sp>
      <p:sp>
        <p:nvSpPr>
          <p:cNvPr id="3" name="title-line-7">
            <a:extLst xmlns:a="http://schemas.openxmlformats.org/drawingml/2006/main">
              <a:ext uri="{FF2B5EF4-FFF2-40B4-BE49-F238E27FC236}">
                <a16:creationId xmlns:a16="http://schemas.microsoft.com/office/drawing/2014/main" id="{51856755-7C88-4C6F-B7CE-31D42A1C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B3BEE4B7-7103-47DC-BE85-EF1A4BD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dc5732ecc4034">
            <a:extLst>
              <a:ext uri="{96DAC541-7B7A-43D3-8B79-37D633B846F1}">
                <asvg:svgBlip xmlns:asvg="http://schemas.microsoft.com/office/drawing/2016/SVG/main" r:embed="R3f4e1c817ca241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3000" y="20955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6" name="gov-title-0">
            <a:extLst xmlns:a="http://schemas.openxmlformats.org/drawingml/2006/main">
              <a:ext uri="{FF2B5EF4-FFF2-40B4-BE49-F238E27FC236}">
                <a16:creationId xmlns:a16="http://schemas.microsoft.com/office/drawing/2014/main" id="{0535D859-D452-4AD1-BFC5-9BB7A215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623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免 SSH</a:t>
            </a:r>
          </a:p>
        </p:txBody>
      </p:sp>
      <p:sp>
        <p:nvSpPr>
          <p:cNvPr id="7" name="gov-sub-0">
            <a:extLst xmlns:a="http://schemas.openxmlformats.org/drawingml/2006/main">
              <a:ext uri="{FF2B5EF4-FFF2-40B4-BE49-F238E27FC236}">
                <a16:creationId xmlns:a16="http://schemas.microsoft.com/office/drawing/2014/main" id="{6BFB0BFB-1B62-4F89-A411-8B6497C2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Session Manager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取代 public port 22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0dffe38b24173">
            <a:extLst>
              <a:ext uri="{96DAC541-7B7A-43D3-8B79-37D633B846F1}">
                <asvg:svgBlip xmlns:asvg="http://schemas.microsoft.com/office/drawing/2016/SVG/main" r:embed="R7db055ebf8e745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0" y="20955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9" name="gov-title-1">
            <a:extLst xmlns:a="http://schemas.openxmlformats.org/drawingml/2006/main">
              <a:ext uri="{FF2B5EF4-FFF2-40B4-BE49-F238E27FC236}">
                <a16:creationId xmlns:a16="http://schemas.microsoft.com/office/drawing/2014/main" id="{211BCD90-AA83-4545-98C5-2136A418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623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最小權限</a:t>
            </a:r>
          </a:p>
        </p:txBody>
      </p:sp>
      <p:sp>
        <p:nvSpPr>
          <p:cNvPr id="10" name="gov-sub-1">
            <a:extLst xmlns:a="http://schemas.openxmlformats.org/drawingml/2006/main">
              <a:ext uri="{FF2B5EF4-FFF2-40B4-BE49-F238E27FC236}">
                <a16:creationId xmlns:a16="http://schemas.microsoft.com/office/drawing/2014/main" id="{6213BD4B-DBF3-4A22-AA04-C10CF246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957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private RDS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AppRole 限定資源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51f9645cc4b10">
            <a:extLst>
              <a:ext uri="{96DAC541-7B7A-43D3-8B79-37D633B846F1}">
                <asvg:svgBlip xmlns:asvg="http://schemas.microsoft.com/office/drawing/2016/SVG/main" r:embed="Re90543e6653343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0" y="20955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12" name="gov-title-2">
            <a:extLst xmlns:a="http://schemas.openxmlformats.org/drawingml/2006/main">
              <a:ext uri="{FF2B5EF4-FFF2-40B4-BE49-F238E27FC236}">
                <a16:creationId xmlns:a16="http://schemas.microsoft.com/office/drawing/2014/main" id="{C8A51C00-482B-49BB-8B8C-39A330C5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623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US$1 Budget</a:t>
            </a:r>
          </a:p>
        </p:txBody>
      </p:sp>
      <p:sp>
        <p:nvSpPr>
          <p:cNvPr id="13" name="gov-sub-2">
            <a:extLst xmlns:a="http://schemas.openxmlformats.org/drawingml/2006/main">
              <a:ext uri="{FF2B5EF4-FFF2-40B4-BE49-F238E27FC236}">
                <a16:creationId xmlns:a16="http://schemas.microsoft.com/office/drawing/2014/main" id="{A873C049-692A-4605-BFE6-2143118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EC2／RDS 為主計費面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Logs retention 7 天</a:t>
            </a:r>
          </a:p>
        </p:txBody>
      </p:sp>
      <p:sp>
        <p:nvSpPr>
          <p:cNvPr id="14" name="gov-rule">
            <a:extLst xmlns:a="http://schemas.openxmlformats.org/drawingml/2006/main">
              <a:ext uri="{FF2B5EF4-FFF2-40B4-BE49-F238E27FC236}">
                <a16:creationId xmlns:a16="http://schemas.microsoft.com/office/drawing/2014/main" id="{B7478EE8-F499-47FA-AC2E-97171B1E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5" name="gov-prompt">
            <a:extLst xmlns:a="http://schemas.openxmlformats.org/drawingml/2006/main">
              <a:ext uri="{FF2B5EF4-FFF2-40B4-BE49-F238E27FC236}">
                <a16:creationId xmlns:a16="http://schemas.microsoft.com/office/drawing/2014/main" id="{C35490CD-F593-4E64-9DFC-CEE40F0A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Prompt Injection：前置拒絕 + schema validation</a:t>
            </a:r>
          </a:p>
        </p:txBody>
      </p:sp>
      <p:sp>
        <p:nvSpPr>
          <p:cNvPr id="16" name="gov-omit">
            <a:extLst xmlns:a="http://schemas.openxmlformats.org/drawingml/2006/main">
              <a:ext uri="{FF2B5EF4-FFF2-40B4-BE49-F238E27FC236}">
                <a16:creationId xmlns:a16="http://schemas.microsoft.com/office/drawing/2014/main" id="{6468BD15-5F25-4E39-9BB1-4615EECC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未採用：NAT · ALB · CloudFront · Route 53</a:t>
            </a:r>
          </a:p>
        </p:txBody>
      </p:sp>
    </p:spTree>
    <p:extLst>
      <p:ext uri="{BB962C8B-B14F-4D97-AF65-F5344CB8AC3E}">
        <p14:creationId xmlns:p14="http://schemas.microsoft.com/office/powerpoint/2010/main" val="5718183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816bfc84046a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16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9">
            <a:extLst xmlns:a="http://schemas.openxmlformats.org/drawingml/2006/main">
              <a:ext uri="{FF2B5EF4-FFF2-40B4-BE49-F238E27FC236}">
                <a16:creationId xmlns:a16="http://schemas.microsoft.com/office/drawing/2014/main" id="{5A79BDC0-C42A-4918-9CF8-87313D3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08  EVOLUTION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23E3288-2983-490E-BCE5-B32412C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同一產品，沿 Tier 0–5 累積企業能力</a:t>
            </a:r>
          </a:p>
        </p:txBody>
      </p:sp>
      <p:sp>
        <p:nvSpPr>
          <p:cNvPr id="3" name="title-line-9">
            <a:extLst xmlns:a="http://schemas.openxmlformats.org/drawingml/2006/main">
              <a:ext uri="{FF2B5EF4-FFF2-40B4-BE49-F238E27FC236}">
                <a16:creationId xmlns:a16="http://schemas.microsoft.com/office/drawing/2014/main" id="{ECE965BB-9391-4B9B-BB2F-6EF36802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0E61A1F0-9E8A-48DB-9CD5-5A0F000B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5" name="road">
            <a:extLst xmlns:a="http://schemas.openxmlformats.org/drawingml/2006/main">
              <a:ext uri="{FF2B5EF4-FFF2-40B4-BE49-F238E27FC236}">
                <a16:creationId xmlns:a16="http://schemas.microsoft.com/office/drawing/2014/main" id="{132B5598-E2EA-427E-A623-17A2F0D0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1E8"/>
            </a:solidFill>
            <a:prstDash val="solid"/>
          </a:ln>
        </p:spPr>
      </p:sp>
      <p:sp>
        <p:nvSpPr>
          <p:cNvPr id="6" name="tier-0">
            <a:extLst xmlns:a="http://schemas.openxmlformats.org/drawingml/2006/main">
              <a:ext uri="{FF2B5EF4-FFF2-40B4-BE49-F238E27FC236}">
                <a16:creationId xmlns:a16="http://schemas.microsoft.com/office/drawing/2014/main" id="{E0D023CE-D07D-47BE-8D47-640F831A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er-no-0">
            <a:extLst xmlns:a="http://schemas.openxmlformats.org/drawingml/2006/main">
              <a:ext uri="{FF2B5EF4-FFF2-40B4-BE49-F238E27FC236}">
                <a16:creationId xmlns:a16="http://schemas.microsoft.com/office/drawing/2014/main" id="{40C2A4D9-531C-4BF7-9EDD-380FE043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8" name="tier-label-0">
            <a:extLst xmlns:a="http://schemas.openxmlformats.org/drawingml/2006/main">
              <a:ext uri="{FF2B5EF4-FFF2-40B4-BE49-F238E27FC236}">
                <a16:creationId xmlns:a16="http://schemas.microsoft.com/office/drawing/2014/main" id="{16FCDAFD-6769-474B-A787-74909AFD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可玩雲端</a:t>
            </a:r>
          </a:p>
        </p:txBody>
      </p:sp>
      <p:sp>
        <p:nvSpPr>
          <p:cNvPr id="9" name="tier-1">
            <a:extLst xmlns:a="http://schemas.openxmlformats.org/drawingml/2006/main">
              <a:ext uri="{FF2B5EF4-FFF2-40B4-BE49-F238E27FC236}">
                <a16:creationId xmlns:a16="http://schemas.microsoft.com/office/drawing/2014/main" id="{03B6A0CF-5183-4262-B433-A495FF4E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er-no-1">
            <a:extLst xmlns:a="http://schemas.openxmlformats.org/drawingml/2006/main">
              <a:ext uri="{FF2B5EF4-FFF2-40B4-BE49-F238E27FC236}">
                <a16:creationId xmlns:a16="http://schemas.microsoft.com/office/drawing/2014/main" id="{A0FD7C30-B694-4BD1-A8CE-A7C62287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1" name="tier-label-1">
            <a:extLst xmlns:a="http://schemas.openxmlformats.org/drawingml/2006/main">
              <a:ext uri="{FF2B5EF4-FFF2-40B4-BE49-F238E27FC236}">
                <a16:creationId xmlns:a16="http://schemas.microsoft.com/office/drawing/2014/main" id="{56C82D9C-3285-4C4A-B957-69F1D55C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可觀測維運</a:t>
            </a:r>
          </a:p>
        </p:txBody>
      </p:sp>
      <p:sp>
        <p:nvSpPr>
          <p:cNvPr id="12" name="tier-2">
            <a:extLst xmlns:a="http://schemas.openxmlformats.org/drawingml/2006/main">
              <a:ext uri="{FF2B5EF4-FFF2-40B4-BE49-F238E27FC236}">
                <a16:creationId xmlns:a16="http://schemas.microsoft.com/office/drawing/2014/main" id="{ACE38B72-A6CF-4003-AC7D-12E2631D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3" name="tier-no-2">
            <a:extLst xmlns:a="http://schemas.openxmlformats.org/drawingml/2006/main">
              <a:ext uri="{FF2B5EF4-FFF2-40B4-BE49-F238E27FC236}">
                <a16:creationId xmlns:a16="http://schemas.microsoft.com/office/drawing/2014/main" id="{D6C4B5A1-2382-4815-9505-8531D072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4" name="tier-label-2">
            <a:extLst xmlns:a="http://schemas.openxmlformats.org/drawingml/2006/main">
              <a:ext uri="{FF2B5EF4-FFF2-40B4-BE49-F238E27FC236}">
                <a16:creationId xmlns:a16="http://schemas.microsoft.com/office/drawing/2014/main" id="{A0B7D662-43B8-4325-AFF0-5CC4D7F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元件隔離</a:t>
            </a:r>
          </a:p>
        </p:txBody>
      </p:sp>
      <p:sp>
        <p:nvSpPr>
          <p:cNvPr id="15" name="tier-3">
            <a:extLst xmlns:a="http://schemas.openxmlformats.org/drawingml/2006/main">
              <a:ext uri="{FF2B5EF4-FFF2-40B4-BE49-F238E27FC236}">
                <a16:creationId xmlns:a16="http://schemas.microsoft.com/office/drawing/2014/main" id="{C48111BE-6CAB-4FAE-B163-F582CBA2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6" name="tier-no-3">
            <a:extLst xmlns:a="http://schemas.openxmlformats.org/drawingml/2006/main">
              <a:ext uri="{FF2B5EF4-FFF2-40B4-BE49-F238E27FC236}">
                <a16:creationId xmlns:a16="http://schemas.microsoft.com/office/drawing/2014/main" id="{F4A09240-5D9A-410B-A74E-9979FFFC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7" name="tier-label-3">
            <a:extLst xmlns:a="http://schemas.openxmlformats.org/drawingml/2006/main">
              <a:ext uri="{FF2B5EF4-FFF2-40B4-BE49-F238E27FC236}">
                <a16:creationId xmlns:a16="http://schemas.microsoft.com/office/drawing/2014/main" id="{42998EDC-A92C-4859-8592-8EFCEB6D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自動交付</a:t>
            </a:r>
          </a:p>
        </p:txBody>
      </p:sp>
      <p:sp>
        <p:nvSpPr>
          <p:cNvPr id="18" name="tier-4">
            <a:extLst xmlns:a="http://schemas.openxmlformats.org/drawingml/2006/main">
              <a:ext uri="{FF2B5EF4-FFF2-40B4-BE49-F238E27FC236}">
                <a16:creationId xmlns:a16="http://schemas.microsoft.com/office/drawing/2014/main" id="{CAAF064C-ABDA-45C2-8B79-33211513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9" name="tier-no-4">
            <a:extLst xmlns:a="http://schemas.openxmlformats.org/drawingml/2006/main">
              <a:ext uri="{FF2B5EF4-FFF2-40B4-BE49-F238E27FC236}">
                <a16:creationId xmlns:a16="http://schemas.microsoft.com/office/drawing/2014/main" id="{1C5DADB8-F733-440F-AF69-C4103549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0" name="tier-label-4">
            <a:extLst xmlns:a="http://schemas.openxmlformats.org/drawingml/2006/main">
              <a:ext uri="{FF2B5EF4-FFF2-40B4-BE49-F238E27FC236}">
                <a16:creationId xmlns:a16="http://schemas.microsoft.com/office/drawing/2014/main" id="{D94A00C6-AC7A-4969-B1A6-A1D670E5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微服務</a:t>
            </a:r>
          </a:p>
        </p:txBody>
      </p:sp>
      <p:sp>
        <p:nvSpPr>
          <p:cNvPr id="21" name="tier-5">
            <a:extLst xmlns:a="http://schemas.openxmlformats.org/drawingml/2006/main">
              <a:ext uri="{FF2B5EF4-FFF2-40B4-BE49-F238E27FC236}">
                <a16:creationId xmlns:a16="http://schemas.microsoft.com/office/drawing/2014/main" id="{7981DFDE-A1FE-4448-9BB0-AA6CD01B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2" name="tier-no-5">
            <a:extLst xmlns:a="http://schemas.openxmlformats.org/drawingml/2006/main">
              <a:ext uri="{FF2B5EF4-FFF2-40B4-BE49-F238E27FC236}">
                <a16:creationId xmlns:a16="http://schemas.microsoft.com/office/drawing/2014/main" id="{BA342E5A-C79D-4DA5-B33D-D998234D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3" name="tier-label-5">
            <a:extLst xmlns:a="http://schemas.openxmlformats.org/drawingml/2006/main">
              <a:ext uri="{FF2B5EF4-FFF2-40B4-BE49-F238E27FC236}">
                <a16:creationId xmlns:a16="http://schemas.microsoft.com/office/drawing/2014/main" id="{2D32E78E-58C1-4F7D-AD07-3621D350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Agentic AI</a:t>
            </a:r>
          </a:p>
        </p:txBody>
      </p:sp>
      <p:sp>
        <p:nvSpPr>
          <p:cNvPr id="24" name="road-now">
            <a:extLst xmlns:a="http://schemas.openxmlformats.org/drawingml/2006/main">
              <a:ext uri="{FF2B5EF4-FFF2-40B4-BE49-F238E27FC236}">
                <a16:creationId xmlns:a16="http://schemas.microsoft.com/office/drawing/2014/main" id="{7546A327-6E73-4E7D-98AA-04120E97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現在：Tier 0 已完成，Tier 1 正向可觀測路徑已通過</a:t>
            </a:r>
          </a:p>
        </p:txBody>
      </p:sp>
      <p:sp>
        <p:nvSpPr>
          <p:cNvPr id="25" name="road-rule">
            <a:extLst xmlns:a="http://schemas.openxmlformats.org/drawingml/2006/main">
              <a:ext uri="{FF2B5EF4-FFF2-40B4-BE49-F238E27FC236}">
                <a16:creationId xmlns:a16="http://schemas.microsoft.com/office/drawing/2014/main" id="{3155E7B4-F45A-40BF-B29A-120C89BF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每一層都保留可運作成果、架構理由與 AWS 驗證。</a:t>
            </a:r>
          </a:p>
        </p:txBody>
      </p:sp>
      <p:sp>
        <p:nvSpPr>
          <p:cNvPr id="26" name="road-gate">
            <a:extLst xmlns:a="http://schemas.openxmlformats.org/drawingml/2006/main">
              <a:ext uri="{FF2B5EF4-FFF2-40B4-BE49-F238E27FC236}">
                <a16:creationId xmlns:a16="http://schemas.microsoft.com/office/drawing/2014/main" id="{3931BF37-D280-42F8-ABE2-E2F836FB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不為堆服務而擴張；只在價值、成本與證據成立時前進。</a:t>
            </a:r>
          </a:p>
        </p:txBody>
      </p:sp>
    </p:spTree>
    <p:extLst>
      <p:ext uri="{BB962C8B-B14F-4D97-AF65-F5344CB8AC3E}">
        <p14:creationId xmlns:p14="http://schemas.microsoft.com/office/powerpoint/2010/main" val="1368556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5F211D5E-F1DF-4D08-BA7E-A51B6841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PORTFOLIO VALUE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3F17B42-49CC-4805-AF91-EB5BCC88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我不是把功能搬上雲，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而是把產品、風險與維運一起設計。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907C542A-8D90-429F-8F7B-75168EF6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close-big-0">
            <a:extLst xmlns:a="http://schemas.openxmlformats.org/drawingml/2006/main">
              <a:ext uri="{FF2B5EF4-FFF2-40B4-BE49-F238E27FC236}">
                <a16:creationId xmlns:a16="http://schemas.microsoft.com/office/drawing/2014/main" id="{7AEE70F0-9000-488A-BAE4-BC238534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產品</a:t>
            </a:r>
          </a:p>
        </p:txBody>
      </p:sp>
      <p:sp>
        <p:nvSpPr>
          <p:cNvPr id="5" name="close-sub-0">
            <a:extLst xmlns:a="http://schemas.openxmlformats.org/drawingml/2006/main">
              <a:ext uri="{FF2B5EF4-FFF2-40B4-BE49-F238E27FC236}">
                <a16:creationId xmlns:a16="http://schemas.microsoft.com/office/drawing/2014/main" id="{BA1387AD-161C-4D0B-8C29-50CBA4E6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多人共同決策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可玩閉環與真實驗證</a:t>
            </a:r>
          </a:p>
        </p:txBody>
      </p:sp>
      <p:sp>
        <p:nvSpPr>
          <p:cNvPr id="6" name="close-big-1">
            <a:extLst xmlns:a="http://schemas.openxmlformats.org/drawingml/2006/main">
              <a:ext uri="{FF2B5EF4-FFF2-40B4-BE49-F238E27FC236}">
                <a16:creationId xmlns:a16="http://schemas.microsoft.com/office/drawing/2014/main" id="{99982D59-8AD2-43C1-B3E1-3084B7DC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雲端工程</a:t>
            </a:r>
          </a:p>
        </p:txBody>
      </p:sp>
      <p:sp>
        <p:nvSpPr>
          <p:cNvPr id="7" name="close-sub-1">
            <a:extLst xmlns:a="http://schemas.openxmlformats.org/drawingml/2006/main">
              <a:ext uri="{FF2B5EF4-FFF2-40B4-BE49-F238E27FC236}">
                <a16:creationId xmlns:a16="http://schemas.microsoft.com/office/drawing/2014/main" id="{FC4DFF54-5AF0-4999-852E-3E2E3274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IaC · private data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SSM · CloudWatch</a:t>
            </a:r>
          </a:p>
        </p:txBody>
      </p:sp>
      <p:sp>
        <p:nvSpPr>
          <p:cNvPr id="8" name="close-big-2">
            <a:extLst xmlns:a="http://schemas.openxmlformats.org/drawingml/2006/main">
              <a:ext uri="{FF2B5EF4-FFF2-40B4-BE49-F238E27FC236}">
                <a16:creationId xmlns:a16="http://schemas.microsoft.com/office/drawing/2014/main" id="{67B4C4DF-2437-41A8-88BF-DBBFC4D1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持續演進</a:t>
            </a:r>
          </a:p>
        </p:txBody>
      </p:sp>
      <p:sp>
        <p:nvSpPr>
          <p:cNvPr id="9" name="close-sub-2">
            <a:extLst xmlns:a="http://schemas.openxmlformats.org/drawingml/2006/main">
              <a:ext uri="{FF2B5EF4-FFF2-40B4-BE49-F238E27FC236}">
                <a16:creationId xmlns:a16="http://schemas.microsoft.com/office/drawing/2014/main" id="{595C4C21-46A1-4140-81FD-FD77FF8F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CI/CD · 微服務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RAG · Agentic AI</a:t>
            </a:r>
          </a:p>
        </p:txBody>
      </p:sp>
      <p:sp>
        <p:nvSpPr>
          <p:cNvPr id="10" name="close-next">
            <a:extLst xmlns:a="http://schemas.openxmlformats.org/drawingml/2006/main">
              <a:ext uri="{FF2B5EF4-FFF2-40B4-BE49-F238E27FC236}">
                <a16:creationId xmlns:a16="http://schemas.microsoft.com/office/drawing/2014/main" id="{4DB4BA11-B8AC-4141-AB93-1E4C0C2F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e-next-copy">
            <a:extLst xmlns:a="http://schemas.openxmlformats.org/drawingml/2006/main">
              <a:ext uri="{FF2B5EF4-FFF2-40B4-BE49-F238E27FC236}">
                <a16:creationId xmlns:a16="http://schemas.microsoft.com/office/drawing/2014/main" id="{41F6E969-5EEB-4ADE-AA6D-ADA031A6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下一步：5xx alarm → recovery → AIOps incident</a:t>
            </a:r>
          </a:p>
        </p:txBody>
      </p:sp>
    </p:spTree>
    <p:extLst>
      <p:ext uri="{BB962C8B-B14F-4D97-AF65-F5344CB8AC3E}">
        <p14:creationId xmlns:p14="http://schemas.microsoft.com/office/powerpoint/2010/main" val="484334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2026-08-24T06:07:59.6390000Z</dcterms:created>
  <dcterms:modified xsi:type="dcterms:W3CDTF">2026-08-24T06:07:59.6390000Z</dcterms:modified>
</coreProperties>
</file>