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493abab194d90" /><Relationship Type="http://schemas.openxmlformats.org/officeDocument/2006/relationships/extended-properties" Target="/docProps/app.xml" Id="R507e42e4cfee4efd" /><Relationship Type="http://schemas.openxmlformats.org/officeDocument/2006/relationships/officeDocument" Target="/ppt/presentation.xml" Id="R2e7b32f61b2049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d55cf9156a4832"/>
  </p:sldMasterIdLst>
  <p:notesMasterIdLst>
    <p:notesMasterId xmlns:r="http://schemas.openxmlformats.org/officeDocument/2006/relationships" r:id="Rc48250ee598e41ad"/>
  </p:notesMasterIdLst>
  <p:sldIdLst>
    <p:sldId xmlns:r="http://schemas.openxmlformats.org/officeDocument/2006/relationships" id="256" r:id="R45ba2453dd324cb9"/>
    <p:sldId xmlns:r="http://schemas.openxmlformats.org/officeDocument/2006/relationships" id="257" r:id="Reca568cdd13b4150"/>
    <p:sldId xmlns:r="http://schemas.openxmlformats.org/officeDocument/2006/relationships" id="258" r:id="R5906de1424cb4a2d"/>
    <p:sldId xmlns:r="http://schemas.openxmlformats.org/officeDocument/2006/relationships" id="259" r:id="R194a57398b2f4fca"/>
    <p:sldId xmlns:r="http://schemas.openxmlformats.org/officeDocument/2006/relationships" id="260" r:id="R6f0d5eacf5654da9"/>
    <p:sldId xmlns:r="http://schemas.openxmlformats.org/officeDocument/2006/relationships" id="261" r:id="R697afd8a68204b57"/>
    <p:sldId xmlns:r="http://schemas.openxmlformats.org/officeDocument/2006/relationships" id="262" r:id="Rc8285a96dfcd44e4"/>
    <p:sldId xmlns:r="http://schemas.openxmlformats.org/officeDocument/2006/relationships" id="263" r:id="Rdfd3b1753ae4489f"/>
    <p:sldId xmlns:r="http://schemas.openxmlformats.org/officeDocument/2006/relationships" id="264" r:id="R8cf5ae8754b141c7"/>
    <p:sldId xmlns:r="http://schemas.openxmlformats.org/officeDocument/2006/relationships" id="265" r:id="R8cf5dcf753b9498d"/>
    <p:sldId xmlns:r="http://schemas.openxmlformats.org/officeDocument/2006/relationships" id="266" r:id="R4a5389aef22c43ec"/>
    <p:sldId xmlns:r="http://schemas.openxmlformats.org/officeDocument/2006/relationships" id="267" r:id="R70d3e01e100343d3"/>
    <p:sldId xmlns:r="http://schemas.openxmlformats.org/officeDocument/2006/relationships" id="268" r:id="R13e895f5e22f41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a8d799e46741a1" /><Relationship Type="http://schemas.openxmlformats.org/officeDocument/2006/relationships/slideMaster" Target="/ppt/slideMasters/slideMaster1.xml" Id="R6ad55cf9156a4832" /><Relationship Type="http://schemas.openxmlformats.org/officeDocument/2006/relationships/notesMaster" Target="/ppt/notesMasters/notesMaster1.xml" Id="Rc48250ee598e41ad" /><Relationship Type="http://schemas.openxmlformats.org/officeDocument/2006/relationships/presProps" Target="/ppt/presProps.xml" Id="R6db83d85d6b743fe" /><Relationship Type="http://schemas.openxmlformats.org/officeDocument/2006/relationships/tableStyles" Target="/ppt/tableStyles.xml" Id="Rada7e1a86fcc4620" /><Relationship Type="http://schemas.openxmlformats.org/officeDocument/2006/relationships/slide" Target="/ppt/slides/slide1.xml" Id="R45ba2453dd324cb9" /><Relationship Type="http://schemas.openxmlformats.org/officeDocument/2006/relationships/slide" Target="/ppt/slides/slide2.xml" Id="Reca568cdd13b4150" /><Relationship Type="http://schemas.openxmlformats.org/officeDocument/2006/relationships/slide" Target="/ppt/slides/slide3.xml" Id="R5906de1424cb4a2d" /><Relationship Type="http://schemas.openxmlformats.org/officeDocument/2006/relationships/slide" Target="/ppt/slides/slide4.xml" Id="R194a57398b2f4fca" /><Relationship Type="http://schemas.openxmlformats.org/officeDocument/2006/relationships/slide" Target="/ppt/slides/slide5.xml" Id="R6f0d5eacf5654da9" /><Relationship Type="http://schemas.openxmlformats.org/officeDocument/2006/relationships/slide" Target="/ppt/slides/slide6.xml" Id="R697afd8a68204b57" /><Relationship Type="http://schemas.openxmlformats.org/officeDocument/2006/relationships/slide" Target="/ppt/slides/slide7.xml" Id="Rc8285a96dfcd44e4" /><Relationship Type="http://schemas.openxmlformats.org/officeDocument/2006/relationships/slide" Target="/ppt/slides/slide8.xml" Id="Rdfd3b1753ae4489f" /><Relationship Type="http://schemas.openxmlformats.org/officeDocument/2006/relationships/slide" Target="/ppt/slides/slide9.xml" Id="R8cf5ae8754b141c7" /><Relationship Type="http://schemas.openxmlformats.org/officeDocument/2006/relationships/slide" Target="/ppt/slides/slide10.xml" Id="R8cf5dcf753b9498d" /><Relationship Type="http://schemas.openxmlformats.org/officeDocument/2006/relationships/slide" Target="/ppt/slides/slide11.xml" Id="R4a5389aef22c43ec" /><Relationship Type="http://schemas.openxmlformats.org/officeDocument/2006/relationships/slide" Target="/ppt/slides/slide12.xml" Id="R70d3e01e100343d3" /><Relationship Type="http://schemas.openxmlformats.org/officeDocument/2006/relationships/slide" Target="/ppt/slides/slide13.xml" Id="R13e895f5e22f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c28a213c16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96fe1a13454a76" /><Relationship Type="http://schemas.openxmlformats.org/officeDocument/2006/relationships/notesMaster" Target="/ppt/notesMasters/notesMaster1.xml" Id="R96845a08720f43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ceeb996d854555" /><Relationship Type="http://schemas.openxmlformats.org/officeDocument/2006/relationships/notesMaster" Target="/ppt/notesMasters/notesMaster1.xml" Id="R2df3fdddc3b742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c643b42fe14aed" /><Relationship Type="http://schemas.openxmlformats.org/officeDocument/2006/relationships/notesMaster" Target="/ppt/notesMasters/notesMaster1.xml" Id="R2467d425ae05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5c4cf423aa4bb7" /><Relationship Type="http://schemas.openxmlformats.org/officeDocument/2006/relationships/notesMaster" Target="/ppt/notesMasters/notesMaster1.xml" Id="Rea18f56912e94c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1c56ca45ee4fbf" /><Relationship Type="http://schemas.openxmlformats.org/officeDocument/2006/relationships/notesMaster" Target="/ppt/notesMasters/notesMaster1.xml" Id="Re8af411b02454b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34984b77394c87" /><Relationship Type="http://schemas.openxmlformats.org/officeDocument/2006/relationships/notesMaster" Target="/ppt/notesMasters/notesMaster1.xml" Id="R404999080f9548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d92960a513496d" /><Relationship Type="http://schemas.openxmlformats.org/officeDocument/2006/relationships/notesMaster" Target="/ppt/notesMasters/notesMaster1.xml" Id="Rc28c26b4bb6440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ca1601a8c5401f" /><Relationship Type="http://schemas.openxmlformats.org/officeDocument/2006/relationships/notesMaster" Target="/ppt/notesMasters/notesMaster1.xml" Id="Rd31b9dffbb5446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8f2df5e4c8447e" /><Relationship Type="http://schemas.openxmlformats.org/officeDocument/2006/relationships/notesMaster" Target="/ppt/notesMasters/notesMaster1.xml" Id="R152d852950db46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fd9a2b543483a" /><Relationship Type="http://schemas.openxmlformats.org/officeDocument/2006/relationships/notesMaster" Target="/ppt/notesMasters/notesMaster1.xml" Id="R7f327a12e12444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9897ae8e16410e" /><Relationship Type="http://schemas.openxmlformats.org/officeDocument/2006/relationships/notesMaster" Target="/ppt/notesMasters/notesMaster1.xml" Id="R473aa7297e7e4f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1a14f25fa54a36" /><Relationship Type="http://schemas.openxmlformats.org/officeDocument/2006/relationships/notesMaster" Target="/ppt/notesMasters/notesMaster1.xml" Id="R66892cf9875946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d541e3a2db4b9c" /><Relationship Type="http://schemas.openxmlformats.org/officeDocument/2006/relationships/notesMaster" Target="/ppt/notesMasters/notesMaster1.xml" Id="R8498868244c449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開場先說明本次報告的範圍：不是最終成果，而是第一次進度檢視。重點是 Tier 0 已經從規格與本機測試，推進到 AWS 上可供四位玩家完成四回合與結局。後續所有 Tier 都會沿用同一個產品繼續演進。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工程師培訓期末專題/docs/handoffs/CURRENT.md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收到專題說明後，先整理每個 Tier 代表的技術展示與驗證場景，再尋找可以一路演進的題材。Tier 0–5 是同一題目的累積路線：先能運作，再加入可觀測性、元件切割、自動部署、微服務與 Agentic AI。這個思路避免每一層換一個不相干的 Demo。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工程師培訓期末專題/docs/course-requirements-alignment.md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共演計劃解決三個層次的問題。產品層是多人遠端共創；系統層是同步狀態與權限；AI 層是讓模型生成故事，但不能任意修改規則。這個結構也能延伸到企業培訓、情境模擬、產品導覽與共創工作坊，因此 AWS 服務的選擇可以對應實際商業需求。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工程師培訓期末專題/docs/product/source-of-truth.md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這張是實際 AWS 公開試玩的 Round 2 畫面。四位玩家使用不同裝置，完成世界生成、四個角色、四回合、AI 敘事、結局與刪房。匿名玩家名稱可直接保留；房間代碼已遮蔽。本輪判定 PASS with findings，代表核心流程成立，同時也留下可量化的改善項目。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/Users/ming/.codex/generated_images/01a021fa-5484-73f3-ba18-d39111367d83/exec-87af8d3d-96d1-419b-b526-11f759a56cc6.png</a:t>
            </a:r>
          </a:p>
          <a:p xmlns:a="http://schemas.openxmlformats.org/drawingml/2006/main">
            <a:r>
              <a:t>- /Users/ming/Documents/AWS 工程師培訓期末專題/docs/evidence/2026-08-20-tier0-four-player-trial/validation.md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前端採 Clean Architecture。UI 只呼叫 use case，use case 依賴 GameApi port，正式環境由 FetchGameApi 實作同源 /api/v1；本機則可切換 MockGameApi。瀏覽器不持有 AWS SDK、Access Key 或後端 secret，也不直接呼叫 RDS、Bedrock、SSM 或 CloudWatch。這讓後端未來改成 SQS、ECS 或微服務時，前端流程仍能維持穩定。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工程師培訓期末專題/docs/architecture/frontend-clean-architecture.md</a:t>
            </a:r>
          </a:p>
          <a:p xmlns:a="http://schemas.openxmlformats.org/drawingml/2006/main">
            <a:r>
              <a:t>- /Users/ming/Documents/AWS 工程師培訓期末專題/docs/decisions/0002-adopt-clean-frontend-architecture.md</a:t>
            </a:r>
          </a:p>
          <a:p xmlns:a="http://schemas.openxmlformats.org/drawingml/2006/main">
            <a:r>
              <a:t>- /Users/ming/Documents/AWS 工程師培訓期末專題/web/src/composition/bootstrap.js</a:t>
            </a:r>
          </a:p>
          <a:p xmlns:a="http://schemas.openxmlformats.org/drawingml/2006/main">
            <a:r>
              <a:t>- /Users/ming/Documents/AWS 工程師培訓期末專題/web/src/adapters/api/fetch-game-api.js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後端由 FastAPI 接收 API，RoomService 統一 session、房間生命週期與應用流程，Domain Rules 決定骰子、進度、危機與結局。Repository port 在 production 接 PostgresRoomRepository，Storyteller port 接 Amazon Bedrock。RDS 保存 canonical room aggregate；Bedrock 只能根據後端判定生成敘事，不能直接修改遊戲狀態。CloudWatch、Secrets 與 SSM則負責可觀測、secret 注入及免 SSH 維運。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工程師培訓期末專題/backend/app/main.py</a:t>
            </a:r>
          </a:p>
          <a:p xmlns:a="http://schemas.openxmlformats.org/drawingml/2006/main">
            <a:r>
              <a:t>- /Users/ming/Documents/AWS 工程師培訓期末專題/backend/app/application/room_service.py</a:t>
            </a:r>
          </a:p>
          <a:p xmlns:a="http://schemas.openxmlformats.org/drawingml/2006/main">
            <a:r>
              <a:t>- /Users/ming/Documents/AWS 工程師培訓期末專題/backend/app/adapters/postgres_room_repository.py</a:t>
            </a:r>
          </a:p>
          <a:p xmlns:a="http://schemas.openxmlformats.org/drawingml/2006/main">
            <a:r>
              <a:t>- /Users/ming/Documents/AWS 工程師培訓期末專題/backend/app/adapters/bedrock_storyteller.py</a:t>
            </a:r>
          </a:p>
          <a:p xmlns:a="http://schemas.openxmlformats.org/drawingml/2006/main">
            <a:r>
              <a:t>- /Users/ming/Documents/AWS 工程師培訓期末專題/docs/decisions/0003-adopt-postgresql-room-aggregate-repository.md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目前部署在 Tokyo Region。玩家透過公開 HTTPS 進入 public subnet 的 EC2，由 Nginx 反向代理到 FastAPI。FastAPI 只透過 private network 連接 RDS PostgreSQL，5432 僅接受 App Security Group；應用 role 呼叫限定的 Nova Lite 與 Guardrail。人員維運走 Systems Manager，不開 SSH；CloudWatch 收集 EC2、RDS 與 Bedrock 基礎 metrics。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工程師培訓期末專題/docs/reports/.build-assets/current-architecture-orthogonal.png</a:t>
            </a:r>
          </a:p>
          <a:p xmlns:a="http://schemas.openxmlformats.org/drawingml/2006/main">
            <a:r>
              <a:t>- /Users/ming/Documents/AWS 工程師培訓期末專題/docs/handoffs/CURRENT.md</a:t>
            </a:r>
          </a:p>
          <a:p xmlns:a="http://schemas.openxmlformats.org/drawingml/2006/main">
            <a:r>
              <a:t>- /Users/ming/Documents/AWS 工程師培訓期末專題/docs/architecture/tier0-aws-change-envelope.md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這一頁直接對應 Tier 0 的審核重點。第一是 Web 與 DB 分離、公私 subnet 與 SG-to-SG 的 5432 邊界；第二是重啟 FastAPI 後，同一 session 仍能從 PostgreSQL 讀回相同 room、status 與 version；第三是以 CloudFormation 建立 Network、Compute、RDS、Artifacts 與 Secrets stacks，透過 Change Set、rollback 與完成狀態降低手動漂移。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工程師培訓期末專題/docs/reports/.build-assets/tier0-restart-persistence.png</a:t>
            </a:r>
          </a:p>
          <a:p xmlns:a="http://schemas.openxmlformats.org/drawingml/2006/main">
            <a:r>
              <a:t>- /Users/ming/Documents/AWS 工程師培訓期末專題/docs/screenshots/phase0-tier0-compute-stack-create-complete.png</a:t>
            </a:r>
          </a:p>
          <a:p xmlns:a="http://schemas.openxmlformats.org/drawingml/2006/main">
            <a:r>
              <a:t>- /Users/ming/Documents/AWS 工程師培訓期末專題/docs/evidence/2026-08-16-tier0-internal-staging/validation.md</a:t>
            </a:r>
          </a:p>
          <a:p xmlns:a="http://schemas.openxmlformats.org/drawingml/2006/main">
            <a:r>
              <a:t>- /Users/ming/Documents/AWS 工程師培訓期末專題/infra/cloudformation/tier0-network.yaml</a:t>
            </a:r>
          </a:p>
          <a:p xmlns:a="http://schemas.openxmlformats.org/drawingml/2006/main">
            <a:r>
              <a:t>- /Users/ming/Documents/AWS 工程師培訓期末專題/infra/cloudformation/tier0-compute.yaml</a:t>
            </a:r>
          </a:p>
          <a:p xmlns:a="http://schemas.openxmlformats.org/drawingml/2006/main">
            <a:r>
              <a:t>- /Users/ming/Documents/AWS 工程師培訓期末專題/infra/cloudformation/tier0-rds.yaml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安全方面，EC2 不開 SSH，應用程式 role 只允許指定的 model、Guardrail 與 secret，RDS 只接受 App Security Group。Prompt Injection 放在第一階段作為基礎風險，但不誇大成果：application-layer 前置拒絕與 schema validation 已驗證，代表性 Guardrail 測試得到 SCHEMA_INVALID，因此尚不能宣稱 Guardrail intervention 成功。成本方面，Budget 是告警，不是自動關機；EC2 與 RDS 是主要持續計費面，完成展示後應停止或清理。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工程師培訓期末專題/docs/screenshots/phase0-tier0-batch0-budget-status.png</a:t>
            </a:r>
          </a:p>
          <a:p xmlns:a="http://schemas.openxmlformats.org/drawingml/2006/main">
            <a:r>
              <a:t>- /Users/ming/Documents/AWS 工程師培訓期末專題/docs/handoffs/CURRENT.md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工程師培訓期末專題/docs/architecture/tier0-aws-change-envelope.md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CloudWatch 顯示六次 Nova Lite invocation，與一次世界生成、四回合敘事及一次結局一致。六次呼叫的加權平均 latency 約 1,940 ms；input tokens 3,018、output tokens 1,549。EC2 CPU 峰值只有約 1.8133%，RDS 有非零連線，HTTP 5xx 為 0。這些結果支持 Tier 0 的可運作性，但樣本量仍小，不能推論容量上限。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工程師培訓期末專題/docs/evidence/2026-08-20-tier0-four-player-trial/validation.md</a:t>
            </a:r>
          </a:p>
          <a:p xmlns:a="http://schemas.openxmlformats.org/drawingml/2006/main">
            <a:r>
              <a:t>- /Users/ming/Documents/AWS 工程師培訓期末專題/docs/evidence/2026-08-20-tier0-four-player-trial/bedrock-invocation-latency.png</a:t>
            </a:r>
          </a:p>
          <a:p xmlns:a="http://schemas.openxmlformats.org/drawingml/2006/main">
            <a:r>
              <a:t>- /Users/ming/Documents/AWS 工程師培訓期末專題/docs/evidence/2026-08-20-tier0-four-player-trial/ec2-cpu-utilization.png</a:t>
            </a:r>
          </a:p>
          <a:p xmlns:a="http://schemas.openxmlformats.org/drawingml/2006/main">
            <a:r>
              <a:t>- /Users/ming/Documents/AWS 工程師培訓期末專題/docs/evidence/2026-08-20-tier0-four-player-trial/rds-database-connections.png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最明確的量化問題是刪房後的 polling lifecycle：DELETE 回 204，但舊分頁在 24 秒後開始持續查詢，產生 317 次 404。另有原始 JavaScript exception、iPhone Safari 同步不穩、回合上限回到預設值，以及敘事深度不足。前三項會以 TDD 進行重現與修正；敘事品質先列為 post-MVP Prompt 優化。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工程師培訓期末專題/docs/evidence/2026-08-20-tier0-four-player-trial/validation.md</a:t>
            </a:r>
          </a:p>
          <a:p xmlns:a="http://schemas.openxmlformats.org/drawingml/2006/main">
            <a:r>
              <a:t>- /Users/ming/Documents/AWS 工程師培訓期末專題/docs/evidence/2026-08-20-tier0-four-player-trial/trial-observations.md</a:t>
            </a:r>
          </a:p>
          <a:p xmlns:a="http://schemas.openxmlformats.org/drawingml/2006/main">
            <a:r>
              <a:t>- /Users/ming/Documents/AWS 工程師培訓期末專題/docs/evidence/2026-08-20-tier0-four-player-trial/post-delete-current-404-window.png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這是結訓前的候選架構，不代表全部已部署。主線包含 Docker、ECR、GitHub Actions OIDC、CloudWatch logs/dashboard/alarm，以及以 SQS 將 AI 工作非同步化。服務可以逐步拆成 Lobby、Character、Turn、Rules 與 Story。大量玩家需要無狀態 API、Auto Scaling、RDS Proxy 或 cache；DDoS 則從 CloudFront、WAF、Shield Standard 與 rate limits 思考。實作深度仍以成本、時程與展示價值排序。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工程師培訓期末專題/docs/reports/.build-assets/target-architecture-orthogonal.png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工程師培訓期末專題/docs/course-requirements-alignment.md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下一階段先完成 Tier 0 公開試玩發現的生命週期修正，再把 CloudWatch logs、dashboard、alarm 與一次 incident/AIOps Demo 做成 Tier 1 證據；同時推進 Docker、ECR 與 GitHub Actions OIDC。即時聊天、大量玩家、DDoS、完整微服務或 Tutor/RAG 都有價值，但會依剩餘時間與成本選擇最能展示能力的最小案例。結訓時希望呈現的是一個可部署、可觀測、可持續演進的 AWS 產品。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工程師培訓期末專題/docs/handoffs/CURRENT.md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工程師培訓期末專題/docs/course-requirements-alignment.md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985257f5a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562c5d22e64216" /><Relationship Type="http://schemas.openxmlformats.org/officeDocument/2006/relationships/slideLayout" Target="/ppt/slideLayouts/slideLayout1.xml" Id="R755cc98f45ce4a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5cc98f45ce4a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3d54022864ebc" /><Relationship Type="http://schemas.openxmlformats.org/officeDocument/2006/relationships/notesSlide" Target="/ppt/notesSlides/notesSlide1.xml" Id="R2521139ee560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e46b0278c49eb" /><Relationship Type="http://schemas.openxmlformats.org/officeDocument/2006/relationships/notesSlide" Target="/ppt/notesSlides/notesSlide2.xml" Id="R8cffa525e5f346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58582834b45aa" /><Relationship Type="http://schemas.openxmlformats.org/officeDocument/2006/relationships/notesSlide" Target="/ppt/notesSlides/notesSlide3.xml" Id="Rb2ae8e9ad77c40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9d4d28204413b" /><Relationship Type="http://schemas.openxmlformats.org/officeDocument/2006/relationships/image" Target="/ppt/media/image.png" Id="R97594933000c43de" /><Relationship Type="http://schemas.openxmlformats.org/officeDocument/2006/relationships/notesSlide" Target="/ppt/notesSlides/notesSlide4.xml" Id="R0b2101310aee45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67eada6d64fd7" /><Relationship Type="http://schemas.openxmlformats.org/officeDocument/2006/relationships/notesSlide" Target="/ppt/notesSlides/notesSlide5.xml" Id="R1dfc4a86da6642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f6c578a8b4d3e" /><Relationship Type="http://schemas.openxmlformats.org/officeDocument/2006/relationships/notesSlide" Target="/ppt/notesSlides/notesSlide6.xml" Id="Re14f4d7061094f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bcb0054d64167" /><Relationship Type="http://schemas.openxmlformats.org/officeDocument/2006/relationships/image" Target="/ppt/media/image2.png" Id="R21bc1532ed7143ba" /><Relationship Type="http://schemas.openxmlformats.org/officeDocument/2006/relationships/notesSlide" Target="/ppt/notesSlides/notesSlide7.xml" Id="Re85ae991402f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d1768b4ab4fc3" /><Relationship Type="http://schemas.openxmlformats.org/officeDocument/2006/relationships/image" Target="/ppt/media/image3.png" Id="Rf8c07dae6a884da9" /><Relationship Type="http://schemas.openxmlformats.org/officeDocument/2006/relationships/image" Target="/ppt/media/image4.png" Id="Rce99db62b9cd423b" /><Relationship Type="http://schemas.openxmlformats.org/officeDocument/2006/relationships/notesSlide" Target="/ppt/notesSlides/notesSlide8.xml" Id="Rb01d7dad891344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da707abf74597" /><Relationship Type="http://schemas.openxmlformats.org/officeDocument/2006/relationships/image" Target="/ppt/media/image5.png" Id="R3695d393e34a4a48" /><Relationship Type="http://schemas.openxmlformats.org/officeDocument/2006/relationships/notesSlide" Target="/ppt/notesSlides/notesSlide9.xml" Id="R63ca922cff3446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f1666a1454274" /><Relationship Type="http://schemas.openxmlformats.org/officeDocument/2006/relationships/notesSlide" Target="/ppt/notesSlides/notesSlide10.xml" Id="R09c0170ce83341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9cd33cfbb443a" /><Relationship Type="http://schemas.openxmlformats.org/officeDocument/2006/relationships/notesSlide" Target="/ppt/notesSlides/notesSlide11.xml" Id="R505074ac820948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98b5b1caf4054" /><Relationship Type="http://schemas.openxmlformats.org/officeDocument/2006/relationships/image" Target="/ppt/media/image6.png" Id="R6b86b7091759449d" /><Relationship Type="http://schemas.openxmlformats.org/officeDocument/2006/relationships/notesSlide" Target="/ppt/notesSlides/notesSlide12.xml" Id="Rd50c69486afd4f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d2326ac764d11" /><Relationship Type="http://schemas.openxmlformats.org/officeDocument/2006/relationships/notesSlide" Target="/ppt/notesSlides/notesSlide13.xml" Id="Rf5f37684948e4d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h9z71ms">
            <a:extLst xmlns:a="http://schemas.openxmlformats.org/drawingml/2006/main">
              <a:ext uri="{FF2B5EF4-FFF2-40B4-BE49-F238E27FC236}">
                <a16:creationId xmlns:a16="http://schemas.microsoft.com/office/drawing/2014/main" id="{22D7EA20-14DD-4F1B-9B4A-4D9B1240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AWS 工程師培訓期末專題</a:t>
            </a:r>
          </a:p>
        </p:txBody>
      </p:sp>
      <p:sp>
        <p:nvSpPr>
          <p:cNvPr id="2" name="text-scibmmo">
            <a:extLst xmlns:a="http://schemas.openxmlformats.org/drawingml/2006/main">
              <a:ext uri="{FF2B5EF4-FFF2-40B4-BE49-F238E27FC236}">
                <a16:creationId xmlns:a16="http://schemas.microsoft.com/office/drawing/2014/main" id="{3377DDC4-BA9A-4754-A9D5-E4740831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3" name="text-v6aszg5">
            <a:extLst xmlns:a="http://schemas.openxmlformats.org/drawingml/2006/main">
              <a:ext uri="{FF2B5EF4-FFF2-40B4-BE49-F238E27FC236}">
                <a16:creationId xmlns:a16="http://schemas.microsoft.com/office/drawing/2014/main" id="{A69062F6-5736-417B-911D-1E21F15B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多人 AI 故事平台的</a:t>
            </a:r>
          </a:p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AWS Tier 0 實證</a:t>
            </a:r>
          </a:p>
        </p:txBody>
      </p:sp>
      <p:sp>
        <p:nvSpPr>
          <p:cNvPr id="4" name="text-0h4dg0w">
            <a:extLst xmlns:a="http://schemas.openxmlformats.org/drawingml/2006/main">
              <a:ext uri="{FF2B5EF4-FFF2-40B4-BE49-F238E27FC236}">
                <a16:creationId xmlns:a16="http://schemas.microsoft.com/office/drawing/2014/main" id="{866B1DBE-EA55-4949-AE76-6A41875B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第一次進度報告｜2026.08.24</a:t>
            </a:r>
          </a:p>
        </p:txBody>
      </p:sp>
      <p:sp>
        <p:nvSpPr>
          <p:cNvPr id="5" name="shape-4cr3a2j">
            <a:extLst xmlns:a="http://schemas.openxmlformats.org/drawingml/2006/main">
              <a:ext uri="{FF2B5EF4-FFF2-40B4-BE49-F238E27FC236}">
                <a16:creationId xmlns:a16="http://schemas.microsoft.com/office/drawing/2014/main" id="{15E59B42-4794-4C10-AD47-7EF0C2C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"/>
            <a:ext cx="5391150" cy="5619750"/>
          </a:xfrm>
          <a:prstGeom xmlns:a="http://schemas.openxmlformats.org/drawingml/2006/main" prst="roundRect">
            <a:avLst>
              <a:gd name="adj" fmla="val 141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6" name="text-bch6ccf">
            <a:extLst xmlns:a="http://schemas.openxmlformats.org/drawingml/2006/main">
              <a:ext uri="{FF2B5EF4-FFF2-40B4-BE49-F238E27FC236}">
                <a16:creationId xmlns:a16="http://schemas.microsoft.com/office/drawing/2014/main" id="{2AD67A97-5325-4DBE-B1E7-898DE039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28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TIER</a:t>
            </a:r>
          </a:p>
        </p:txBody>
      </p:sp>
      <p:sp>
        <p:nvSpPr>
          <p:cNvPr id="7" name="text-otx1nwx">
            <a:extLst xmlns:a="http://schemas.openxmlformats.org/drawingml/2006/main">
              <a:ext uri="{FF2B5EF4-FFF2-40B4-BE49-F238E27FC236}">
                <a16:creationId xmlns:a16="http://schemas.microsoft.com/office/drawing/2014/main" id="{B7EDA5B9-A6C4-4F62-925B-EBB1954D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20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8" name="text-8hfftqt">
            <a:extLst xmlns:a="http://schemas.openxmlformats.org/drawingml/2006/main">
              <a:ext uri="{FF2B5EF4-FFF2-40B4-BE49-F238E27FC236}">
                <a16:creationId xmlns:a16="http://schemas.microsoft.com/office/drawing/2014/main" id="{0EED0A90-1F39-4B3F-8C40-06E91E2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可玩 Web App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public Web × private DB × Bedrock</a:t>
            </a:r>
          </a:p>
        </p:txBody>
      </p:sp>
      <p:sp>
        <p:nvSpPr>
          <p:cNvPr id="9" name="text-dumoujp">
            <a:extLst xmlns:a="http://schemas.openxmlformats.org/drawingml/2006/main">
              <a:ext uri="{FF2B5EF4-FFF2-40B4-BE49-F238E27FC236}">
                <a16:creationId xmlns:a16="http://schemas.microsoft.com/office/drawing/2014/main" id="{CDE08774-1AB7-438E-81B4-66195F3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可部署 · 可驗證 · 可演進</a:t>
            </a:r>
          </a:p>
        </p:txBody>
      </p:sp>
      <p:sp>
        <p:nvSpPr>
          <p:cNvPr id="10" name="text-lrs4115">
            <a:extLst xmlns:a="http://schemas.openxmlformats.org/drawingml/2006/main">
              <a:ext uri="{FF2B5EF4-FFF2-40B4-BE49-F238E27FC236}">
                <a16:creationId xmlns:a16="http://schemas.microsoft.com/office/drawing/2014/main" id="{B769D776-D712-420E-B887-33BEED05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3595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8DF1139-D086-4ED9-9BAD-3421CBDE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先理解 Tier 0–5，再決定題目</a:t>
            </a:r>
          </a:p>
        </p:txBody>
      </p:sp>
      <p:sp>
        <p:nvSpPr>
          <p:cNvPr id="2" name="shape-5drd9dh">
            <a:extLst xmlns:a="http://schemas.openxmlformats.org/drawingml/2006/main">
              <a:ext uri="{FF2B5EF4-FFF2-40B4-BE49-F238E27FC236}">
                <a16:creationId xmlns:a16="http://schemas.microsoft.com/office/drawing/2014/main" id="{25D58399-B731-4E0A-AC3F-BFDCE69B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lgt22kt">
            <a:extLst xmlns:a="http://schemas.openxmlformats.org/drawingml/2006/main">
              <a:ext uri="{FF2B5EF4-FFF2-40B4-BE49-F238E27FC236}">
                <a16:creationId xmlns:a16="http://schemas.microsoft.com/office/drawing/2014/main" id="{D52832EB-0841-4580-99F6-BF4BDAB8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9lmq7ql">
            <a:extLst xmlns:a="http://schemas.openxmlformats.org/drawingml/2006/main">
              <a:ext uri="{FF2B5EF4-FFF2-40B4-BE49-F238E27FC236}">
                <a16:creationId xmlns:a16="http://schemas.microsoft.com/office/drawing/2014/main" id="{E3939F6B-4B9C-493A-A5CD-2E162F5C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5" name="text-c0f5rpf">
            <a:extLst xmlns:a="http://schemas.openxmlformats.org/drawingml/2006/main">
              <a:ext uri="{FF2B5EF4-FFF2-40B4-BE49-F238E27FC236}">
                <a16:creationId xmlns:a16="http://schemas.microsoft.com/office/drawing/2014/main" id="{D8A87A95-338B-400D-8A87-DAB5C90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同一產品，沿六個能力階段累積演進</a:t>
            </a:r>
          </a:p>
        </p:txBody>
      </p:sp>
      <p:sp>
        <p:nvSpPr>
          <p:cNvPr id="6" name="text-oh1b1om">
            <a:extLst xmlns:a="http://schemas.openxmlformats.org/drawingml/2006/main">
              <a:ext uri="{FF2B5EF4-FFF2-40B4-BE49-F238E27FC236}">
                <a16:creationId xmlns:a16="http://schemas.microsoft.com/office/drawing/2014/main" id="{F36D6F8E-A361-4108-8D12-FAC4C747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技術展示與產品價值必須能逐層延伸</a:t>
            </a:r>
          </a:p>
        </p:txBody>
      </p:sp>
      <p:sp>
        <p:nvSpPr>
          <p:cNvPr id="7" name="shape-qgpp9j3">
            <a:extLst xmlns:a="http://schemas.openxmlformats.org/drawingml/2006/main">
              <a:ext uri="{FF2B5EF4-FFF2-40B4-BE49-F238E27FC236}">
                <a16:creationId xmlns:a16="http://schemas.microsoft.com/office/drawing/2014/main" id="{B7C57C04-E1ED-44A6-BE8C-05C96ADE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8" name="shape-0652zp6">
            <a:extLst xmlns:a="http://schemas.openxmlformats.org/drawingml/2006/main">
              <a:ext uri="{FF2B5EF4-FFF2-40B4-BE49-F238E27FC236}">
                <a16:creationId xmlns:a16="http://schemas.microsoft.com/office/drawing/2014/main" id="{B6583CA5-4FC7-4256-B2E3-D31254B6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B"/>
          </a:solidFill>
          <a:ln xmlns:a="http://schemas.openxmlformats.org/drawingml/2006/main" w="23813">
            <a:solidFill>
              <a:srgbClr val="2F75B5"/>
            </a:solidFill>
            <a:prstDash val="solid"/>
          </a:ln>
        </p:spPr>
      </p:sp>
      <p:sp>
        <p:nvSpPr>
          <p:cNvPr id="9" name="text-8a7z0wd">
            <a:extLst xmlns:a="http://schemas.openxmlformats.org/drawingml/2006/main">
              <a:ext uri="{FF2B5EF4-FFF2-40B4-BE49-F238E27FC236}">
                <a16:creationId xmlns:a16="http://schemas.microsoft.com/office/drawing/2014/main" id="{75D93D96-9399-4B4A-9E72-7391C796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10" name="text-zs1i4do">
            <a:extLst xmlns:a="http://schemas.openxmlformats.org/drawingml/2006/main">
              <a:ext uri="{FF2B5EF4-FFF2-40B4-BE49-F238E27FC236}">
                <a16:creationId xmlns:a16="http://schemas.microsoft.com/office/drawing/2014/main" id="{D597E504-245A-42DE-9A12-C833A8F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Tier 0</a:t>
            </a:r>
          </a:p>
        </p:txBody>
      </p:sp>
      <p:sp>
        <p:nvSpPr>
          <p:cNvPr id="11" name="text-ojge965">
            <a:extLst xmlns:a="http://schemas.openxmlformats.org/drawingml/2006/main">
              <a:ext uri="{FF2B5EF4-FFF2-40B4-BE49-F238E27FC236}">
                <a16:creationId xmlns:a16="http://schemas.microsoft.com/office/drawing/2014/main" id="{AB95AFA8-D6B5-49BB-911B-ACCE5EC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可玩雲端基礎</a:t>
            </a:r>
          </a:p>
        </p:txBody>
      </p:sp>
      <p:sp>
        <p:nvSpPr>
          <p:cNvPr id="12" name="shape-szewwuk">
            <a:extLst xmlns:a="http://schemas.openxmlformats.org/drawingml/2006/main">
              <a:ext uri="{FF2B5EF4-FFF2-40B4-BE49-F238E27FC236}">
                <a16:creationId xmlns:a16="http://schemas.microsoft.com/office/drawing/2014/main" id="{E1D78C6E-263B-4CC9-A40C-74E98E3E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8F1"/>
          </a:solidFill>
          <a:ln xmlns:a="http://schemas.openxmlformats.org/drawingml/2006/main" w="23813">
            <a:solidFill>
              <a:srgbClr val="2E8B57"/>
            </a:solidFill>
            <a:prstDash val="solid"/>
          </a:ln>
        </p:spPr>
      </p:sp>
      <p:sp>
        <p:nvSpPr>
          <p:cNvPr id="13" name="text-6d2k3m1">
            <a:extLst xmlns:a="http://schemas.openxmlformats.org/drawingml/2006/main">
              <a:ext uri="{FF2B5EF4-FFF2-40B4-BE49-F238E27FC236}">
                <a16:creationId xmlns:a16="http://schemas.microsoft.com/office/drawing/2014/main" id="{EF47DAE8-4242-4C36-A181-EE5499A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4" name="text-ug2dzxa">
            <a:extLst xmlns:a="http://schemas.openxmlformats.org/drawingml/2006/main">
              <a:ext uri="{FF2B5EF4-FFF2-40B4-BE49-F238E27FC236}">
                <a16:creationId xmlns:a16="http://schemas.microsoft.com/office/drawing/2014/main" id="{0E7B388B-87EF-4F5D-9C0B-FCC2FE5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Tier 1</a:t>
            </a:r>
          </a:p>
        </p:txBody>
      </p:sp>
      <p:sp>
        <p:nvSpPr>
          <p:cNvPr id="15" name="text-lb9zfee">
            <a:extLst xmlns:a="http://schemas.openxmlformats.org/drawingml/2006/main">
              <a:ext uri="{FF2B5EF4-FFF2-40B4-BE49-F238E27FC236}">
                <a16:creationId xmlns:a16="http://schemas.microsoft.com/office/drawing/2014/main" id="{375348C4-DA2C-4149-88F7-90B44D6D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可觀測維運</a:t>
            </a:r>
          </a:p>
        </p:txBody>
      </p:sp>
      <p:sp>
        <p:nvSpPr>
          <p:cNvPr id="16" name="shape-2h50rs0">
            <a:extLst xmlns:a="http://schemas.openxmlformats.org/drawingml/2006/main">
              <a:ext uri="{FF2B5EF4-FFF2-40B4-BE49-F238E27FC236}">
                <a16:creationId xmlns:a16="http://schemas.microsoft.com/office/drawing/2014/main" id="{A4D3860B-692A-49AC-B9F3-60146FFC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8F1"/>
          </a:solidFill>
          <a:ln xmlns:a="http://schemas.openxmlformats.org/drawingml/2006/main" w="23813">
            <a:solidFill>
              <a:srgbClr val="2E8B57"/>
            </a:solidFill>
            <a:prstDash val="solid"/>
          </a:ln>
        </p:spPr>
      </p:sp>
      <p:sp>
        <p:nvSpPr>
          <p:cNvPr id="17" name="text-vosxtqn">
            <a:extLst xmlns:a="http://schemas.openxmlformats.org/drawingml/2006/main">
              <a:ext uri="{FF2B5EF4-FFF2-40B4-BE49-F238E27FC236}">
                <a16:creationId xmlns:a16="http://schemas.microsoft.com/office/drawing/2014/main" id="{C51BCEE8-7ACB-4408-B862-E6F87316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8" name="text-995zxqw">
            <a:extLst xmlns:a="http://schemas.openxmlformats.org/drawingml/2006/main">
              <a:ext uri="{FF2B5EF4-FFF2-40B4-BE49-F238E27FC236}">
                <a16:creationId xmlns:a16="http://schemas.microsoft.com/office/drawing/2014/main" id="{1EF91745-D52B-40C5-A310-721835B8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Tier 2</a:t>
            </a:r>
          </a:p>
        </p:txBody>
      </p:sp>
      <p:sp>
        <p:nvSpPr>
          <p:cNvPr id="19" name="text-c8drb7w">
            <a:extLst xmlns:a="http://schemas.openxmlformats.org/drawingml/2006/main">
              <a:ext uri="{FF2B5EF4-FFF2-40B4-BE49-F238E27FC236}">
                <a16:creationId xmlns:a16="http://schemas.microsoft.com/office/drawing/2014/main" id="{E5FEEFCA-A8AB-4CD3-A528-88975CAF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元件切割</a:t>
            </a:r>
          </a:p>
        </p:txBody>
      </p:sp>
      <p:sp>
        <p:nvSpPr>
          <p:cNvPr id="20" name="shape-9lu6sc7">
            <a:extLst xmlns:a="http://schemas.openxmlformats.org/drawingml/2006/main">
              <a:ext uri="{FF2B5EF4-FFF2-40B4-BE49-F238E27FC236}">
                <a16:creationId xmlns:a16="http://schemas.microsoft.com/office/drawing/2014/main" id="{4D5DBC13-727D-49DB-9993-553162B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23813">
            <a:solidFill>
              <a:srgbClr val="ED7D16"/>
            </a:solidFill>
            <a:prstDash val="solid"/>
          </a:ln>
        </p:spPr>
      </p:sp>
      <p:sp>
        <p:nvSpPr>
          <p:cNvPr id="21" name="text-7v3ouj4">
            <a:extLst xmlns:a="http://schemas.openxmlformats.org/drawingml/2006/main">
              <a:ext uri="{FF2B5EF4-FFF2-40B4-BE49-F238E27FC236}">
                <a16:creationId xmlns:a16="http://schemas.microsoft.com/office/drawing/2014/main" id="{27477AA3-FA75-4A9D-A72F-E0986C33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2" name="text-ymh2ie9">
            <a:extLst xmlns:a="http://schemas.openxmlformats.org/drawingml/2006/main">
              <a:ext uri="{FF2B5EF4-FFF2-40B4-BE49-F238E27FC236}">
                <a16:creationId xmlns:a16="http://schemas.microsoft.com/office/drawing/2014/main" id="{BD7C127F-14C7-4851-8EE0-7468FDB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Tier 3</a:t>
            </a:r>
          </a:p>
        </p:txBody>
      </p:sp>
      <p:sp>
        <p:nvSpPr>
          <p:cNvPr id="23" name="text-4uaor3c">
            <a:extLst xmlns:a="http://schemas.openxmlformats.org/drawingml/2006/main">
              <a:ext uri="{FF2B5EF4-FFF2-40B4-BE49-F238E27FC236}">
                <a16:creationId xmlns:a16="http://schemas.microsoft.com/office/drawing/2014/main" id="{48F19241-CAE7-4E09-9B89-2034061D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容器與 CI/CD</a:t>
            </a:r>
          </a:p>
        </p:txBody>
      </p:sp>
      <p:sp>
        <p:nvSpPr>
          <p:cNvPr id="24" name="shape-koh19u9">
            <a:extLst xmlns:a="http://schemas.openxmlformats.org/drawingml/2006/main">
              <a:ext uri="{FF2B5EF4-FFF2-40B4-BE49-F238E27FC236}">
                <a16:creationId xmlns:a16="http://schemas.microsoft.com/office/drawing/2014/main" id="{03986F53-26AC-4770-9680-3BD4DE97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23813">
            <a:solidFill>
              <a:srgbClr val="ED7D16"/>
            </a:solidFill>
            <a:prstDash val="solid"/>
          </a:ln>
        </p:spPr>
      </p:sp>
      <p:sp>
        <p:nvSpPr>
          <p:cNvPr id="25" name="text-xt5i74d">
            <a:extLst xmlns:a="http://schemas.openxmlformats.org/drawingml/2006/main">
              <a:ext uri="{FF2B5EF4-FFF2-40B4-BE49-F238E27FC236}">
                <a16:creationId xmlns:a16="http://schemas.microsoft.com/office/drawing/2014/main" id="{31634365-63C0-4B64-B816-D5E8ACEC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6" name="text-x1upjqx">
            <a:extLst xmlns:a="http://schemas.openxmlformats.org/drawingml/2006/main">
              <a:ext uri="{FF2B5EF4-FFF2-40B4-BE49-F238E27FC236}">
                <a16:creationId xmlns:a16="http://schemas.microsoft.com/office/drawing/2014/main" id="{76EF4A84-2520-4D00-98E6-86B96F8E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Tier 4</a:t>
            </a:r>
          </a:p>
        </p:txBody>
      </p:sp>
      <p:sp>
        <p:nvSpPr>
          <p:cNvPr id="27" name="text-abclodm">
            <a:extLst xmlns:a="http://schemas.openxmlformats.org/drawingml/2006/main">
              <a:ext uri="{FF2B5EF4-FFF2-40B4-BE49-F238E27FC236}">
                <a16:creationId xmlns:a16="http://schemas.microsoft.com/office/drawing/2014/main" id="{5AAD1C8F-E311-4148-882B-6749CA5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微服務</a:t>
            </a:r>
          </a:p>
        </p:txBody>
      </p:sp>
      <p:sp>
        <p:nvSpPr>
          <p:cNvPr id="28" name="shape-954p2rp">
            <a:extLst xmlns:a="http://schemas.openxmlformats.org/drawingml/2006/main">
              <a:ext uri="{FF2B5EF4-FFF2-40B4-BE49-F238E27FC236}">
                <a16:creationId xmlns:a16="http://schemas.microsoft.com/office/drawing/2014/main" id="{55E54C38-84F0-47BF-8612-BF9DD3AA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23813">
            <a:solidFill>
              <a:srgbClr val="A86900"/>
            </a:solidFill>
            <a:prstDash val="solid"/>
          </a:ln>
        </p:spPr>
      </p:sp>
      <p:sp>
        <p:nvSpPr>
          <p:cNvPr id="29" name="text-dzv3sog">
            <a:extLst xmlns:a="http://schemas.openxmlformats.org/drawingml/2006/main">
              <a:ext uri="{FF2B5EF4-FFF2-40B4-BE49-F238E27FC236}">
                <a16:creationId xmlns:a16="http://schemas.microsoft.com/office/drawing/2014/main" id="{34DF7942-A49E-44E5-BF17-6EEF6650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8690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A86900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30" name="text-lczcl1f">
            <a:extLst xmlns:a="http://schemas.openxmlformats.org/drawingml/2006/main">
              <a:ext uri="{FF2B5EF4-FFF2-40B4-BE49-F238E27FC236}">
                <a16:creationId xmlns:a16="http://schemas.microsoft.com/office/drawing/2014/main" id="{DFADA8F7-1273-4EF5-84AD-5533A9ED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690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A86900"/>
                </a:solidFill>
                <a:latin typeface="PingFang TC"/>
                <a:ea typeface="PingFang TC"/>
                <a:cs typeface="PingFang TC"/>
              </a:rPr>
              <a:t>Tier 5</a:t>
            </a:r>
          </a:p>
        </p:txBody>
      </p:sp>
      <p:sp>
        <p:nvSpPr>
          <p:cNvPr id="31" name="text-lz69d23">
            <a:extLst xmlns:a="http://schemas.openxmlformats.org/drawingml/2006/main">
              <a:ext uri="{FF2B5EF4-FFF2-40B4-BE49-F238E27FC236}">
                <a16:creationId xmlns:a16="http://schemas.microsoft.com/office/drawing/2014/main" id="{D117AE6A-D036-42D0-8EF0-D7FA8466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Agentic AI</a:t>
            </a:r>
          </a:p>
        </p:txBody>
      </p:sp>
      <p:sp>
        <p:nvSpPr>
          <p:cNvPr id="32" name="text-dyy0nfk">
            <a:extLst xmlns:a="http://schemas.openxmlformats.org/drawingml/2006/main">
              <a:ext uri="{FF2B5EF4-FFF2-40B4-BE49-F238E27FC236}">
                <a16:creationId xmlns:a16="http://schemas.microsoft.com/office/drawing/2014/main" id="{6C6F4F7F-7C72-489B-8D34-87B3219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86375"/>
            <a:ext cx="975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題材條件：可先形成 vertical slice，之後仍能展示維運、自動交付、隔離與 AI 治理</a:t>
            </a:r>
          </a:p>
        </p:txBody>
      </p:sp>
    </p:spTree>
    <p:extLst>
      <p:ext uri="{BB962C8B-B14F-4D97-AF65-F5344CB8AC3E}">
        <p14:creationId xmlns:p14="http://schemas.microsoft.com/office/powerpoint/2010/main" val="1217002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A463532-EA30-4DDE-80AD-68738CE5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多人 AI 故事，同時承載產品與企業價值</a:t>
            </a:r>
          </a:p>
        </p:txBody>
      </p:sp>
      <p:sp>
        <p:nvSpPr>
          <p:cNvPr id="2" name="shape-hvtep4u">
            <a:extLst xmlns:a="http://schemas.openxmlformats.org/drawingml/2006/main">
              <a:ext uri="{FF2B5EF4-FFF2-40B4-BE49-F238E27FC236}">
                <a16:creationId xmlns:a16="http://schemas.microsoft.com/office/drawing/2014/main" id="{DE81DA5F-7BE7-436C-B113-DD259553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391br5j">
            <a:extLst xmlns:a="http://schemas.openxmlformats.org/drawingml/2006/main">
              <a:ext uri="{FF2B5EF4-FFF2-40B4-BE49-F238E27FC236}">
                <a16:creationId xmlns:a16="http://schemas.microsoft.com/office/drawing/2014/main" id="{91608972-C7E5-4808-B1A8-A28FDE36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enx0gza">
            <a:extLst xmlns:a="http://schemas.openxmlformats.org/drawingml/2006/main">
              <a:ext uri="{FF2B5EF4-FFF2-40B4-BE49-F238E27FC236}">
                <a16:creationId xmlns:a16="http://schemas.microsoft.com/office/drawing/2014/main" id="{4CE345A0-9AFE-490A-80B8-79B1741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5" name="text-putxkuy">
            <a:extLst xmlns:a="http://schemas.openxmlformats.org/drawingml/2006/main">
              <a:ext uri="{FF2B5EF4-FFF2-40B4-BE49-F238E27FC236}">
                <a16:creationId xmlns:a16="http://schemas.microsoft.com/office/drawing/2014/main" id="{5B63C492-CBB0-48FD-9897-F9B1E1E6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39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text-xhuv9w9">
            <a:extLst xmlns:a="http://schemas.openxmlformats.org/drawingml/2006/main">
              <a:ext uri="{FF2B5EF4-FFF2-40B4-BE49-F238E27FC236}">
                <a16:creationId xmlns:a16="http://schemas.microsoft.com/office/drawing/2014/main" id="{01F3A0B6-29EB-4320-BC7B-433BD529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產品問題</a:t>
            </a:r>
          </a:p>
        </p:txBody>
      </p:sp>
      <p:sp>
        <p:nvSpPr>
          <p:cNvPr id="7" name="shape-mgyynfm">
            <a:extLst xmlns:a="http://schemas.openxmlformats.org/drawingml/2006/main">
              <a:ext uri="{FF2B5EF4-FFF2-40B4-BE49-F238E27FC236}">
                <a16:creationId xmlns:a16="http://schemas.microsoft.com/office/drawing/2014/main" id="{917E0CA0-DF61-47FB-8999-B6A21EB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0670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8" name="text-lg4q88g">
            <a:extLst xmlns:a="http://schemas.openxmlformats.org/drawingml/2006/main">
              <a:ext uri="{FF2B5EF4-FFF2-40B4-BE49-F238E27FC236}">
                <a16:creationId xmlns:a16="http://schemas.microsoft.com/office/drawing/2014/main" id="{998F971F-0F6A-4816-949F-85E2425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多人共創需要</a:t>
            </a:r>
          </a:p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同步狀態與共同敘事</a:t>
            </a:r>
          </a:p>
        </p:txBody>
      </p:sp>
      <p:sp>
        <p:nvSpPr>
          <p:cNvPr id="9" name="text-rd4qjs0">
            <a:extLst xmlns:a="http://schemas.openxmlformats.org/drawingml/2006/main">
              <a:ext uri="{FF2B5EF4-FFF2-40B4-BE49-F238E27FC236}">
                <a16:creationId xmlns:a16="http://schemas.microsoft.com/office/drawing/2014/main" id="{2388FF01-5EFE-4535-8C0D-AD13A8FB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466850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39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text-rnvl85d">
            <a:extLst xmlns:a="http://schemas.openxmlformats.org/drawingml/2006/main">
              <a:ext uri="{FF2B5EF4-FFF2-40B4-BE49-F238E27FC236}">
                <a16:creationId xmlns:a16="http://schemas.microsoft.com/office/drawing/2014/main" id="{F8E72AD4-C982-4AEE-87C3-3EE6B91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52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AWS 發揮點</a:t>
            </a:r>
          </a:p>
        </p:txBody>
      </p:sp>
      <p:sp>
        <p:nvSpPr>
          <p:cNvPr id="11" name="shape-7mml2gc">
            <a:extLst xmlns:a="http://schemas.openxmlformats.org/drawingml/2006/main">
              <a:ext uri="{FF2B5EF4-FFF2-40B4-BE49-F238E27FC236}">
                <a16:creationId xmlns:a16="http://schemas.microsoft.com/office/drawing/2014/main" id="{14F7872A-BCB3-4238-9017-F399A614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52750"/>
            <a:ext cx="30670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2" name="text-xu0t7ws">
            <a:extLst xmlns:a="http://schemas.openxmlformats.org/drawingml/2006/main">
              <a:ext uri="{FF2B5EF4-FFF2-40B4-BE49-F238E27FC236}">
                <a16:creationId xmlns:a16="http://schemas.microsoft.com/office/drawing/2014/main" id="{43D2CF5F-454C-4587-9923-095F70EF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Compute · Data · AI</a:t>
            </a:r>
          </a:p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Security · Operations</a:t>
            </a:r>
          </a:p>
        </p:txBody>
      </p:sp>
      <p:sp>
        <p:nvSpPr>
          <p:cNvPr id="13" name="text-ab4xew8">
            <a:extLst xmlns:a="http://schemas.openxmlformats.org/drawingml/2006/main">
              <a:ext uri="{FF2B5EF4-FFF2-40B4-BE49-F238E27FC236}">
                <a16:creationId xmlns:a16="http://schemas.microsoft.com/office/drawing/2014/main" id="{9E65DD69-C50E-4637-95F5-1402728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390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4" name="text-vavvhbi">
            <a:extLst xmlns:a="http://schemas.openxmlformats.org/drawingml/2006/main">
              <a:ext uri="{FF2B5EF4-FFF2-40B4-BE49-F238E27FC236}">
                <a16:creationId xmlns:a16="http://schemas.microsoft.com/office/drawing/2014/main" id="{45E38935-E246-481A-A1EA-9946B98F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52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企業延伸</a:t>
            </a:r>
          </a:p>
        </p:txBody>
      </p:sp>
      <p:sp>
        <p:nvSpPr>
          <p:cNvPr id="15" name="shape-0bbjv59">
            <a:extLst xmlns:a="http://schemas.openxmlformats.org/drawingml/2006/main">
              <a:ext uri="{FF2B5EF4-FFF2-40B4-BE49-F238E27FC236}">
                <a16:creationId xmlns:a16="http://schemas.microsoft.com/office/drawing/2014/main" id="{15AECCA8-9231-493B-8443-DA6F87E2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30670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6" name="text-f0wsens">
            <a:extLst xmlns:a="http://schemas.openxmlformats.org/drawingml/2006/main">
              <a:ext uri="{FF2B5EF4-FFF2-40B4-BE49-F238E27FC236}">
                <a16:creationId xmlns:a16="http://schemas.microsoft.com/office/drawing/2014/main" id="{9F3E15D4-5644-401A-85CE-B76933C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培訓模擬 · 共創工作坊</a:t>
            </a:r>
          </a:p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互動內容與客戶參與</a:t>
            </a:r>
          </a:p>
        </p:txBody>
      </p:sp>
      <p:sp>
        <p:nvSpPr>
          <p:cNvPr id="17" name="text-x3ugnoz">
            <a:extLst xmlns:a="http://schemas.openxmlformats.org/drawingml/2006/main">
              <a:ext uri="{FF2B5EF4-FFF2-40B4-BE49-F238E27FC236}">
                <a16:creationId xmlns:a16="http://schemas.microsoft.com/office/drawing/2014/main" id="{E3602EEE-9D3A-4F50-ACD1-A2547397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核心設計：deterministic game engine 管規則；Bedrock 專注生成受限制的敘事</a:t>
            </a:r>
          </a:p>
        </p:txBody>
      </p:sp>
    </p:spTree>
    <p:extLst>
      <p:ext uri="{BB962C8B-B14F-4D97-AF65-F5344CB8AC3E}">
        <p14:creationId xmlns:p14="http://schemas.microsoft.com/office/powerpoint/2010/main" val="101848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E559ED7-C2EF-4824-AF4C-0999A2FC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Tier 0 已讓四位玩家完成四回合與結局</a:t>
            </a:r>
          </a:p>
        </p:txBody>
      </p:sp>
      <p:sp>
        <p:nvSpPr>
          <p:cNvPr id="2" name="shape-u7madyb">
            <a:extLst xmlns:a="http://schemas.openxmlformats.org/drawingml/2006/main">
              <a:ext uri="{FF2B5EF4-FFF2-40B4-BE49-F238E27FC236}">
                <a16:creationId xmlns:a16="http://schemas.microsoft.com/office/drawing/2014/main" id="{E92BFE48-5FBC-4E32-BA71-F4B73535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j2kxp9j">
            <a:extLst xmlns:a="http://schemas.openxmlformats.org/drawingml/2006/main">
              <a:ext uri="{FF2B5EF4-FFF2-40B4-BE49-F238E27FC236}">
                <a16:creationId xmlns:a16="http://schemas.microsoft.com/office/drawing/2014/main" id="{9E245B4E-BD14-4F1F-9518-AE5D508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99x1ws9">
            <a:extLst xmlns:a="http://schemas.openxmlformats.org/drawingml/2006/main">
              <a:ext uri="{FF2B5EF4-FFF2-40B4-BE49-F238E27FC236}">
                <a16:creationId xmlns:a16="http://schemas.microsoft.com/office/drawing/2014/main" id="{34329173-A39B-451B-97AD-96A50890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5" name="shape-16g77lw">
            <a:extLst xmlns:a="http://schemas.openxmlformats.org/drawingml/2006/main">
              <a:ext uri="{FF2B5EF4-FFF2-40B4-BE49-F238E27FC236}">
                <a16:creationId xmlns:a16="http://schemas.microsoft.com/office/drawing/2014/main" id="{BE59E270-E98C-440A-8C40-B7AB166E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07442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C1B1B"/>
          </a:solidFill>
          <a:ln xmlns:a="http://schemas.openxmlformats.org/drawingml/2006/main" w="0">
            <a:solidFill>
              <a:srgbClr val="0C1B1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94933000c43de"/>
          <a:stretch xmlns:a="http://schemas.openxmlformats.org/drawingml/2006/main"/>
        </p:blipFill>
        <p:spPr>
          <a:xfrm xmlns:a="http://schemas.openxmlformats.org/drawingml/2006/main">
            <a:off x="3044218" y="1219200"/>
            <a:ext cx="6103565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7" name="shape-4t05ki0">
            <a:extLst xmlns:a="http://schemas.openxmlformats.org/drawingml/2006/main">
              <a:ext uri="{FF2B5EF4-FFF2-40B4-BE49-F238E27FC236}">
                <a16:creationId xmlns:a16="http://schemas.microsoft.com/office/drawing/2014/main" id="{61E5F28A-3D32-470F-A67E-765C91CF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3048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8" name="text-zlafnz5">
            <a:extLst xmlns:a="http://schemas.openxmlformats.org/drawingml/2006/main">
              <a:ext uri="{FF2B5EF4-FFF2-40B4-BE49-F238E27FC236}">
                <a16:creationId xmlns:a16="http://schemas.microsoft.com/office/drawing/2014/main" id="{C28CF3A3-1973-4ACD-B584-FC6C51C4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PASS with findings</a:t>
            </a:r>
          </a:p>
        </p:txBody>
      </p:sp>
    </p:spTree>
    <p:extLst>
      <p:ext uri="{BB962C8B-B14F-4D97-AF65-F5344CB8AC3E}">
        <p14:creationId xmlns:p14="http://schemas.microsoft.com/office/powerpoint/2010/main" val="1803276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04E1453-BD8D-45E9-905A-7C94699D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前端只依賴 API 契約，AWS 演進不牽動 UI</a:t>
            </a:r>
          </a:p>
        </p:txBody>
      </p:sp>
      <p:sp>
        <p:nvSpPr>
          <p:cNvPr id="2" name="shape-f9c3bue">
            <a:extLst xmlns:a="http://schemas.openxmlformats.org/drawingml/2006/main">
              <a:ext uri="{FF2B5EF4-FFF2-40B4-BE49-F238E27FC236}">
                <a16:creationId xmlns:a16="http://schemas.microsoft.com/office/drawing/2014/main" id="{61436E50-F512-4D16-9E70-C88F66D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x2fg7s1">
            <a:extLst xmlns:a="http://schemas.openxmlformats.org/drawingml/2006/main">
              <a:ext uri="{FF2B5EF4-FFF2-40B4-BE49-F238E27FC236}">
                <a16:creationId xmlns:a16="http://schemas.microsoft.com/office/drawing/2014/main" id="{6D3EE7D1-B4B6-419D-AAA7-736E24B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rzq0gtj">
            <a:extLst xmlns:a="http://schemas.openxmlformats.org/drawingml/2006/main">
              <a:ext uri="{FF2B5EF4-FFF2-40B4-BE49-F238E27FC236}">
                <a16:creationId xmlns:a16="http://schemas.microsoft.com/office/drawing/2014/main" id="{0130C6C2-C670-4715-84C4-7771F40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5" name="shape-boiwsjy">
            <a:extLst xmlns:a="http://schemas.openxmlformats.org/drawingml/2006/main">
              <a:ext uri="{FF2B5EF4-FFF2-40B4-BE49-F238E27FC236}">
                <a16:creationId xmlns:a16="http://schemas.microsoft.com/office/drawing/2014/main" id="{6E673CC8-BDE3-4E4B-85D7-5DB6B8FE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2480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</p:sp>
      <p:sp>
        <p:nvSpPr>
          <p:cNvPr id="6" name="text-98n577u">
            <a:extLst xmlns:a="http://schemas.openxmlformats.org/drawingml/2006/main">
              <a:ext uri="{FF2B5EF4-FFF2-40B4-BE49-F238E27FC236}">
                <a16:creationId xmlns:a16="http://schemas.microsoft.com/office/drawing/2014/main" id="{2D204F79-2DCD-44A4-A6F8-78E4E7B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38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AWS runtime boundary</a:t>
            </a:r>
          </a:p>
        </p:txBody>
      </p:sp>
      <p:sp>
        <p:nvSpPr>
          <p:cNvPr id="7" name="shape-adtlapr">
            <a:extLst xmlns:a="http://schemas.openxmlformats.org/drawingml/2006/main">
              <a:ext uri="{FF2B5EF4-FFF2-40B4-BE49-F238E27FC236}">
                <a16:creationId xmlns:a16="http://schemas.microsoft.com/office/drawing/2014/main" id="{89160B86-EA96-41D2-941C-F6740F68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4763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5DEE7"/>
            </a:solidFill>
            <a:prstDash val="solid"/>
          </a:ln>
        </p:spPr>
      </p:sp>
      <p:sp>
        <p:nvSpPr>
          <p:cNvPr id="8" name="text-pghhlna">
            <a:extLst xmlns:a="http://schemas.openxmlformats.org/drawingml/2006/main">
              <a:ext uri="{FF2B5EF4-FFF2-40B4-BE49-F238E27FC236}">
                <a16:creationId xmlns:a16="http://schemas.microsoft.com/office/drawing/2014/main" id="{DF03FD94-6D97-4389-913F-730E2F05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UI Pages</a:t>
            </a:r>
          </a:p>
        </p:txBody>
      </p:sp>
      <p:sp>
        <p:nvSpPr>
          <p:cNvPr id="9" name="text-odjcduv">
            <a:extLst xmlns:a="http://schemas.openxmlformats.org/drawingml/2006/main">
              <a:ext uri="{FF2B5EF4-FFF2-40B4-BE49-F238E27FC236}">
                <a16:creationId xmlns:a16="http://schemas.microsoft.com/office/drawing/2014/main" id="{DDC668F0-9ECF-4768-8561-93A24C97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Landing / Game</a:t>
            </a:r>
          </a:p>
        </p:txBody>
      </p:sp>
      <p:sp>
        <p:nvSpPr>
          <p:cNvPr id="10" name="shape-e926upu">
            <a:extLst xmlns:a="http://schemas.openxmlformats.org/drawingml/2006/main">
              <a:ext uri="{FF2B5EF4-FFF2-40B4-BE49-F238E27FC236}">
                <a16:creationId xmlns:a16="http://schemas.microsoft.com/office/drawing/2014/main" id="{C4A1F8EE-165C-4FC3-9702-55685FCB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57425"/>
            <a:ext cx="14763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5DEE7"/>
            </a:solidFill>
            <a:prstDash val="solid"/>
          </a:ln>
        </p:spPr>
      </p:sp>
      <p:sp>
        <p:nvSpPr>
          <p:cNvPr id="11" name="text-lusmqv3">
            <a:extLst xmlns:a="http://schemas.openxmlformats.org/drawingml/2006/main">
              <a:ext uri="{FF2B5EF4-FFF2-40B4-BE49-F238E27FC236}">
                <a16:creationId xmlns:a16="http://schemas.microsoft.com/office/drawing/2014/main" id="{B931775E-A322-40E0-A03E-3B9AC199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098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Use Cases</a:t>
            </a:r>
          </a:p>
        </p:txBody>
      </p:sp>
      <p:sp>
        <p:nvSpPr>
          <p:cNvPr id="12" name="text-obvcy81">
            <a:extLst xmlns:a="http://schemas.openxmlformats.org/drawingml/2006/main">
              <a:ext uri="{FF2B5EF4-FFF2-40B4-BE49-F238E27FC236}">
                <a16:creationId xmlns:a16="http://schemas.microsoft.com/office/drawing/2014/main" id="{11F85446-EE0F-49EB-932F-DD0FD791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813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Create / Join</a:t>
            </a:r>
          </a:p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Turn / Finish</a:t>
            </a:r>
          </a:p>
        </p:txBody>
      </p:sp>
      <p:sp>
        <p:nvSpPr>
          <p:cNvPr id="13" name="shape-o67ylnq">
            <a:extLst xmlns:a="http://schemas.openxmlformats.org/drawingml/2006/main">
              <a:ext uri="{FF2B5EF4-FFF2-40B4-BE49-F238E27FC236}">
                <a16:creationId xmlns:a16="http://schemas.microsoft.com/office/drawing/2014/main" id="{75D1EF82-47CD-4417-A7B9-32BD4CEC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57425"/>
            <a:ext cx="14763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4" name="text-ljdh18v">
            <a:extLst xmlns:a="http://schemas.openxmlformats.org/drawingml/2006/main">
              <a:ext uri="{FF2B5EF4-FFF2-40B4-BE49-F238E27FC236}">
                <a16:creationId xmlns:a16="http://schemas.microsoft.com/office/drawing/2014/main" id="{7FC07116-F910-4EA5-A47C-C8D4F431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98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13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GameApi Port</a:t>
            </a:r>
          </a:p>
        </p:txBody>
      </p:sp>
      <p:sp>
        <p:nvSpPr>
          <p:cNvPr id="15" name="text-w5tw016">
            <a:extLst xmlns:a="http://schemas.openxmlformats.org/drawingml/2006/main">
              <a:ext uri="{FF2B5EF4-FFF2-40B4-BE49-F238E27FC236}">
                <a16:creationId xmlns:a16="http://schemas.microsoft.com/office/drawing/2014/main" id="{05ED0670-8821-4F1D-A2C9-2692588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穩定契約</a:t>
            </a:r>
          </a:p>
        </p:txBody>
      </p:sp>
      <p:sp>
        <p:nvSpPr>
          <p:cNvPr id="16" name="shape-6slh706">
            <a:extLst xmlns:a="http://schemas.openxmlformats.org/drawingml/2006/main">
              <a:ext uri="{FF2B5EF4-FFF2-40B4-BE49-F238E27FC236}">
                <a16:creationId xmlns:a16="http://schemas.microsoft.com/office/drawing/2014/main" id="{44CFDA6F-1FE1-4F3A-BC02-2C31AE49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4763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7" name="text-rbnuv5k">
            <a:extLst xmlns:a="http://schemas.openxmlformats.org/drawingml/2006/main">
              <a:ext uri="{FF2B5EF4-FFF2-40B4-BE49-F238E27FC236}">
                <a16:creationId xmlns:a16="http://schemas.microsoft.com/office/drawing/2014/main" id="{D4E07E17-88B8-4CD4-8166-94A1C366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4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FetchGameApi</a:t>
            </a:r>
          </a:p>
        </p:txBody>
      </p:sp>
      <p:sp>
        <p:nvSpPr>
          <p:cNvPr id="18" name="text-djr0vfr">
            <a:extLst xmlns:a="http://schemas.openxmlformats.org/drawingml/2006/main">
              <a:ext uri="{FF2B5EF4-FFF2-40B4-BE49-F238E27FC236}">
                <a16:creationId xmlns:a16="http://schemas.microsoft.com/office/drawing/2014/main" id="{EF8D8511-83B3-4DF5-8960-88F8CEDA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唯一 fetch adapter</a:t>
            </a:r>
          </a:p>
        </p:txBody>
      </p:sp>
      <p:sp>
        <p:nvSpPr>
          <p:cNvPr id="19" name="shape-bfr79jb">
            <a:extLst xmlns:a="http://schemas.openxmlformats.org/drawingml/2006/main">
              <a:ext uri="{FF2B5EF4-FFF2-40B4-BE49-F238E27FC236}">
                <a16:creationId xmlns:a16="http://schemas.microsoft.com/office/drawing/2014/main" id="{AD31AFC6-BB41-4602-82C5-1802238B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57425"/>
            <a:ext cx="1238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20" name="text-gbhhljs">
            <a:extLst xmlns:a="http://schemas.openxmlformats.org/drawingml/2006/main">
              <a:ext uri="{FF2B5EF4-FFF2-40B4-BE49-F238E27FC236}">
                <a16:creationId xmlns:a16="http://schemas.microsoft.com/office/drawing/2014/main" id="{606F9242-6240-4CFE-9A61-CDB8D8E2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98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HTTPS</a:t>
            </a:r>
          </a:p>
        </p:txBody>
      </p:sp>
      <p:sp>
        <p:nvSpPr>
          <p:cNvPr id="21" name="text-9yi5ihn">
            <a:extLst xmlns:a="http://schemas.openxmlformats.org/drawingml/2006/main">
              <a:ext uri="{FF2B5EF4-FFF2-40B4-BE49-F238E27FC236}">
                <a16:creationId xmlns:a16="http://schemas.microsoft.com/office/drawing/2014/main" id="{B5E017D3-1570-41E1-AE13-7B71F84D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00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/api/v1</a:t>
            </a:r>
          </a:p>
        </p:txBody>
      </p:sp>
      <p:sp>
        <p:nvSpPr>
          <p:cNvPr id="22" name="shape-i3e1ht5">
            <a:extLst xmlns:a="http://schemas.openxmlformats.org/drawingml/2006/main">
              <a:ext uri="{FF2B5EF4-FFF2-40B4-BE49-F238E27FC236}">
                <a16:creationId xmlns:a16="http://schemas.microsoft.com/office/drawing/2014/main" id="{D99FF1F4-0BA6-4685-9FDE-C16B3776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57425"/>
            <a:ext cx="1333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23" name="text-6qydpsu">
            <a:extLst xmlns:a="http://schemas.openxmlformats.org/drawingml/2006/main">
              <a:ext uri="{FF2B5EF4-FFF2-40B4-BE49-F238E27FC236}">
                <a16:creationId xmlns:a16="http://schemas.microsoft.com/office/drawing/2014/main" id="{75B44850-EDC0-4549-BA8E-DBC51C3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39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Nginx +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FastAPI</a:t>
            </a:r>
          </a:p>
        </p:txBody>
      </p:sp>
      <p:sp>
        <p:nvSpPr>
          <p:cNvPr id="24" name="text-t8jw0rs">
            <a:extLst xmlns:a="http://schemas.openxmlformats.org/drawingml/2006/main">
              <a:ext uri="{FF2B5EF4-FFF2-40B4-BE49-F238E27FC236}">
                <a16:creationId xmlns:a16="http://schemas.microsoft.com/office/drawing/2014/main" id="{31B2D4BF-DD67-4E13-ABB7-508DAD3D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813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同源服務</a:t>
            </a:r>
          </a:p>
        </p:txBody>
      </p:sp>
      <p:cxnSp>
        <p:nvCxnSpPr>
          <p:cNvPr id="6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085975" y="28479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14775" y="28479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C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743575" y="28479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C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572375" y="284797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5B5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753600" y="28479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5B5"/>
            </a:solidFill>
            <a:prstDash val="solid"/>
            <a:tailEnd type="arrow" w="med" len="med"/>
          </a:ln>
        </p:spPr>
      </p:cxnSp>
      <p:sp>
        <p:nvSpPr>
          <p:cNvPr id="30" name="shape-qgux3cd">
            <a:extLst xmlns:a="http://schemas.openxmlformats.org/drawingml/2006/main">
              <a:ext uri="{FF2B5EF4-FFF2-40B4-BE49-F238E27FC236}">
                <a16:creationId xmlns:a16="http://schemas.microsoft.com/office/drawing/2014/main" id="{24EAB3BD-2D7C-4CAA-991B-708884E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1" name="text-gt78n5e">
            <a:extLst xmlns:a="http://schemas.openxmlformats.org/drawingml/2006/main">
              <a:ext uri="{FF2B5EF4-FFF2-40B4-BE49-F238E27FC236}">
                <a16:creationId xmlns:a16="http://schemas.microsoft.com/office/drawing/2014/main" id="{11B2D5B0-C338-441E-84CD-29151491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Mock adapter 可離線測試</a:t>
            </a:r>
          </a:p>
        </p:txBody>
      </p:sp>
      <p:sp>
        <p:nvSpPr>
          <p:cNvPr id="32" name="shape-z1dpmvz">
            <a:extLst xmlns:a="http://schemas.openxmlformats.org/drawingml/2006/main">
              <a:ext uri="{FF2B5EF4-FFF2-40B4-BE49-F238E27FC236}">
                <a16:creationId xmlns:a16="http://schemas.microsoft.com/office/drawing/2014/main" id="{3F9F7410-A4E8-4367-A570-7560EE0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16"/>
          </a:solidFill>
          <a:ln xmlns:a="http://schemas.openxmlformats.org/drawingml/2006/main" w="0">
            <a:solidFill>
              <a:srgbClr val="ED7D16"/>
            </a:solidFill>
            <a:prstDash val="solid"/>
          </a:ln>
        </p:spPr>
      </p:sp>
      <p:sp>
        <p:nvSpPr>
          <p:cNvPr id="33" name="text-6dccyrl">
            <a:extLst xmlns:a="http://schemas.openxmlformats.org/drawingml/2006/main">
              <a:ext uri="{FF2B5EF4-FFF2-40B4-BE49-F238E27FC236}">
                <a16:creationId xmlns:a16="http://schemas.microsoft.com/office/drawing/2014/main" id="{C099DFD5-F4BC-4FDB-906B-ADD183C7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瀏覽器沒有 AWS SDK／credential</a:t>
            </a:r>
          </a:p>
        </p:txBody>
      </p:sp>
      <p:sp>
        <p:nvSpPr>
          <p:cNvPr id="34" name="shape-36wgb1t">
            <a:extLst xmlns:a="http://schemas.openxmlformats.org/drawingml/2006/main">
              <a:ext uri="{FF2B5EF4-FFF2-40B4-BE49-F238E27FC236}">
                <a16:creationId xmlns:a16="http://schemas.microsoft.com/office/drawing/2014/main" id="{B9D455DA-B097-44AD-8D7D-A16D42B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5" name="text-ze3gj6d">
            <a:extLst xmlns:a="http://schemas.openxmlformats.org/drawingml/2006/main">
              <a:ext uri="{FF2B5EF4-FFF2-40B4-BE49-F238E27FC236}">
                <a16:creationId xmlns:a16="http://schemas.microsoft.com/office/drawing/2014/main" id="{0E73856A-D069-4BEC-855D-CC2F9F93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canonical state 由 server 決定</a:t>
            </a:r>
          </a:p>
        </p:txBody>
      </p:sp>
      <p:sp>
        <p:nvSpPr>
          <p:cNvPr id="36" name="text-wkqcf96">
            <a:extLst xmlns:a="http://schemas.openxmlformats.org/drawingml/2006/main">
              <a:ext uri="{FF2B5EF4-FFF2-40B4-BE49-F238E27FC236}">
                <a16:creationId xmlns:a16="http://schemas.microsoft.com/office/drawing/2014/main" id="{65D24CED-A98D-4997-B003-43E812E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UI → Application → Port；外層 adapter 連接 HTTP，瀏覽器不直接呼叫 RDS、Bedrock 或 CloudWatch</a:t>
            </a:r>
          </a:p>
        </p:txBody>
      </p:sp>
    </p:spTree>
    <p:extLst>
      <p:ext uri="{BB962C8B-B14F-4D97-AF65-F5344CB8AC3E}">
        <p14:creationId xmlns:p14="http://schemas.microsoft.com/office/powerpoint/2010/main" val="396544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63ACC86-B11B-4BB6-9F08-4A0B3405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後端統一遊戲規則，再連接 RDS 與 Bedrock</a:t>
            </a:r>
          </a:p>
        </p:txBody>
      </p:sp>
      <p:sp>
        <p:nvSpPr>
          <p:cNvPr id="2" name="shape-j1u4w60">
            <a:extLst xmlns:a="http://schemas.openxmlformats.org/drawingml/2006/main">
              <a:ext uri="{FF2B5EF4-FFF2-40B4-BE49-F238E27FC236}">
                <a16:creationId xmlns:a16="http://schemas.microsoft.com/office/drawing/2014/main" id="{72454666-42A6-4C36-9337-120F7ECC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6nfrtns">
            <a:extLst xmlns:a="http://schemas.openxmlformats.org/drawingml/2006/main">
              <a:ext uri="{FF2B5EF4-FFF2-40B4-BE49-F238E27FC236}">
                <a16:creationId xmlns:a16="http://schemas.microsoft.com/office/drawing/2014/main" id="{78967A88-2625-4D9F-BC5E-016A3CC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7zuyhi7">
            <a:extLst xmlns:a="http://schemas.openxmlformats.org/drawingml/2006/main">
              <a:ext uri="{FF2B5EF4-FFF2-40B4-BE49-F238E27FC236}">
                <a16:creationId xmlns:a16="http://schemas.microsoft.com/office/drawing/2014/main" id="{EF6D0158-F082-4DC6-A68D-90A87C4B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  <p:sp>
        <p:nvSpPr>
          <p:cNvPr id="5" name="shape-lz3qhkk">
            <a:extLst xmlns:a="http://schemas.openxmlformats.org/drawingml/2006/main">
              <a:ext uri="{FF2B5EF4-FFF2-40B4-BE49-F238E27FC236}">
                <a16:creationId xmlns:a16="http://schemas.microsoft.com/office/drawing/2014/main" id="{A33F6A2B-86FA-4C36-AA4F-6640F45F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6294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1430">
            <a:solidFill>
              <a:srgbClr val="D5DEE7"/>
            </a:solidFill>
            <a:prstDash val="solid"/>
          </a:ln>
        </p:spPr>
      </p:sp>
      <p:sp>
        <p:nvSpPr>
          <p:cNvPr id="6" name="text-znzhwph">
            <a:extLst xmlns:a="http://schemas.openxmlformats.org/drawingml/2006/main">
              <a:ext uri="{FF2B5EF4-FFF2-40B4-BE49-F238E27FC236}">
                <a16:creationId xmlns:a16="http://schemas.microsoft.com/office/drawing/2014/main" id="{90DF59DC-5B7B-4371-B815-5A5285D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Application core</a:t>
            </a:r>
          </a:p>
        </p:txBody>
      </p:sp>
      <p:sp>
        <p:nvSpPr>
          <p:cNvPr id="7" name="shape-rawqoab">
            <a:extLst xmlns:a="http://schemas.openxmlformats.org/drawingml/2006/main">
              <a:ext uri="{FF2B5EF4-FFF2-40B4-BE49-F238E27FC236}">
                <a16:creationId xmlns:a16="http://schemas.microsoft.com/office/drawing/2014/main" id="{B57D04A7-B1E4-40A0-B047-58C5DBA0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52550"/>
            <a:ext cx="4019550" cy="40576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</p:sp>
      <p:sp>
        <p:nvSpPr>
          <p:cNvPr id="8" name="text-8dg38is">
            <a:extLst xmlns:a="http://schemas.openxmlformats.org/drawingml/2006/main">
              <a:ext uri="{FF2B5EF4-FFF2-40B4-BE49-F238E27FC236}">
                <a16:creationId xmlns:a16="http://schemas.microsoft.com/office/drawing/2014/main" id="{96229CCA-7077-40D8-8127-6FC7E933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2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AWS adapters</a:t>
            </a:r>
          </a:p>
        </p:txBody>
      </p:sp>
      <p:sp>
        <p:nvSpPr>
          <p:cNvPr id="9" name="shape-en94ext">
            <a:extLst xmlns:a="http://schemas.openxmlformats.org/drawingml/2006/main">
              <a:ext uri="{FF2B5EF4-FFF2-40B4-BE49-F238E27FC236}">
                <a16:creationId xmlns:a16="http://schemas.microsoft.com/office/drawing/2014/main" id="{C9B8D4A0-10D0-47BA-A5DF-3800527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5DEE7"/>
            </a:solidFill>
            <a:prstDash val="solid"/>
          </a:ln>
        </p:spPr>
      </p:sp>
      <p:sp>
        <p:nvSpPr>
          <p:cNvPr id="10" name="text-2ti98cf">
            <a:extLst xmlns:a="http://schemas.openxmlformats.org/drawingml/2006/main">
              <a:ext uri="{FF2B5EF4-FFF2-40B4-BE49-F238E27FC236}">
                <a16:creationId xmlns:a16="http://schemas.microsoft.com/office/drawing/2014/main" id="{E0045DC4-B96E-4663-8A4C-6BFA082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FastAPI</a:t>
            </a:r>
          </a:p>
        </p:txBody>
      </p:sp>
      <p:sp>
        <p:nvSpPr>
          <p:cNvPr id="11" name="text-d094a8l">
            <a:extLst xmlns:a="http://schemas.openxmlformats.org/drawingml/2006/main">
              <a:ext uri="{FF2B5EF4-FFF2-40B4-BE49-F238E27FC236}">
                <a16:creationId xmlns:a16="http://schemas.microsoft.com/office/drawing/2014/main" id="{466B39A4-F2FB-4393-8FCA-6213CC7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95625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routes / schemas</a:t>
            </a:r>
          </a:p>
        </p:txBody>
      </p:sp>
      <p:sp>
        <p:nvSpPr>
          <p:cNvPr id="12" name="shape-p6fvrme">
            <a:extLst xmlns:a="http://schemas.openxmlformats.org/drawingml/2006/main">
              <a:ext uri="{FF2B5EF4-FFF2-40B4-BE49-F238E27FC236}">
                <a16:creationId xmlns:a16="http://schemas.microsoft.com/office/drawing/2014/main" id="{BBE45EAD-B6EF-49FB-83B5-831EE85C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3" name="text-ru5g3tp">
            <a:extLst xmlns:a="http://schemas.openxmlformats.org/drawingml/2006/main">
              <a:ext uri="{FF2B5EF4-FFF2-40B4-BE49-F238E27FC236}">
                <a16:creationId xmlns:a16="http://schemas.microsoft.com/office/drawing/2014/main" id="{A070C0A7-DF7B-428E-90C0-D295A6C2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RoomService</a:t>
            </a:r>
          </a:p>
        </p:txBody>
      </p:sp>
      <p:sp>
        <p:nvSpPr>
          <p:cNvPr id="14" name="text-di1hh7u">
            <a:extLst xmlns:a="http://schemas.openxmlformats.org/drawingml/2006/main">
              <a:ext uri="{FF2B5EF4-FFF2-40B4-BE49-F238E27FC236}">
                <a16:creationId xmlns:a16="http://schemas.microsoft.com/office/drawing/2014/main" id="{3EBD3FBD-5B1D-43DF-B2C3-860D1818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session / lifecycle</a:t>
            </a:r>
          </a:p>
        </p:txBody>
      </p:sp>
      <p:sp>
        <p:nvSpPr>
          <p:cNvPr id="15" name="shape-mk2amcu">
            <a:extLst xmlns:a="http://schemas.openxmlformats.org/drawingml/2006/main">
              <a:ext uri="{FF2B5EF4-FFF2-40B4-BE49-F238E27FC236}">
                <a16:creationId xmlns:a16="http://schemas.microsoft.com/office/drawing/2014/main" id="{3A5ED166-23CE-4146-B1C3-F42D9FEF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6" name="text-ap6v5ji">
            <a:extLst xmlns:a="http://schemas.openxmlformats.org/drawingml/2006/main">
              <a:ext uri="{FF2B5EF4-FFF2-40B4-BE49-F238E27FC236}">
                <a16:creationId xmlns:a16="http://schemas.microsoft.com/office/drawing/2014/main" id="{DD15169E-7EF4-4FE0-9182-D951ACD1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0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Domain Rules</a:t>
            </a:r>
          </a:p>
        </p:txBody>
      </p:sp>
      <p:sp>
        <p:nvSpPr>
          <p:cNvPr id="17" name="text-ru9j9rs">
            <a:extLst xmlns:a="http://schemas.openxmlformats.org/drawingml/2006/main">
              <a:ext uri="{FF2B5EF4-FFF2-40B4-BE49-F238E27FC236}">
                <a16:creationId xmlns:a16="http://schemas.microsoft.com/office/drawing/2014/main" id="{B54B0218-F5BB-4582-BB92-1E7865E8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956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dice / progress</a:t>
            </a:r>
          </a:p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danger / ending</a:t>
            </a:r>
          </a:p>
        </p:txBody>
      </p:sp>
      <p:sp>
        <p:nvSpPr>
          <p:cNvPr id="18" name="shape-3qhnax6">
            <a:extLst xmlns:a="http://schemas.openxmlformats.org/drawingml/2006/main">
              <a:ext uri="{FF2B5EF4-FFF2-40B4-BE49-F238E27FC236}">
                <a16:creationId xmlns:a16="http://schemas.microsoft.com/office/drawing/2014/main" id="{5FE3132F-163F-466B-9C94-67A0E297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9144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9" name="text-nvdh9j2">
            <a:extLst xmlns:a="http://schemas.openxmlformats.org/drawingml/2006/main">
              <a:ext uri="{FF2B5EF4-FFF2-40B4-BE49-F238E27FC236}">
                <a16:creationId xmlns:a16="http://schemas.microsoft.com/office/drawing/2014/main" id="{0C840A05-74A0-4A32-A970-E1766706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Ports</a:t>
            </a:r>
          </a:p>
        </p:txBody>
      </p:sp>
      <p:sp>
        <p:nvSpPr>
          <p:cNvPr id="20" name="text-rt70kfn">
            <a:extLst xmlns:a="http://schemas.openxmlformats.org/drawingml/2006/main">
              <a:ext uri="{FF2B5EF4-FFF2-40B4-BE49-F238E27FC236}">
                <a16:creationId xmlns:a16="http://schemas.microsoft.com/office/drawing/2014/main" id="{5CDB8DE7-6C45-433C-8D8D-DF01A6A2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9562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repo</a:t>
            </a:r>
          </a:p>
          <a:p xmlns:a="http://schemas.openxmlformats.org/drawingml/2006/main">
            <a:pPr algn="ctr">
              <a:defRPr sz="12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story</a:t>
            </a:r>
          </a:p>
        </p:txBody>
      </p:sp>
      <p:sp>
        <p:nvSpPr>
          <p:cNvPr id="21" name="shape-gsgu6t0">
            <a:extLst xmlns:a="http://schemas.openxmlformats.org/drawingml/2006/main">
              <a:ext uri="{FF2B5EF4-FFF2-40B4-BE49-F238E27FC236}">
                <a16:creationId xmlns:a16="http://schemas.microsoft.com/office/drawing/2014/main" id="{1CD6F88A-4031-4E4F-ABA7-2B1CB309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1562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22" name="text-eelkf0s">
            <a:extLst xmlns:a="http://schemas.openxmlformats.org/drawingml/2006/main">
              <a:ext uri="{FF2B5EF4-FFF2-40B4-BE49-F238E27FC236}">
                <a16:creationId xmlns:a16="http://schemas.microsoft.com/office/drawing/2014/main" id="{A8EEC425-8958-46FD-A783-17AAD00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574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Private RDS</a:t>
            </a:r>
          </a:p>
        </p:txBody>
      </p:sp>
      <p:sp>
        <p:nvSpPr>
          <p:cNvPr id="23" name="text-9afjih6">
            <a:extLst xmlns:a="http://schemas.openxmlformats.org/drawingml/2006/main">
              <a:ext uri="{FF2B5EF4-FFF2-40B4-BE49-F238E27FC236}">
                <a16:creationId xmlns:a16="http://schemas.microsoft.com/office/drawing/2014/main" id="{B7E7AA29-C644-4B85-83CD-AC517D40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28875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17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PostgreSQL JSONB</a:t>
            </a:r>
          </a:p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Room aggregate</a:t>
            </a:r>
          </a:p>
        </p:txBody>
      </p:sp>
      <p:sp>
        <p:nvSpPr>
          <p:cNvPr id="24" name="shape-a5iqz5v">
            <a:extLst xmlns:a="http://schemas.openxmlformats.org/drawingml/2006/main">
              <a:ext uri="{FF2B5EF4-FFF2-40B4-BE49-F238E27FC236}">
                <a16:creationId xmlns:a16="http://schemas.microsoft.com/office/drawing/2014/main" id="{44DF5380-8860-4C32-AC0D-9AEC23B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05000"/>
            <a:ext cx="1562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25" name="text-4tnx2y0">
            <a:extLst xmlns:a="http://schemas.openxmlformats.org/drawingml/2006/main">
              <a:ext uri="{FF2B5EF4-FFF2-40B4-BE49-F238E27FC236}">
                <a16:creationId xmlns:a16="http://schemas.microsoft.com/office/drawing/2014/main" id="{D43BBFEB-2BAB-4259-8427-2C0FD161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574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Bedrock</a:t>
            </a:r>
          </a:p>
        </p:txBody>
      </p:sp>
      <p:sp>
        <p:nvSpPr>
          <p:cNvPr id="26" name="text-nl36p40">
            <a:extLst xmlns:a="http://schemas.openxmlformats.org/drawingml/2006/main">
              <a:ext uri="{FF2B5EF4-FFF2-40B4-BE49-F238E27FC236}">
                <a16:creationId xmlns:a16="http://schemas.microsoft.com/office/drawing/2014/main" id="{D2F23E1B-83A0-460C-B017-A29A55D4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28875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Nova Lite</a:t>
            </a:r>
          </a:p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Guardrail v1</a:t>
            </a:r>
          </a:p>
        </p:txBody>
      </p:sp>
      <p:sp>
        <p:nvSpPr>
          <p:cNvPr id="27" name="shape-g6o6p8c">
            <a:extLst xmlns:a="http://schemas.openxmlformats.org/drawingml/2006/main">
              <a:ext uri="{FF2B5EF4-FFF2-40B4-BE49-F238E27FC236}">
                <a16:creationId xmlns:a16="http://schemas.microsoft.com/office/drawing/2014/main" id="{EA2CB933-C227-4BA9-932D-E558EF52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5DEE7"/>
            </a:solidFill>
            <a:prstDash val="solid"/>
          </a:ln>
        </p:spPr>
      </p:sp>
      <p:sp>
        <p:nvSpPr>
          <p:cNvPr id="28" name="text-59jlngb">
            <a:extLst xmlns:a="http://schemas.openxmlformats.org/drawingml/2006/main">
              <a:ext uri="{FF2B5EF4-FFF2-40B4-BE49-F238E27FC236}">
                <a16:creationId xmlns:a16="http://schemas.microsoft.com/office/drawing/2014/main" id="{3513004F-85FE-488B-9458-EFA6864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CloudWatch · Secrets · SSM</a:t>
            </a:r>
          </a:p>
        </p:txBody>
      </p:sp>
      <p:sp>
        <p:nvSpPr>
          <p:cNvPr id="29" name="text-x5pemdq">
            <a:extLst xmlns:a="http://schemas.openxmlformats.org/drawingml/2006/main">
              <a:ext uri="{FF2B5EF4-FFF2-40B4-BE49-F238E27FC236}">
                <a16:creationId xmlns:a16="http://schemas.microsoft.com/office/drawing/2014/main" id="{B122E177-3ABE-42FD-BDC4-2478DBA6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57675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logs / secret injection / 免 SSH 維運</a:t>
            </a:r>
          </a:p>
        </p:txBody>
      </p:sp>
      <p:cxnSp>
        <p:nvCxnSpPr>
          <p:cNvPr id="6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286000" y="31432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C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248150" y="31432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8B57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210300" y="31432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D7D16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334250" y="2466975"/>
            <a:ext cx="6286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2E8B57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7334250" y="2466975"/>
            <a:ext cx="240030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ED7D16"/>
            </a:solidFill>
            <a:prstDash val="solid"/>
            <a:tailEnd type="arrow" w="med" len="med"/>
          </a:ln>
        </p:spPr>
      </p:cxnSp>
      <p:sp>
        <p:nvSpPr>
          <p:cNvPr id="35" name="text-2uvwk9c">
            <a:extLst xmlns:a="http://schemas.openxmlformats.org/drawingml/2006/main">
              <a:ext uri="{FF2B5EF4-FFF2-40B4-BE49-F238E27FC236}">
                <a16:creationId xmlns:a16="http://schemas.microsoft.com/office/drawing/2014/main" id="{AAF325CA-1AE9-4EA1-A101-FD4B034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server canonical state</a:t>
            </a:r>
          </a:p>
        </p:txBody>
      </p:sp>
      <p:sp>
        <p:nvSpPr>
          <p:cNvPr id="36" name="text-abq53sv">
            <a:extLst xmlns:a="http://schemas.openxmlformats.org/drawingml/2006/main">
              <a:ext uri="{FF2B5EF4-FFF2-40B4-BE49-F238E27FC236}">
                <a16:creationId xmlns:a16="http://schemas.microsoft.com/office/drawing/2014/main" id="{0D4B6CD6-BFB4-41DC-A046-D03AC36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1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LLM 只生成 schema 約束的敘事</a:t>
            </a:r>
          </a:p>
        </p:txBody>
      </p:sp>
      <p:sp>
        <p:nvSpPr>
          <p:cNvPr id="37" name="text-9dzg9lx">
            <a:extLst xmlns:a="http://schemas.openxmlformats.org/drawingml/2006/main">
              <a:ext uri="{FF2B5EF4-FFF2-40B4-BE49-F238E27FC236}">
                <a16:creationId xmlns:a16="http://schemas.microsoft.com/office/drawing/2014/main" id="{47D2D406-8881-45E2-B6A1-DC4B2AF3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Production composition：PostgresRoomRepository + BedrockStoryteller；本機可切換 memory / mock adapters</a:t>
            </a:r>
          </a:p>
        </p:txBody>
      </p:sp>
    </p:spTree>
    <p:extLst>
      <p:ext uri="{BB962C8B-B14F-4D97-AF65-F5344CB8AC3E}">
        <p14:creationId xmlns:p14="http://schemas.microsoft.com/office/powerpoint/2010/main" val="1198380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9F30C35-15B2-4C8B-AE6A-8AC060C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目前架構完成 public Web／private DB 分離</a:t>
            </a:r>
          </a:p>
        </p:txBody>
      </p:sp>
      <p:sp>
        <p:nvSpPr>
          <p:cNvPr id="2" name="shape-gb0ooux">
            <a:extLst xmlns:a="http://schemas.openxmlformats.org/drawingml/2006/main">
              <a:ext uri="{FF2B5EF4-FFF2-40B4-BE49-F238E27FC236}">
                <a16:creationId xmlns:a16="http://schemas.microsoft.com/office/drawing/2014/main" id="{6DA35BC6-FAB3-4749-8F50-58130987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pv64a9w">
            <a:extLst xmlns:a="http://schemas.openxmlformats.org/drawingml/2006/main">
              <a:ext uri="{FF2B5EF4-FFF2-40B4-BE49-F238E27FC236}">
                <a16:creationId xmlns:a16="http://schemas.microsoft.com/office/drawing/2014/main" id="{5583739F-1335-489F-9B48-A509259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2bnu22b">
            <a:extLst xmlns:a="http://schemas.openxmlformats.org/drawingml/2006/main">
              <a:ext uri="{FF2B5EF4-FFF2-40B4-BE49-F238E27FC236}">
                <a16:creationId xmlns:a16="http://schemas.microsoft.com/office/drawing/2014/main" id="{0FFAD047-2CAB-4509-9341-E7EC398F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c1532ed7143ba"/>
          <a:stretch xmlns:a="http://schemas.openxmlformats.org/drawingml/2006/main"/>
        </p:blipFill>
        <p:spPr>
          <a:xfrm xmlns:a="http://schemas.openxmlformats.org/drawingml/2006/main">
            <a:off x="1524000" y="110490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0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4374624-9347-4EA3-BD2B-A2CAB145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Tier 0 的三個審核點都有可驗證證據</a:t>
            </a:r>
          </a:p>
        </p:txBody>
      </p:sp>
      <p:sp>
        <p:nvSpPr>
          <p:cNvPr id="2" name="shape-4xkt2ra">
            <a:extLst xmlns:a="http://schemas.openxmlformats.org/drawingml/2006/main">
              <a:ext uri="{FF2B5EF4-FFF2-40B4-BE49-F238E27FC236}">
                <a16:creationId xmlns:a16="http://schemas.microsoft.com/office/drawing/2014/main" id="{679F8336-0543-4B2C-860C-987E8E12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xk9xgrt">
            <a:extLst xmlns:a="http://schemas.openxmlformats.org/drawingml/2006/main">
              <a:ext uri="{FF2B5EF4-FFF2-40B4-BE49-F238E27FC236}">
                <a16:creationId xmlns:a16="http://schemas.microsoft.com/office/drawing/2014/main" id="{05E586D1-D0D8-47CE-A27D-02510698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wrkvurd">
            <a:extLst xmlns:a="http://schemas.openxmlformats.org/drawingml/2006/main">
              <a:ext uri="{FF2B5EF4-FFF2-40B4-BE49-F238E27FC236}">
                <a16:creationId xmlns:a16="http://schemas.microsoft.com/office/drawing/2014/main" id="{8E9F3059-C6F9-4D66-BBE2-861953C7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8</a:t>
            </a:r>
          </a:p>
        </p:txBody>
      </p:sp>
      <p:sp>
        <p:nvSpPr>
          <p:cNvPr id="5" name="text-tvxx3lw">
            <a:extLst xmlns:a="http://schemas.openxmlformats.org/drawingml/2006/main">
              <a:ext uri="{FF2B5EF4-FFF2-40B4-BE49-F238E27FC236}">
                <a16:creationId xmlns:a16="http://schemas.microsoft.com/office/drawing/2014/main" id="{7445EF61-82CF-4046-B8D8-053342E1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Web／DB 分離</a:t>
            </a:r>
          </a:p>
        </p:txBody>
      </p:sp>
      <p:sp>
        <p:nvSpPr>
          <p:cNvPr id="6" name="text-lbea23n">
            <a:extLst xmlns:a="http://schemas.openxmlformats.org/drawingml/2006/main">
              <a:ext uri="{FF2B5EF4-FFF2-40B4-BE49-F238E27FC236}">
                <a16:creationId xmlns:a16="http://schemas.microsoft.com/office/drawing/2014/main" id="{BBBE81D2-5403-4592-8734-9E7F516F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public EC2 → private RDS</a:t>
            </a:r>
          </a:p>
        </p:txBody>
      </p:sp>
      <p:sp>
        <p:nvSpPr>
          <p:cNvPr id="7" name="text-oq338yd">
            <a:extLst xmlns:a="http://schemas.openxmlformats.org/drawingml/2006/main">
              <a:ext uri="{FF2B5EF4-FFF2-40B4-BE49-F238E27FC236}">
                <a16:creationId xmlns:a16="http://schemas.microsoft.com/office/drawing/2014/main" id="{5E4AC113-17B3-46E6-9AC4-F451CC00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257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Restart persistence</a:t>
            </a:r>
          </a:p>
        </p:txBody>
      </p:sp>
      <p:sp>
        <p:nvSpPr>
          <p:cNvPr id="8" name="text-t7qyrj7">
            <a:extLst xmlns:a="http://schemas.openxmlformats.org/drawingml/2006/main">
              <a:ext uri="{FF2B5EF4-FFF2-40B4-BE49-F238E27FC236}">
                <a16:creationId xmlns:a16="http://schemas.microsoft.com/office/drawing/2014/main" id="{D2C10C32-6637-493F-AB5D-8E50995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09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同一 session 讀回相同狀態</a:t>
            </a:r>
          </a:p>
        </p:txBody>
      </p:sp>
      <p:sp>
        <p:nvSpPr>
          <p:cNvPr id="9" name="text-yio55w5">
            <a:extLst xmlns:a="http://schemas.openxmlformats.org/drawingml/2006/main">
              <a:ext uri="{FF2B5EF4-FFF2-40B4-BE49-F238E27FC236}">
                <a16:creationId xmlns:a16="http://schemas.microsoft.com/office/drawing/2014/main" id="{58BADCC1-B5B9-4CFB-8C8D-BC73EFA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CloudFormation</a:t>
            </a:r>
          </a:p>
        </p:txBody>
      </p:sp>
      <p:sp>
        <p:nvSpPr>
          <p:cNvPr id="10" name="text-6788aoz">
            <a:extLst xmlns:a="http://schemas.openxmlformats.org/drawingml/2006/main">
              <a:ext uri="{FF2B5EF4-FFF2-40B4-BE49-F238E27FC236}">
                <a16:creationId xmlns:a16="http://schemas.microsoft.com/office/drawing/2014/main" id="{8F738DD5-630F-40AA-A975-F77A5C56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9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stacks = CREATE_COMPLETE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07dae6a884da9"/>
          <a:stretch xmlns:a="http://schemas.openxmlformats.org/drawingml/2006/main"/>
        </p:blipFill>
        <p:spPr>
          <a:xfrm xmlns:a="http://schemas.openxmlformats.org/drawingml/2006/main">
            <a:off x="609600" y="2525613"/>
            <a:ext cx="6953250" cy="2216348"/>
          </a:xfrm>
          <a:prstGeom xmlns:a="http://schemas.openxmlformats.org/drawingml/2006/main" prst="rect">
            <a:avLst/>
          </a:prstGeom>
        </p:spPr>
      </p:pic>
      <p:sp>
        <p:nvSpPr>
          <p:cNvPr id="12" name="shape-o1tu0k1">
            <a:extLst xmlns:a="http://schemas.openxmlformats.org/drawingml/2006/main">
              <a:ext uri="{FF2B5EF4-FFF2-40B4-BE49-F238E27FC236}">
                <a16:creationId xmlns:a16="http://schemas.microsoft.com/office/drawing/2014/main" id="{4F6C5BE8-E46F-4657-818F-F009DEA6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952750" cy="385762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9db62b9cd423b"/>
          <a:stretch xmlns:a="http://schemas.openxmlformats.org/drawingml/2006/main"/>
        </p:blipFill>
        <p:spPr>
          <a:xfrm xmlns:a="http://schemas.openxmlformats.org/drawingml/2006/main">
            <a:off x="8078419" y="2114550"/>
            <a:ext cx="2950312" cy="3857625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4" name="text-7ez6zlv">
            <a:extLst xmlns:a="http://schemas.openxmlformats.org/drawingml/2006/main">
              <a:ext uri="{FF2B5EF4-FFF2-40B4-BE49-F238E27FC236}">
                <a16:creationId xmlns:a16="http://schemas.microsoft.com/office/drawing/2014/main" id="{74B7565B-C801-4E5E-93DF-C6C6BACC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readiness 200 · room/status/version match · cleanup 204</a:t>
            </a:r>
          </a:p>
        </p:txBody>
      </p:sp>
    </p:spTree>
    <p:extLst>
      <p:ext uri="{BB962C8B-B14F-4D97-AF65-F5344CB8AC3E}">
        <p14:creationId xmlns:p14="http://schemas.microsoft.com/office/powerpoint/2010/main" val="1517542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8557232-BB93-451B-981E-F4C00D68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安全與成本同時進入部署關卡</a:t>
            </a:r>
          </a:p>
        </p:txBody>
      </p:sp>
      <p:sp>
        <p:nvSpPr>
          <p:cNvPr id="2" name="shape-dhw06qx">
            <a:extLst xmlns:a="http://schemas.openxmlformats.org/drawingml/2006/main">
              <a:ext uri="{FF2B5EF4-FFF2-40B4-BE49-F238E27FC236}">
                <a16:creationId xmlns:a16="http://schemas.microsoft.com/office/drawing/2014/main" id="{07BF37F9-3996-4794-8771-7B39814D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01n7b9b">
            <a:extLst xmlns:a="http://schemas.openxmlformats.org/drawingml/2006/main">
              <a:ext uri="{FF2B5EF4-FFF2-40B4-BE49-F238E27FC236}">
                <a16:creationId xmlns:a16="http://schemas.microsoft.com/office/drawing/2014/main" id="{921701A1-FAB0-4B61-800E-E22ED09B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a0zb9x2">
            <a:extLst xmlns:a="http://schemas.openxmlformats.org/drawingml/2006/main">
              <a:ext uri="{FF2B5EF4-FFF2-40B4-BE49-F238E27FC236}">
                <a16:creationId xmlns:a16="http://schemas.microsoft.com/office/drawing/2014/main" id="{C349A5AE-DCCC-4F61-8C9E-9B353E40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9</a:t>
            </a:r>
          </a:p>
        </p:txBody>
      </p:sp>
      <p:sp>
        <p:nvSpPr>
          <p:cNvPr id="5" name="text-ocdb73s">
            <a:extLst xmlns:a="http://schemas.openxmlformats.org/drawingml/2006/main">
              <a:ext uri="{FF2B5EF4-FFF2-40B4-BE49-F238E27FC236}">
                <a16:creationId xmlns:a16="http://schemas.microsoft.com/office/drawing/2014/main" id="{64B2EA53-A8FB-4DA6-B02A-F0546F4F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安全邊界</a:t>
            </a:r>
          </a:p>
        </p:txBody>
      </p:sp>
      <p:sp>
        <p:nvSpPr>
          <p:cNvPr id="6" name="shape-r2qjfn5">
            <a:extLst xmlns:a="http://schemas.openxmlformats.org/drawingml/2006/main">
              <a:ext uri="{FF2B5EF4-FFF2-40B4-BE49-F238E27FC236}">
                <a16:creationId xmlns:a16="http://schemas.microsoft.com/office/drawing/2014/main" id="{A054931C-1255-4437-BAC5-5E6EF9E4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7" name="text-t7nx6a7">
            <a:extLst xmlns:a="http://schemas.openxmlformats.org/drawingml/2006/main">
              <a:ext uri="{FF2B5EF4-FFF2-40B4-BE49-F238E27FC236}">
                <a16:creationId xmlns:a16="http://schemas.microsoft.com/office/drawing/2014/main" id="{C8A3B755-2ED6-4D6B-A445-866454E8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SSM 免 SSH；public 22 不可達</a:t>
            </a:r>
          </a:p>
        </p:txBody>
      </p:sp>
      <p:sp>
        <p:nvSpPr>
          <p:cNvPr id="8" name="shape-96c6bqk">
            <a:extLst xmlns:a="http://schemas.openxmlformats.org/drawingml/2006/main">
              <a:ext uri="{FF2B5EF4-FFF2-40B4-BE49-F238E27FC236}">
                <a16:creationId xmlns:a16="http://schemas.microsoft.com/office/drawing/2014/main" id="{E8635ACB-4B94-4248-ABE2-85C45DC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9" name="text-5m1o9ow">
            <a:extLst xmlns:a="http://schemas.openxmlformats.org/drawingml/2006/main">
              <a:ext uri="{FF2B5EF4-FFF2-40B4-BE49-F238E27FC236}">
                <a16:creationId xmlns:a16="http://schemas.microsoft.com/office/drawing/2014/main" id="{5E2012F4-6171-4D43-A125-E5E8F4F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App Role 限定 model、Guardrail 與 secret</a:t>
            </a:r>
          </a:p>
        </p:txBody>
      </p:sp>
      <p:sp>
        <p:nvSpPr>
          <p:cNvPr id="10" name="shape-niwowft">
            <a:extLst xmlns:a="http://schemas.openxmlformats.org/drawingml/2006/main">
              <a:ext uri="{FF2B5EF4-FFF2-40B4-BE49-F238E27FC236}">
                <a16:creationId xmlns:a16="http://schemas.microsoft.com/office/drawing/2014/main" id="{766F74F0-F583-49C5-99E4-70EE13E2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16"/>
          </a:solidFill>
          <a:ln xmlns:a="http://schemas.openxmlformats.org/drawingml/2006/main" w="0">
            <a:solidFill>
              <a:srgbClr val="ED7D16"/>
            </a:solidFill>
            <a:prstDash val="solid"/>
          </a:ln>
        </p:spPr>
      </p:sp>
      <p:sp>
        <p:nvSpPr>
          <p:cNvPr id="11" name="text-95h5yg8">
            <a:extLst xmlns:a="http://schemas.openxmlformats.org/drawingml/2006/main">
              <a:ext uri="{FF2B5EF4-FFF2-40B4-BE49-F238E27FC236}">
                <a16:creationId xmlns:a16="http://schemas.microsoft.com/office/drawing/2014/main" id="{A4DD12AC-E8B4-44C2-A52F-8D6E3594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DB 5432 僅接受 App Security Group</a:t>
            </a:r>
          </a:p>
        </p:txBody>
      </p:sp>
      <p:sp>
        <p:nvSpPr>
          <p:cNvPr id="12" name="shape-o9z2yzn">
            <a:extLst xmlns:a="http://schemas.openxmlformats.org/drawingml/2006/main">
              <a:ext uri="{FF2B5EF4-FFF2-40B4-BE49-F238E27FC236}">
                <a16:creationId xmlns:a16="http://schemas.microsoft.com/office/drawing/2014/main" id="{2E533AAE-F57A-423D-A3CB-F75B216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383">
            <a:solidFill>
              <a:srgbClr val="A86900"/>
            </a:solidFill>
            <a:prstDash val="solid"/>
          </a:ln>
        </p:spPr>
      </p:sp>
      <p:sp>
        <p:nvSpPr>
          <p:cNvPr id="13" name="text-gyy85s1">
            <a:extLst xmlns:a="http://schemas.openxmlformats.org/drawingml/2006/main">
              <a:ext uri="{FF2B5EF4-FFF2-40B4-BE49-F238E27FC236}">
                <a16:creationId xmlns:a16="http://schemas.microsoft.com/office/drawing/2014/main" id="{F3BC5C5A-43C9-450C-9230-53F5666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690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A86900"/>
                </a:solidFill>
                <a:latin typeface="PingFang TC"/>
                <a:ea typeface="PingFang TC"/>
                <a:cs typeface="PingFang TC"/>
              </a:rPr>
              <a:t>Prompt Injection</a:t>
            </a:r>
          </a:p>
        </p:txBody>
      </p:sp>
      <p:sp>
        <p:nvSpPr>
          <p:cNvPr id="14" name="text-o5higay">
            <a:extLst xmlns:a="http://schemas.openxmlformats.org/drawingml/2006/main">
              <a:ext uri="{FF2B5EF4-FFF2-40B4-BE49-F238E27FC236}">
                <a16:creationId xmlns:a16="http://schemas.microsoft.com/office/drawing/2014/main" id="{2BAE246B-97C5-47B7-9E53-6E738D6C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application-layer reject + schema validation</a:t>
            </a:r>
          </a:p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Guardrail intervention 尚未證實</a:t>
            </a:r>
          </a:p>
        </p:txBody>
      </p:sp>
      <p:sp>
        <p:nvSpPr>
          <p:cNvPr id="15" name="text-lj5pxh6">
            <a:extLst xmlns:a="http://schemas.openxmlformats.org/drawingml/2006/main">
              <a:ext uri="{FF2B5EF4-FFF2-40B4-BE49-F238E27FC236}">
                <a16:creationId xmlns:a16="http://schemas.microsoft.com/office/drawing/2014/main" id="{A25BD7EA-CC65-45F6-B2FF-5B90C1D1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81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成本治理</a:t>
            </a:r>
          </a:p>
        </p:txBody>
      </p:sp>
      <p:sp>
        <p:nvSpPr>
          <p:cNvPr id="16" name="text-of7j384">
            <a:extLst xmlns:a="http://schemas.openxmlformats.org/drawingml/2006/main">
              <a:ext uri="{FF2B5EF4-FFF2-40B4-BE49-F238E27FC236}">
                <a16:creationId xmlns:a16="http://schemas.microsoft.com/office/drawing/2014/main" id="{25AFC501-5084-43CD-916F-A11EA1C9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145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US$1／月 Budget</a:t>
            </a:r>
          </a:p>
        </p:txBody>
      </p:sp>
      <p:sp>
        <p:nvSpPr>
          <p:cNvPr id="17" name="text-z3lbdzu">
            <a:extLst xmlns:a="http://schemas.openxmlformats.org/drawingml/2006/main">
              <a:ext uri="{FF2B5EF4-FFF2-40B4-BE49-F238E27FC236}">
                <a16:creationId xmlns:a16="http://schemas.microsoft.com/office/drawing/2014/main" id="{44EC98DE-B2E7-44CA-BF38-919A5DD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Credits US$137.40 · EC2／RDS 為主要持續計費面</a:t>
            </a:r>
          </a:p>
        </p:txBody>
      </p:sp>
      <p:sp>
        <p:nvSpPr>
          <p:cNvPr id="18" name="shape-gkrkxpn">
            <a:extLst xmlns:a="http://schemas.openxmlformats.org/drawingml/2006/main">
              <a:ext uri="{FF2B5EF4-FFF2-40B4-BE49-F238E27FC236}">
                <a16:creationId xmlns:a16="http://schemas.microsoft.com/office/drawing/2014/main" id="{326A21B7-5269-4C68-9592-321A10D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5d393e34a4a48"/>
          <a:stretch xmlns:a="http://schemas.openxmlformats.org/drawingml/2006/main"/>
        </p:blipFill>
        <p:spPr>
          <a:xfrm xmlns:a="http://schemas.openxmlformats.org/drawingml/2006/main">
            <a:off x="6324600" y="3009958"/>
            <a:ext cx="4762500" cy="1466733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20" name="text-902a939">
            <a:extLst xmlns:a="http://schemas.openxmlformats.org/drawingml/2006/main">
              <a:ext uri="{FF2B5EF4-FFF2-40B4-BE49-F238E27FC236}">
                <a16:creationId xmlns:a16="http://schemas.microsoft.com/office/drawing/2014/main" id="{56739D48-9087-4A10-A048-D2A5A10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Tier 0 暫不建立 NAT Gateway、EIP、ALB、CloudFront、Route 53</a:t>
            </a:r>
          </a:p>
        </p:txBody>
      </p:sp>
    </p:spTree>
    <p:extLst>
      <p:ext uri="{BB962C8B-B14F-4D97-AF65-F5344CB8AC3E}">
        <p14:creationId xmlns:p14="http://schemas.microsoft.com/office/powerpoint/2010/main" val="1785049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9F15CCAC-D1C9-4B48-BD37-9379FFBE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四玩家實測證明 Tier 0 可運作</a:t>
            </a:r>
          </a:p>
        </p:txBody>
      </p:sp>
      <p:sp>
        <p:nvSpPr>
          <p:cNvPr id="2" name="shape-vpid1bo">
            <a:extLst xmlns:a="http://schemas.openxmlformats.org/drawingml/2006/main">
              <a:ext uri="{FF2B5EF4-FFF2-40B4-BE49-F238E27FC236}">
                <a16:creationId xmlns:a16="http://schemas.microsoft.com/office/drawing/2014/main" id="{0B8BD9DD-2579-4298-9895-E4D9FCA2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j5n6z43">
            <a:extLst xmlns:a="http://schemas.openxmlformats.org/drawingml/2006/main">
              <a:ext uri="{FF2B5EF4-FFF2-40B4-BE49-F238E27FC236}">
                <a16:creationId xmlns:a16="http://schemas.microsoft.com/office/drawing/2014/main" id="{BC737FB9-2F80-4487-8B8A-B2A6116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aww2j0x">
            <a:extLst xmlns:a="http://schemas.openxmlformats.org/drawingml/2006/main">
              <a:ext uri="{FF2B5EF4-FFF2-40B4-BE49-F238E27FC236}">
                <a16:creationId xmlns:a16="http://schemas.microsoft.com/office/drawing/2014/main" id="{EB85BD2A-9634-4905-90F0-FFD94E1B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text-geec51w">
            <a:extLst xmlns:a="http://schemas.openxmlformats.org/drawingml/2006/main">
              <a:ext uri="{FF2B5EF4-FFF2-40B4-BE49-F238E27FC236}">
                <a16:creationId xmlns:a16="http://schemas.microsoft.com/office/drawing/2014/main" id="{21885B28-523F-4B9E-8091-02658709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4 玩家 · 4 回合 · 1 次世界生成 · 1 次結局</a:t>
            </a:r>
          </a:p>
        </p:txBody>
      </p:sp>
      <p:sp>
        <p:nvSpPr>
          <p:cNvPr id="6" name="shape-lrljqi5">
            <a:extLst xmlns:a="http://schemas.openxmlformats.org/drawingml/2006/main">
              <a:ext uri="{FF2B5EF4-FFF2-40B4-BE49-F238E27FC236}">
                <a16:creationId xmlns:a16="http://schemas.microsoft.com/office/drawing/2014/main" id="{4D287512-DB34-4BD9-8D35-58CC7D1C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7" name="text-k95txof">
            <a:extLst xmlns:a="http://schemas.openxmlformats.org/drawingml/2006/main">
              <a:ext uri="{FF2B5EF4-FFF2-40B4-BE49-F238E27FC236}">
                <a16:creationId xmlns:a16="http://schemas.microsoft.com/office/drawing/2014/main" id="{B13E78B9-1C56-47AB-98D4-348AAED3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  <p:sp>
        <p:nvSpPr>
          <p:cNvPr id="8" name="text-015cac6">
            <a:extLst xmlns:a="http://schemas.openxmlformats.org/drawingml/2006/main">
              <a:ext uri="{FF2B5EF4-FFF2-40B4-BE49-F238E27FC236}">
                <a16:creationId xmlns:a16="http://schemas.microsoft.com/office/drawing/2014/main" id="{BE54C3EE-1A8C-476B-8E35-47D89986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Nova Lite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Invocations</a:t>
            </a:r>
          </a:p>
        </p:txBody>
      </p:sp>
      <p:sp>
        <p:nvSpPr>
          <p:cNvPr id="9" name="shape-cepmizu">
            <a:extLst xmlns:a="http://schemas.openxmlformats.org/drawingml/2006/main">
              <a:ext uri="{FF2B5EF4-FFF2-40B4-BE49-F238E27FC236}">
                <a16:creationId xmlns:a16="http://schemas.microsoft.com/office/drawing/2014/main" id="{8EC4AB79-0F4E-455B-B348-29D46429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3835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0" name="text-5iwatzu">
            <a:extLst xmlns:a="http://schemas.openxmlformats.org/drawingml/2006/main">
              <a:ext uri="{FF2B5EF4-FFF2-40B4-BE49-F238E27FC236}">
                <a16:creationId xmlns:a16="http://schemas.microsoft.com/office/drawing/2014/main" id="{0C8D371E-807B-420E-9F16-CC0FF0C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431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≈1,940 ms</a:t>
            </a:r>
          </a:p>
        </p:txBody>
      </p:sp>
      <p:sp>
        <p:nvSpPr>
          <p:cNvPr id="11" name="text-q55v2v8">
            <a:extLst xmlns:a="http://schemas.openxmlformats.org/drawingml/2006/main">
              <a:ext uri="{FF2B5EF4-FFF2-40B4-BE49-F238E27FC236}">
                <a16:creationId xmlns:a16="http://schemas.microsoft.com/office/drawing/2014/main" id="{9E37938A-43BB-49DB-AB50-9C11C28F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99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加權平均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Invocation latency</a:t>
            </a:r>
          </a:p>
        </p:txBody>
      </p:sp>
      <p:sp>
        <p:nvSpPr>
          <p:cNvPr id="12" name="shape-7tnzuo8">
            <a:extLst xmlns:a="http://schemas.openxmlformats.org/drawingml/2006/main">
              <a:ext uri="{FF2B5EF4-FFF2-40B4-BE49-F238E27FC236}">
                <a16:creationId xmlns:a16="http://schemas.microsoft.com/office/drawing/2014/main" id="{0AF47A66-9272-4325-970A-237B2E6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3" name="text-10b9l4s">
            <a:extLst xmlns:a="http://schemas.openxmlformats.org/drawingml/2006/main">
              <a:ext uri="{FF2B5EF4-FFF2-40B4-BE49-F238E27FC236}">
                <a16:creationId xmlns:a16="http://schemas.microsoft.com/office/drawing/2014/main" id="{C596BD2D-1C53-4E2C-9206-CF7D5664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14" name="text-flgb5yn">
            <a:extLst xmlns:a="http://schemas.openxmlformats.org/drawingml/2006/main">
              <a:ext uri="{FF2B5EF4-FFF2-40B4-BE49-F238E27FC236}">
                <a16:creationId xmlns:a16="http://schemas.microsoft.com/office/drawing/2014/main" id="{5426E2D6-7BA3-480E-879B-7AE53D3E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HTTP 5xx</a:t>
            </a:r>
          </a:p>
        </p:txBody>
      </p:sp>
      <p:sp>
        <p:nvSpPr>
          <p:cNvPr id="15" name="text-xh9uw0b">
            <a:extLst xmlns:a="http://schemas.openxmlformats.org/drawingml/2006/main">
              <a:ext uri="{FF2B5EF4-FFF2-40B4-BE49-F238E27FC236}">
                <a16:creationId xmlns:a16="http://schemas.microsoft.com/office/drawing/2014/main" id="{5CEAA5A9-30AD-4766-ACD8-61076F6F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3,018 input / 1,549 output tokens</a:t>
            </a:r>
          </a:p>
        </p:txBody>
      </p:sp>
      <p:sp>
        <p:nvSpPr>
          <p:cNvPr id="16" name="text-llk070u">
            <a:extLst xmlns:a="http://schemas.openxmlformats.org/drawingml/2006/main">
              <a:ext uri="{FF2B5EF4-FFF2-40B4-BE49-F238E27FC236}">
                <a16:creationId xmlns:a16="http://schemas.microsoft.com/office/drawing/2014/main" id="{A848EFEE-D563-47CF-B419-226F07F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EC2 CPU peak ≈ 1.8133%</a:t>
            </a:r>
          </a:p>
        </p:txBody>
      </p:sp>
      <p:sp>
        <p:nvSpPr>
          <p:cNvPr id="17" name="text-96dxs1p">
            <a:extLst xmlns:a="http://schemas.openxmlformats.org/drawingml/2006/main">
              <a:ext uri="{FF2B5EF4-FFF2-40B4-BE49-F238E27FC236}">
                <a16:creationId xmlns:a16="http://schemas.microsoft.com/office/drawing/2014/main" id="{EEC3A79B-0BD6-49F2-81BC-63CD6EA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RDS DatabaseConnections &gt; 0</a:t>
            </a:r>
          </a:p>
        </p:txBody>
      </p:sp>
      <p:sp>
        <p:nvSpPr>
          <p:cNvPr id="18" name="text-1a0vu7q">
            <a:extLst xmlns:a="http://schemas.openxmlformats.org/drawingml/2006/main">
              <a:ext uri="{FF2B5EF4-FFF2-40B4-BE49-F238E27FC236}">
                <a16:creationId xmlns:a16="http://schemas.microsoft.com/office/drawing/2014/main" id="{27121D41-3023-4CB9-BD4C-6C88B1BC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目前規模的瓶頸不在 CPU；下一輪觀察 mobile sync、polling lifecycle 與 AI latency</a:t>
            </a:r>
          </a:p>
        </p:txBody>
      </p:sp>
    </p:spTree>
    <p:extLst>
      <p:ext uri="{BB962C8B-B14F-4D97-AF65-F5344CB8AC3E}">
        <p14:creationId xmlns:p14="http://schemas.microsoft.com/office/powerpoint/2010/main" val="1969509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B8A5ADC4-5F54-4A46-8C3A-9889F8B6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公開試玩把下一輪工作變成可量化問題</a:t>
            </a:r>
          </a:p>
        </p:txBody>
      </p:sp>
      <p:sp>
        <p:nvSpPr>
          <p:cNvPr id="2" name="shape-u6al24m">
            <a:extLst xmlns:a="http://schemas.openxmlformats.org/drawingml/2006/main">
              <a:ext uri="{FF2B5EF4-FFF2-40B4-BE49-F238E27FC236}">
                <a16:creationId xmlns:a16="http://schemas.microsoft.com/office/drawing/2014/main" id="{FA74F17E-5D0B-4ED6-8D89-A15D361F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waqa7sf">
            <a:extLst xmlns:a="http://schemas.openxmlformats.org/drawingml/2006/main">
              <a:ext uri="{FF2B5EF4-FFF2-40B4-BE49-F238E27FC236}">
                <a16:creationId xmlns:a16="http://schemas.microsoft.com/office/drawing/2014/main" id="{335A5EF9-ADAD-4B67-96D3-90DEB6C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xaebi8n">
            <a:extLst xmlns:a="http://schemas.openxmlformats.org/drawingml/2006/main">
              <a:ext uri="{FF2B5EF4-FFF2-40B4-BE49-F238E27FC236}">
                <a16:creationId xmlns:a16="http://schemas.microsoft.com/office/drawing/2014/main" id="{907953A6-C2F2-4A9E-879C-B1AD8CF6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5" name="shape-45n2jta">
            <a:extLst xmlns:a="http://schemas.openxmlformats.org/drawingml/2006/main">
              <a:ext uri="{FF2B5EF4-FFF2-40B4-BE49-F238E27FC236}">
                <a16:creationId xmlns:a16="http://schemas.microsoft.com/office/drawing/2014/main" id="{C5C505EC-26E6-4E4D-98A7-5F938116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6" name="text-53lixqg">
            <a:extLst xmlns:a="http://schemas.openxmlformats.org/drawingml/2006/main">
              <a:ext uri="{FF2B5EF4-FFF2-40B4-BE49-F238E27FC236}">
                <a16:creationId xmlns:a16="http://schemas.microsoft.com/office/drawing/2014/main" id="{BBCBE237-6D78-46AB-84C8-E05E8105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B42318"/>
                </a:solidFill>
                <a:latin typeface="PingFang TC"/>
                <a:ea typeface="PingFang TC"/>
                <a:cs typeface="PingFang TC"/>
              </a:defRPr>
            </a:pPr>
            <a:r>
              <a:rPr sz="6600" b="1">
                <a:solidFill>
                  <a:srgbClr val="B42318"/>
                </a:solidFill>
                <a:latin typeface="PingFang TC"/>
                <a:ea typeface="PingFang TC"/>
                <a:cs typeface="PingFang TC"/>
              </a:rPr>
              <a:t>317</a:t>
            </a:r>
          </a:p>
        </p:txBody>
      </p:sp>
      <p:sp>
        <p:nvSpPr>
          <p:cNvPr id="7" name="text-5goa3x6">
            <a:extLst xmlns:a="http://schemas.openxmlformats.org/drawingml/2006/main">
              <a:ext uri="{FF2B5EF4-FFF2-40B4-BE49-F238E27FC236}">
                <a16:creationId xmlns:a16="http://schemas.microsoft.com/office/drawing/2014/main" id="{55F2477E-060B-412F-A25D-D352801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刪房後 rooms/current 404</a:t>
            </a:r>
          </a:p>
        </p:txBody>
      </p:sp>
      <p:sp>
        <p:nvSpPr>
          <p:cNvPr id="8" name="text-ahgklmn">
            <a:extLst xmlns:a="http://schemas.openxmlformats.org/drawingml/2006/main">
              <a:ext uri="{FF2B5EF4-FFF2-40B4-BE49-F238E27FC236}">
                <a16:creationId xmlns:a16="http://schemas.microsoft.com/office/drawing/2014/main" id="{B2F0E4EF-6170-44ED-9E3B-2A9F1346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257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DELETE 204 已成功</a:t>
            </a:r>
          </a:p>
          <a:p xmlns:a="http://schemas.openxmlformats.org/drawingml/2006/main">
            <a:pPr algn="ctr"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24 秒後舊分頁仍持續 polling</a:t>
            </a:r>
          </a:p>
        </p:txBody>
      </p:sp>
      <p:sp>
        <p:nvSpPr>
          <p:cNvPr id="9" name="text-bawdtnh">
            <a:extLst xmlns:a="http://schemas.openxmlformats.org/drawingml/2006/main">
              <a:ext uri="{FF2B5EF4-FFF2-40B4-BE49-F238E27FC236}">
                <a16:creationId xmlns:a16="http://schemas.microsoft.com/office/drawing/2014/main" id="{ABA347E7-6A5F-4FE4-A9FD-91639FC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PASS with findings</a:t>
            </a:r>
          </a:p>
        </p:txBody>
      </p:sp>
      <p:sp>
        <p:nvSpPr>
          <p:cNvPr id="10" name="text-2mpxnu0">
            <a:extLst xmlns:a="http://schemas.openxmlformats.org/drawingml/2006/main">
              <a:ext uri="{FF2B5EF4-FFF2-40B4-BE49-F238E27FC236}">
                <a16:creationId xmlns:a16="http://schemas.microsoft.com/office/drawing/2014/main" id="{E5D08881-5EBB-4A2D-96ED-539FD991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其餘發現</a:t>
            </a:r>
          </a:p>
        </p:txBody>
      </p:sp>
      <p:sp>
        <p:nvSpPr>
          <p:cNvPr id="11" name="shape-o4znlz2">
            <a:extLst xmlns:a="http://schemas.openxmlformats.org/drawingml/2006/main">
              <a:ext uri="{FF2B5EF4-FFF2-40B4-BE49-F238E27FC236}">
                <a16:creationId xmlns:a16="http://schemas.microsoft.com/office/drawing/2014/main" id="{958D8527-74BC-4D2A-863A-7668DA71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2" name="text-st8rgkj">
            <a:extLst xmlns:a="http://schemas.openxmlformats.org/drawingml/2006/main">
              <a:ext uri="{FF2B5EF4-FFF2-40B4-BE49-F238E27FC236}">
                <a16:creationId xmlns:a16="http://schemas.microsoft.com/office/drawing/2014/main" id="{BFB48257-F4BF-4608-985B-C636D8B1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95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B42318"/>
                </a:solidFill>
                <a:latin typeface="PingFang TC"/>
                <a:ea typeface="PingFang TC"/>
                <a:cs typeface="PingFang TC"/>
              </a:rPr>
              <a:t>JavaScript exception</a:t>
            </a:r>
          </a:p>
        </p:txBody>
      </p:sp>
      <p:sp>
        <p:nvSpPr>
          <p:cNvPr id="13" name="text-33czo2y">
            <a:extLst xmlns:a="http://schemas.openxmlformats.org/drawingml/2006/main">
              <a:ext uri="{FF2B5EF4-FFF2-40B4-BE49-F238E27FC236}">
                <a16:creationId xmlns:a16="http://schemas.microsoft.com/office/drawing/2014/main" id="{76BD8E63-892A-4537-B149-54135C67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角色儲存後曾直接顯示原始錯誤</a:t>
            </a:r>
          </a:p>
        </p:txBody>
      </p:sp>
      <p:sp>
        <p:nvSpPr>
          <p:cNvPr id="14" name="shape-ahr2vwr">
            <a:extLst xmlns:a="http://schemas.openxmlformats.org/drawingml/2006/main">
              <a:ext uri="{FF2B5EF4-FFF2-40B4-BE49-F238E27FC236}">
                <a16:creationId xmlns:a16="http://schemas.microsoft.com/office/drawing/2014/main" id="{AF9D1F3E-7962-40B6-9A30-4C0B99CA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16"/>
          </a:solidFill>
          <a:ln xmlns:a="http://schemas.openxmlformats.org/drawingml/2006/main" w="0">
            <a:solidFill>
              <a:srgbClr val="ED7D16"/>
            </a:solidFill>
            <a:prstDash val="solid"/>
          </a:ln>
        </p:spPr>
      </p:sp>
      <p:sp>
        <p:nvSpPr>
          <p:cNvPr id="15" name="text-n2nbz80">
            <a:extLst xmlns:a="http://schemas.openxmlformats.org/drawingml/2006/main">
              <a:ext uri="{FF2B5EF4-FFF2-40B4-BE49-F238E27FC236}">
                <a16:creationId xmlns:a16="http://schemas.microsoft.com/office/drawing/2014/main" id="{4421CC05-C145-406B-B6FB-4AB8BF5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iPhone Safari sync</a:t>
            </a:r>
          </a:p>
        </p:txBody>
      </p:sp>
      <p:sp>
        <p:nvSpPr>
          <p:cNvPr id="16" name="text-k4jnkd2">
            <a:extLst xmlns:a="http://schemas.openxmlformats.org/drawingml/2006/main">
              <a:ext uri="{FF2B5EF4-FFF2-40B4-BE49-F238E27FC236}">
                <a16:creationId xmlns:a16="http://schemas.microsoft.com/office/drawing/2014/main" id="{F061FD65-5097-47DE-9A54-E5F27052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需要多次手動重新整理</a:t>
            </a:r>
          </a:p>
        </p:txBody>
      </p:sp>
      <p:sp>
        <p:nvSpPr>
          <p:cNvPr id="17" name="shape-7hjt8dx">
            <a:extLst xmlns:a="http://schemas.openxmlformats.org/drawingml/2006/main">
              <a:ext uri="{FF2B5EF4-FFF2-40B4-BE49-F238E27FC236}">
                <a16:creationId xmlns:a16="http://schemas.microsoft.com/office/drawing/2014/main" id="{0EE0A622-D0DE-4388-B8C7-6D290DC5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862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900"/>
          </a:solidFill>
          <a:ln xmlns:a="http://schemas.openxmlformats.org/drawingml/2006/main" w="0">
            <a:solidFill>
              <a:srgbClr val="A86900"/>
            </a:solidFill>
            <a:prstDash val="solid"/>
          </a:ln>
        </p:spPr>
      </p:sp>
      <p:sp>
        <p:nvSpPr>
          <p:cNvPr id="18" name="text-dr2wufx">
            <a:extLst xmlns:a="http://schemas.openxmlformats.org/drawingml/2006/main">
              <a:ext uri="{FF2B5EF4-FFF2-40B4-BE49-F238E27FC236}">
                <a16:creationId xmlns:a16="http://schemas.microsoft.com/office/drawing/2014/main" id="{39850FAA-E7E5-4986-B474-F8CEC1A0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48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690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A86900"/>
                </a:solidFill>
                <a:latin typeface="PingFang TC"/>
                <a:ea typeface="PingFang TC"/>
                <a:cs typeface="PingFang TC"/>
              </a:rPr>
              <a:t>回合上限</a:t>
            </a:r>
          </a:p>
        </p:txBody>
      </p:sp>
      <p:sp>
        <p:nvSpPr>
          <p:cNvPr id="19" name="text-s4d1ba3">
            <a:extLst xmlns:a="http://schemas.openxmlformats.org/drawingml/2006/main">
              <a:ext uri="{FF2B5EF4-FFF2-40B4-BE49-F238E27FC236}">
                <a16:creationId xmlns:a16="http://schemas.microsoft.com/office/drawing/2014/main" id="{0A71CD96-9DE2-49FC-B70D-D5C206AF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910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世界生成前會回到預設 6</a:t>
            </a:r>
          </a:p>
        </p:txBody>
      </p:sp>
      <p:sp>
        <p:nvSpPr>
          <p:cNvPr id="20" name="shape-eby9xnk">
            <a:extLst xmlns:a="http://schemas.openxmlformats.org/drawingml/2006/main">
              <a:ext uri="{FF2B5EF4-FFF2-40B4-BE49-F238E27FC236}">
                <a16:creationId xmlns:a16="http://schemas.microsoft.com/office/drawing/2014/main" id="{46F0B454-AFB1-446E-AB9A-72E46E75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21" name="text-zjvgi2k">
            <a:extLst xmlns:a="http://schemas.openxmlformats.org/drawingml/2006/main">
              <a:ext uri="{FF2B5EF4-FFF2-40B4-BE49-F238E27FC236}">
                <a16:creationId xmlns:a16="http://schemas.microsoft.com/office/drawing/2014/main" id="{DFC6D738-DFED-405B-BFCF-3DB081FD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24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敘事深度</a:t>
            </a:r>
          </a:p>
        </p:txBody>
      </p:sp>
      <p:sp>
        <p:nvSpPr>
          <p:cNvPr id="22" name="text-9a9q6lu">
            <a:extLst xmlns:a="http://schemas.openxmlformats.org/drawingml/2006/main">
              <a:ext uri="{FF2B5EF4-FFF2-40B4-BE49-F238E27FC236}">
                <a16:creationId xmlns:a16="http://schemas.microsoft.com/office/drawing/2014/main" id="{CF507DB0-0E32-42AE-9898-E20E0C8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673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可完成遊戲；Prompt 優化列 post-MVP</a:t>
            </a:r>
          </a:p>
        </p:txBody>
      </p:sp>
      <p:sp>
        <p:nvSpPr>
          <p:cNvPr id="23" name="text-hboien0">
            <a:extLst xmlns:a="http://schemas.openxmlformats.org/drawingml/2006/main">
              <a:ext uri="{FF2B5EF4-FFF2-40B4-BE49-F238E27FC236}">
                <a16:creationId xmlns:a16="http://schemas.microsoft.com/office/drawing/2014/main" id="{8CDEC445-9F04-4B63-A45F-53E9D22A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38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CloudWatch 與 sanitized logs 將主觀回饋轉成可重現的工程問題</a:t>
            </a:r>
          </a:p>
        </p:txBody>
      </p:sp>
    </p:spTree>
    <p:extLst>
      <p:ext uri="{BB962C8B-B14F-4D97-AF65-F5344CB8AC3E}">
        <p14:creationId xmlns:p14="http://schemas.microsoft.com/office/powerpoint/2010/main" val="3493876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761433FC-1BE9-42D0-A1A7-B759440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候選架構以容器、非同步與 edge 防護擴展</a:t>
            </a:r>
          </a:p>
        </p:txBody>
      </p:sp>
      <p:sp>
        <p:nvSpPr>
          <p:cNvPr id="2" name="shape-wa7tx4j">
            <a:extLst xmlns:a="http://schemas.openxmlformats.org/drawingml/2006/main">
              <a:ext uri="{FF2B5EF4-FFF2-40B4-BE49-F238E27FC236}">
                <a16:creationId xmlns:a16="http://schemas.microsoft.com/office/drawing/2014/main" id="{98715A8B-6390-46FA-8E9F-C274E52F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m2n1k8g">
            <a:extLst xmlns:a="http://schemas.openxmlformats.org/drawingml/2006/main">
              <a:ext uri="{FF2B5EF4-FFF2-40B4-BE49-F238E27FC236}">
                <a16:creationId xmlns:a16="http://schemas.microsoft.com/office/drawing/2014/main" id="{1484EA6B-5C14-4055-8826-A56964FA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9tv43mj">
            <a:extLst xmlns:a="http://schemas.openxmlformats.org/drawingml/2006/main">
              <a:ext uri="{FF2B5EF4-FFF2-40B4-BE49-F238E27FC236}">
                <a16:creationId xmlns:a16="http://schemas.microsoft.com/office/drawing/2014/main" id="{F03AD524-4A73-4F37-868E-39A62414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6b7091759449d"/>
          <a:stretch xmlns:a="http://schemas.openxmlformats.org/drawingml/2006/main"/>
        </p:blipFill>
        <p:spPr>
          <a:xfrm xmlns:a="http://schemas.openxmlformats.org/drawingml/2006/main">
            <a:off x="1456267" y="1066800"/>
            <a:ext cx="9279467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25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AACE6C34-8F3A-4F66-9501-C6400D27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下一階段先做可觀測與自動部署</a:t>
            </a:r>
          </a:p>
        </p:txBody>
      </p:sp>
      <p:sp>
        <p:nvSpPr>
          <p:cNvPr id="2" name="shape-bn77l8l">
            <a:extLst xmlns:a="http://schemas.openxmlformats.org/drawingml/2006/main">
              <a:ext uri="{FF2B5EF4-FFF2-40B4-BE49-F238E27FC236}">
                <a16:creationId xmlns:a16="http://schemas.microsoft.com/office/drawing/2014/main" id="{AEE0BA14-221C-4DA4-8FCA-1C720B72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as81pdt">
            <a:extLst xmlns:a="http://schemas.openxmlformats.org/drawingml/2006/main">
              <a:ext uri="{FF2B5EF4-FFF2-40B4-BE49-F238E27FC236}">
                <a16:creationId xmlns:a16="http://schemas.microsoft.com/office/drawing/2014/main" id="{DE087DE9-F542-4C4B-BE57-D81836EF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第一次進度報告</a:t>
            </a:r>
          </a:p>
        </p:txBody>
      </p:sp>
      <p:sp>
        <p:nvSpPr>
          <p:cNvPr id="4" name="text-35s6q51">
            <a:extLst xmlns:a="http://schemas.openxmlformats.org/drawingml/2006/main">
              <a:ext uri="{FF2B5EF4-FFF2-40B4-BE49-F238E27FC236}">
                <a16:creationId xmlns:a16="http://schemas.microsoft.com/office/drawing/2014/main" id="{07929765-87CA-458A-8CD0-BC8D2EC1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5" name="text-1hh2tss">
            <a:extLst xmlns:a="http://schemas.openxmlformats.org/drawingml/2006/main">
              <a:ext uri="{FF2B5EF4-FFF2-40B4-BE49-F238E27FC236}">
                <a16:creationId xmlns:a16="http://schemas.microsoft.com/office/drawing/2014/main" id="{0C3014EC-2A12-472D-9ADE-8E7F0B2C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價值排序決定實作深度</a:t>
            </a:r>
          </a:p>
        </p:txBody>
      </p:sp>
      <p:sp>
        <p:nvSpPr>
          <p:cNvPr id="6" name="text-lb559hi">
            <a:extLst xmlns:a="http://schemas.openxmlformats.org/drawingml/2006/main">
              <a:ext uri="{FF2B5EF4-FFF2-40B4-BE49-F238E27FC236}">
                <a16:creationId xmlns:a16="http://schemas.microsoft.com/office/drawing/2014/main" id="{35A470DA-50A1-4A13-A4F8-F6DA477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現在</a:t>
            </a:r>
          </a:p>
        </p:txBody>
      </p:sp>
      <p:sp>
        <p:nvSpPr>
          <p:cNvPr id="7" name="shape-8ashvqy">
            <a:extLst xmlns:a="http://schemas.openxmlformats.org/drawingml/2006/main">
              <a:ext uri="{FF2B5EF4-FFF2-40B4-BE49-F238E27FC236}">
                <a16:creationId xmlns:a16="http://schemas.microsoft.com/office/drawing/2014/main" id="{3ECDDA18-8E42-4DAD-AB12-0335510C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8" name="text-1gq3llm">
            <a:extLst xmlns:a="http://schemas.openxmlformats.org/drawingml/2006/main">
              <a:ext uri="{FF2B5EF4-FFF2-40B4-BE49-F238E27FC236}">
                <a16:creationId xmlns:a16="http://schemas.microsoft.com/office/drawing/2014/main" id="{44DA19BA-EA0C-46B7-88F0-D81F5A98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Tier 0 收尾</a:t>
            </a:r>
          </a:p>
        </p:txBody>
      </p:sp>
      <p:sp>
        <p:nvSpPr>
          <p:cNvPr id="9" name="text-dw321xk">
            <a:extLst xmlns:a="http://schemas.openxmlformats.org/drawingml/2006/main">
              <a:ext uri="{FF2B5EF4-FFF2-40B4-BE49-F238E27FC236}">
                <a16:creationId xmlns:a16="http://schemas.microsoft.com/office/drawing/2014/main" id="{BB482660-F0FF-4373-A489-AD9A24D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2438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修正 exception</a:t>
            </a:r>
          </a:p>
          <a:p xmlns:a="http://schemas.openxmlformats.org/drawingml/2006/main">
            <a:pPr algn="ctr"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刪房導頁／polling</a:t>
            </a:r>
          </a:p>
        </p:txBody>
      </p:sp>
      <p:sp>
        <p:nvSpPr>
          <p:cNvPr id="10" name="text-kd5mgwa">
            <a:extLst xmlns:a="http://schemas.openxmlformats.org/drawingml/2006/main">
              <a:ext uri="{FF2B5EF4-FFF2-40B4-BE49-F238E27FC236}">
                <a16:creationId xmlns:a16="http://schemas.microsoft.com/office/drawing/2014/main" id="{326D972D-1172-4607-9E0E-6ADA29F8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優先</a:t>
            </a:r>
          </a:p>
        </p:txBody>
      </p:sp>
      <p:sp>
        <p:nvSpPr>
          <p:cNvPr id="11" name="shape-j41205d">
            <a:extLst xmlns:a="http://schemas.openxmlformats.org/drawingml/2006/main">
              <a:ext uri="{FF2B5EF4-FFF2-40B4-BE49-F238E27FC236}">
                <a16:creationId xmlns:a16="http://schemas.microsoft.com/office/drawing/2014/main" id="{F6A16A14-CFC7-4CD7-8BA4-86931EE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2" name="text-yubyo2x">
            <a:extLst xmlns:a="http://schemas.openxmlformats.org/drawingml/2006/main">
              <a:ext uri="{FF2B5EF4-FFF2-40B4-BE49-F238E27FC236}">
                <a16:creationId xmlns:a16="http://schemas.microsoft.com/office/drawing/2014/main" id="{48840E3F-64C0-4262-A6C4-F1F02682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Tier 1 + Tier 3</a:t>
            </a:r>
          </a:p>
        </p:txBody>
      </p:sp>
      <p:sp>
        <p:nvSpPr>
          <p:cNvPr id="13" name="text-138onj8">
            <a:extLst xmlns:a="http://schemas.openxmlformats.org/drawingml/2006/main">
              <a:ext uri="{FF2B5EF4-FFF2-40B4-BE49-F238E27FC236}">
                <a16:creationId xmlns:a16="http://schemas.microsoft.com/office/drawing/2014/main" id="{4DE59631-F107-4AB4-8D17-C3BB6F91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90825"/>
            <a:ext cx="2438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CloudWatch 完整化</a:t>
            </a:r>
          </a:p>
          <a:p xmlns:a="http://schemas.openxmlformats.org/drawingml/2006/main">
            <a:pPr algn="ctr"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Docker · ECR · CI/CD</a:t>
            </a:r>
          </a:p>
        </p:txBody>
      </p:sp>
      <p:sp>
        <p:nvSpPr>
          <p:cNvPr id="14" name="text-3vxk4ki">
            <a:extLst xmlns:a="http://schemas.openxmlformats.org/drawingml/2006/main">
              <a:ext uri="{FF2B5EF4-FFF2-40B4-BE49-F238E27FC236}">
                <a16:creationId xmlns:a16="http://schemas.microsoft.com/office/drawing/2014/main" id="{2AB6CADD-4AF4-44F3-B92E-20991210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66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選擇</a:t>
            </a:r>
          </a:p>
        </p:txBody>
      </p:sp>
      <p:sp>
        <p:nvSpPr>
          <p:cNvPr id="15" name="shape-nhmftg6">
            <a:extLst xmlns:a="http://schemas.openxmlformats.org/drawingml/2006/main">
              <a:ext uri="{FF2B5EF4-FFF2-40B4-BE49-F238E27FC236}">
                <a16:creationId xmlns:a16="http://schemas.microsoft.com/office/drawing/2014/main" id="{FF5B194A-6453-4BA7-9783-E7962AA1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6" name="text-43hopv3">
            <a:extLst xmlns:a="http://schemas.openxmlformats.org/drawingml/2006/main">
              <a:ext uri="{FF2B5EF4-FFF2-40B4-BE49-F238E27FC236}">
                <a16:creationId xmlns:a16="http://schemas.microsoft.com/office/drawing/2014/main" id="{79D5B988-0AD6-426E-A1E6-F3CD73D9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高價值延伸</a:t>
            </a:r>
          </a:p>
        </p:txBody>
      </p:sp>
      <p:sp>
        <p:nvSpPr>
          <p:cNvPr id="17" name="text-1a57shj">
            <a:extLst xmlns:a="http://schemas.openxmlformats.org/drawingml/2006/main">
              <a:ext uri="{FF2B5EF4-FFF2-40B4-BE49-F238E27FC236}">
                <a16:creationId xmlns:a16="http://schemas.microsoft.com/office/drawing/2014/main" id="{60B91226-862C-4FA0-80D8-52EFB64A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90825"/>
            <a:ext cx="2438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SQS／微服務 proof</a:t>
            </a:r>
          </a:p>
          <a:p xmlns:a="http://schemas.openxmlformats.org/drawingml/2006/main">
            <a:pPr algn="ctr"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RAG／Tutor／AIOps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86150" y="3171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8B57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762750" y="3171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D7D16"/>
            </a:solidFill>
            <a:prstDash val="solid"/>
            <a:tailEnd type="arrow" w="med" len="med"/>
          </a:ln>
        </p:spPr>
      </p:cxnSp>
      <p:sp>
        <p:nvSpPr>
          <p:cNvPr id="20" name="shape-rm16rop">
            <a:extLst xmlns:a="http://schemas.openxmlformats.org/drawingml/2006/main">
              <a:ext uri="{FF2B5EF4-FFF2-40B4-BE49-F238E27FC236}">
                <a16:creationId xmlns:a16="http://schemas.microsoft.com/office/drawing/2014/main" id="{003889D8-7985-4CE7-A1F6-CB7E828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9220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1" name="text-2tlm2y7">
            <a:extLst xmlns:a="http://schemas.openxmlformats.org/drawingml/2006/main">
              <a:ext uri="{FF2B5EF4-FFF2-40B4-BE49-F238E27FC236}">
                <a16:creationId xmlns:a16="http://schemas.microsoft.com/office/drawing/2014/main" id="{4E86AFFE-1F24-48F9-9BC5-D80C22A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即時聊天 · 大量玩家 · DDoS 防護</a:t>
            </a:r>
          </a:p>
        </p:txBody>
      </p:sp>
      <p:sp>
        <p:nvSpPr>
          <p:cNvPr id="22" name="text-v9k0v9m">
            <a:extLst xmlns:a="http://schemas.openxmlformats.org/drawingml/2006/main">
              <a:ext uri="{FF2B5EF4-FFF2-40B4-BE49-F238E27FC236}">
                <a16:creationId xmlns:a16="http://schemas.microsoft.com/office/drawing/2014/main" id="{FDB58AB1-1601-4035-B77A-93290C19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67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依時間、成本與展示價值選擇實作；其餘保留架構與驗證思路</a:t>
            </a:r>
          </a:p>
        </p:txBody>
      </p:sp>
      <p:sp>
        <p:nvSpPr>
          <p:cNvPr id="23" name="text-dhz0vl2">
            <a:extLst xmlns:a="http://schemas.openxmlformats.org/drawingml/2006/main">
              <a:ext uri="{FF2B5EF4-FFF2-40B4-BE49-F238E27FC236}">
                <a16:creationId xmlns:a16="http://schemas.microsoft.com/office/drawing/2014/main" id="{5E53B27C-310F-4CFC-B093-19023EFB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9 月交付目標：可部署、可觀測、可持續演進的 AWS 產品</a:t>
            </a:r>
          </a:p>
        </p:txBody>
      </p:sp>
    </p:spTree>
    <p:extLst>
      <p:ext uri="{BB962C8B-B14F-4D97-AF65-F5344CB8AC3E}">
        <p14:creationId xmlns:p14="http://schemas.microsoft.com/office/powerpoint/2010/main" val="512690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2026-08-21T06:51:25.3540000Z</dcterms:created>
  <dcterms:modified xsi:type="dcterms:W3CDTF">2026-08-21T06:51:25.3540000Z</dcterms:modified>
</coreProperties>
</file>