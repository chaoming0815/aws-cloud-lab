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67aeff8f6eb4909" /><Relationship Type="http://schemas.openxmlformats.org/officeDocument/2006/relationships/extended-properties" Target="/docProps/app.xml" Id="Rdb104459115f4c72" /><Relationship Type="http://schemas.openxmlformats.org/officeDocument/2006/relationships/officeDocument" Target="/ppt/presentation.xml" Id="R2583cd6e1ef2412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4a88a5e34c94789"/>
  </p:sldMasterIdLst>
  <p:notesMasterIdLst>
    <p:notesMasterId xmlns:r="http://schemas.openxmlformats.org/officeDocument/2006/relationships" r:id="Rbaf069531d1b4b39"/>
  </p:notesMasterIdLst>
  <p:sldIdLst>
    <p:sldId xmlns:r="http://schemas.openxmlformats.org/officeDocument/2006/relationships" id="256" r:id="Re6b2c3a96dae4593"/>
    <p:sldId xmlns:r="http://schemas.openxmlformats.org/officeDocument/2006/relationships" id="257" r:id="Rf90acc040ace417b"/>
    <p:sldId xmlns:r="http://schemas.openxmlformats.org/officeDocument/2006/relationships" id="258" r:id="Rf27a7cbf467e4cdf"/>
    <p:sldId xmlns:r="http://schemas.openxmlformats.org/officeDocument/2006/relationships" id="259" r:id="R232122bdfffb4616"/>
    <p:sldId xmlns:r="http://schemas.openxmlformats.org/officeDocument/2006/relationships" id="260" r:id="R97c264856ee8403a"/>
    <p:sldId xmlns:r="http://schemas.openxmlformats.org/officeDocument/2006/relationships" id="261" r:id="Rb7c216bb91064606"/>
    <p:sldId xmlns:r="http://schemas.openxmlformats.org/officeDocument/2006/relationships" id="262" r:id="R05c21f74d13e4bb1"/>
    <p:sldId xmlns:r="http://schemas.openxmlformats.org/officeDocument/2006/relationships" id="263" r:id="R7ea01006476e4dac"/>
    <p:sldId xmlns:r="http://schemas.openxmlformats.org/officeDocument/2006/relationships" id="264" r:id="R429bd18e404147d4"/>
    <p:sldId xmlns:r="http://schemas.openxmlformats.org/officeDocument/2006/relationships" id="265" r:id="R07f0ab85e5b9486f"/>
    <p:sldId xmlns:r="http://schemas.openxmlformats.org/officeDocument/2006/relationships" id="266" r:id="R49f7ee9951a746ab"/>
    <p:sldId xmlns:r="http://schemas.openxmlformats.org/officeDocument/2006/relationships" id="267" r:id="Rc3b35411e980444f"/>
    <p:sldId xmlns:r="http://schemas.openxmlformats.org/officeDocument/2006/relationships" id="268" r:id="R43277b8c63de49f9"/>
    <p:sldId xmlns:r="http://schemas.openxmlformats.org/officeDocument/2006/relationships" id="269" r:id="Rf334b350de6941cf"/>
    <p:sldId xmlns:r="http://schemas.openxmlformats.org/officeDocument/2006/relationships" id="270" r:id="Read434f8780549b3"/>
    <p:sldId xmlns:r="http://schemas.openxmlformats.org/officeDocument/2006/relationships" id="271" r:id="Rada26cd8e81c4dc5"/>
    <p:sldId xmlns:r="http://schemas.openxmlformats.org/officeDocument/2006/relationships" id="272" r:id="R3844ae54d73d4cb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b580d3316064364" /><Relationship Type="http://schemas.openxmlformats.org/officeDocument/2006/relationships/slideMaster" Target="/ppt/slideMasters/slideMaster1.xml" Id="R94a88a5e34c94789" /><Relationship Type="http://schemas.openxmlformats.org/officeDocument/2006/relationships/notesMaster" Target="/ppt/notesMasters/notesMaster1.xml" Id="Rbaf069531d1b4b39" /><Relationship Type="http://schemas.openxmlformats.org/officeDocument/2006/relationships/presProps" Target="/ppt/presProps.xml" Id="R1496764111534953" /><Relationship Type="http://schemas.openxmlformats.org/officeDocument/2006/relationships/tableStyles" Target="/ppt/tableStyles.xml" Id="Re09ba1fc564b40f3" /><Relationship Type="http://schemas.openxmlformats.org/officeDocument/2006/relationships/slide" Target="/ppt/slides/slide1.xml" Id="Re6b2c3a96dae4593" /><Relationship Type="http://schemas.openxmlformats.org/officeDocument/2006/relationships/slide" Target="/ppt/slides/slide2.xml" Id="Rf90acc040ace417b" /><Relationship Type="http://schemas.openxmlformats.org/officeDocument/2006/relationships/slide" Target="/ppt/slides/slide3.xml" Id="Rf27a7cbf467e4cdf" /><Relationship Type="http://schemas.openxmlformats.org/officeDocument/2006/relationships/slide" Target="/ppt/slides/slide4.xml" Id="R232122bdfffb4616" /><Relationship Type="http://schemas.openxmlformats.org/officeDocument/2006/relationships/slide" Target="/ppt/slides/slide5.xml" Id="R97c264856ee8403a" /><Relationship Type="http://schemas.openxmlformats.org/officeDocument/2006/relationships/slide" Target="/ppt/slides/slide6.xml" Id="Rb7c216bb91064606" /><Relationship Type="http://schemas.openxmlformats.org/officeDocument/2006/relationships/slide" Target="/ppt/slides/slide7.xml" Id="R05c21f74d13e4bb1" /><Relationship Type="http://schemas.openxmlformats.org/officeDocument/2006/relationships/slide" Target="/ppt/slides/slide8.xml" Id="R7ea01006476e4dac" /><Relationship Type="http://schemas.openxmlformats.org/officeDocument/2006/relationships/slide" Target="/ppt/slides/slide9.xml" Id="R429bd18e404147d4" /><Relationship Type="http://schemas.openxmlformats.org/officeDocument/2006/relationships/slide" Target="/ppt/slides/slide10.xml" Id="R07f0ab85e5b9486f" /><Relationship Type="http://schemas.openxmlformats.org/officeDocument/2006/relationships/slide" Target="/ppt/slides/slide11.xml" Id="R49f7ee9951a746ab" /><Relationship Type="http://schemas.openxmlformats.org/officeDocument/2006/relationships/slide" Target="/ppt/slides/slide12.xml" Id="Rc3b35411e980444f" /><Relationship Type="http://schemas.openxmlformats.org/officeDocument/2006/relationships/slide" Target="/ppt/slides/slide13.xml" Id="R43277b8c63de49f9" /><Relationship Type="http://schemas.openxmlformats.org/officeDocument/2006/relationships/slide" Target="/ppt/slides/slide14.xml" Id="Rf334b350de6941cf" /><Relationship Type="http://schemas.openxmlformats.org/officeDocument/2006/relationships/slide" Target="/ppt/slides/slide15.xml" Id="Read434f8780549b3" /><Relationship Type="http://schemas.openxmlformats.org/officeDocument/2006/relationships/slide" Target="/ppt/slides/slide16.xml" Id="Rada26cd8e81c4dc5" /><Relationship Type="http://schemas.openxmlformats.org/officeDocument/2006/relationships/slide" Target="/ppt/slides/slide17.xml" Id="R3844ae54d73d4cb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aef0bd48c6443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a07a656d9b4413" /><Relationship Type="http://schemas.openxmlformats.org/officeDocument/2006/relationships/notesMaster" Target="/ppt/notesMasters/notesMaster1.xml" Id="Re0be9d0f93a743b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4f8c2bf936f47b7" /><Relationship Type="http://schemas.openxmlformats.org/officeDocument/2006/relationships/notesMaster" Target="/ppt/notesMasters/notesMaster1.xml" Id="Rd111dcc07fb843b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81c7ef98fc0477b" /><Relationship Type="http://schemas.openxmlformats.org/officeDocument/2006/relationships/notesMaster" Target="/ppt/notesMasters/notesMaster1.xml" Id="R52102cd7e6c74bc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da1c91166b74c09" /><Relationship Type="http://schemas.openxmlformats.org/officeDocument/2006/relationships/notesMaster" Target="/ppt/notesMasters/notesMaster1.xml" Id="R024633e607434a4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edf1d635f7c4c29" /><Relationship Type="http://schemas.openxmlformats.org/officeDocument/2006/relationships/notesMaster" Target="/ppt/notesMasters/notesMaster1.xml" Id="R879d911ab2a04d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de3b63f0fbb4fe3" /><Relationship Type="http://schemas.openxmlformats.org/officeDocument/2006/relationships/notesMaster" Target="/ppt/notesMasters/notesMaster1.xml" Id="R2f3383d687354f2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525d752f47401f" /><Relationship Type="http://schemas.openxmlformats.org/officeDocument/2006/relationships/notesMaster" Target="/ppt/notesMasters/notesMaster1.xml" Id="Ra15c7a21adbf436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86f77c312324f6e" /><Relationship Type="http://schemas.openxmlformats.org/officeDocument/2006/relationships/notesMaster" Target="/ppt/notesMasters/notesMaster1.xml" Id="Re83e68f2a06242f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99b13ab12b94045" /><Relationship Type="http://schemas.openxmlformats.org/officeDocument/2006/relationships/notesMaster" Target="/ppt/notesMasters/notesMaster1.xml" Id="R6ca8ae2a626643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ed5ffdbac1bf4725" /><Relationship Type="http://schemas.openxmlformats.org/officeDocument/2006/relationships/notesMaster" Target="/ppt/notesMasters/notesMaster1.xml" Id="R094224843b90416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5f312366ee45a3" /><Relationship Type="http://schemas.openxmlformats.org/officeDocument/2006/relationships/notesMaster" Target="/ppt/notesMasters/notesMaster1.xml" Id="R919d5ca7fb24478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25d1e72da444a38" /><Relationship Type="http://schemas.openxmlformats.org/officeDocument/2006/relationships/notesMaster" Target="/ppt/notesMasters/notesMaster1.xml" Id="R9259b1a191fb4c4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48a6dd8a5f84325" /><Relationship Type="http://schemas.openxmlformats.org/officeDocument/2006/relationships/notesMaster" Target="/ppt/notesMasters/notesMaster1.xml" Id="Rec453893da16499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b9a8225bf024de2" /><Relationship Type="http://schemas.openxmlformats.org/officeDocument/2006/relationships/notesMaster" Target="/ppt/notesMasters/notesMaster1.xml" Id="R288840e1adc84f2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92639ff452f4aca" /><Relationship Type="http://schemas.openxmlformats.org/officeDocument/2006/relationships/notesMaster" Target="/ppt/notesMasters/notesMaster1.xml" Id="R6bc55cfcba1847c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d15ff3b202474720" /><Relationship Type="http://schemas.openxmlformats.org/officeDocument/2006/relationships/notesMaster" Target="/ppt/notesMasters/notesMaster1.xml" Id="R6fbdb2b59a714b3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de75970e56b42de" /><Relationship Type="http://schemas.openxmlformats.org/officeDocument/2006/relationships/notesMaster" Target="/ppt/notesMasters/notesMaster1.xml" Id="R16daa6f4fcef439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今天不是報告完成百分比，而是用一個真實多人 AI 產品，說明我如何把產品問題轉成 AWS 架構、風險控制與可驗證維運。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docs/handoffs/CURRENT.md</a:t>
            </a:r>
          </a:p>
          <a:p xmlns:a="http://schemas.openxmlformats.org/drawingml/2006/main">
            <a:r>
              <a:t>- docs/evidence/2026-08-20-tier0-four-player-trial/validation.md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第一章先談產品問題與價值。服務選型只有在問題被說清楚後才有意義。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docs/product/source-of-truth.md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多人共創真正困難的是同步與共識。共演計劃讓 server 維持 canonical state 與 deterministic rules，AI 只在既定結果上生成敘事，因此同一核心能從娛樂延伸到培訓模擬、共創工作坊與互動內容。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docs/product/source-of-truth.md</a:t>
            </a:r>
          </a:p>
          <a:p xmlns:a="http://schemas.openxmlformats.org/drawingml/2006/main">
            <a:r>
              <a:t>- docs/project-plan.md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RPG 是第一個可驗證場景，但核心不是奇幻故事，而是多人輸入、共同狀態、規則結算與 AI 受約束輸出。換成會議時，回合可對應議程與發言，AI 產生摘要和行動項；換成培訓時，規則可變成評估標準。這兩項是商業延伸概念，尚未實作。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docs/product/source-of-truth.md</a:t>
            </a:r>
          </a:p>
          <a:p xmlns:a="http://schemas.openxmlformats.org/drawingml/2006/main">
            <a:r>
              <a:t>- 產品延伸推論，未宣稱已實作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玩家只需要加入房間、提交行動、擲骰並閱讀共同故事。前端不接觸 AWS credential；後端結算規則和狀態，最後才把結果交給 Bedrock 轉成敘事。這個責任分離讓產品體驗簡單，也讓雲端元件能獨立替換。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docs/architecture/frontend-clean-architecture.md</a:t>
            </a:r>
          </a:p>
          <a:p xmlns:a="http://schemas.openxmlformats.org/drawingml/2006/main">
            <a:r>
              <a:t>- docs/architecture/llm-integration.md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這是公開 AWS 環境的實際遊玩畫面。四位玩家使用不同裝置完成世界生成、角色建立、四回合、AI 敘事、結局與刪房。這證明的是產品閉環，而不是只有單機畫面或後端測試。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docs/evidence/2026-08-20-tier0-four-player-trial/validation.md</a:t>
            </a:r>
          </a:p>
          <a:p xmlns:a="http://schemas.openxmlformats.org/drawingml/2006/main">
            <a:r>
              <a:t>- 內部實際遊玩截圖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第二章從問題回推服務。接下來依序說明服務選型、Nova Lite、模型抽換與實際部署架構。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docs/architecture/tier0-aws-deployment-plan.md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EC2 解決的是單一 process MVP 的可控部署；RDS 解決多人狀態與跨重啟 persistence；Bedrock 提供受治理的模型入口；SSM 讓維運不開 SSH；CloudWatch 把 log 轉成可查詢、可告警的操作證據。未使用的 NAT Gateway、ALB、ECS 等服務不是缺漏，而是目前沒有足夠價值支撐成本與複雜度。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docs/architecture/tier0-aws-deployment-plan.md</a:t>
            </a:r>
          </a:p>
          <a:p xmlns:a="http://schemas.openxmlformats.org/drawingml/2006/main">
            <a:r>
              <a:t>- infra/cloudformation/tier0-network.yaml</a:t>
            </a:r>
          </a:p>
          <a:p xmlns:a="http://schemas.openxmlformats.org/drawingml/2006/main">
            <a:r>
              <a:t>- infra/cloudformation/tier0-rds.yaml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Nova Lite 是目前已部署模型。AWS 將它定位為低成本、快速的 multimodal model；本專案只使用文字輸入，互動回合看重的是等待時間和成本平衡，而不是最大推理能力。程式以 Storyteller port 隔離應用層，Bedrock adapter 使用 Converse，model ID 由環境設定，因此在同介面模型間切換主要是設定與驗證工作，不需改寫遊戲規則。但『可抽換』不等於免測試，仍要重跑 schema、品質、延遲、成本、Region、IAM 與 Guardrail gate。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https://docs.aws.amazon.com/bedrock/latest/userguide/model-card-amazon-nova-lite.html</a:t>
            </a:r>
          </a:p>
          <a:p xmlns:a="http://schemas.openxmlformats.org/drawingml/2006/main">
            <a:r>
              <a:t>- https://docs.aws.amazon.com/bedrock/latest/userguide/apis.html</a:t>
            </a:r>
          </a:p>
          <a:p xmlns:a="http://schemas.openxmlformats.org/drawingml/2006/main">
            <a:r>
              <a:t>- backend/app/application/ports.py</a:t>
            </a:r>
          </a:p>
          <a:p xmlns:a="http://schemas.openxmlformats.org/drawingml/2006/main">
            <a:r>
              <a:t>- backend/app/adapters/bedrock_storyteller.py</a:t>
            </a:r>
          </a:p>
          <a:p xmlns:a="http://schemas.openxmlformats.org/drawingml/2006/main">
            <a:r>
              <a:t>- backend/app/main.py</a:t>
            </a:r>
          </a:p>
          <a:p xmlns:a="http://schemas.openxmlformats.org/drawingml/2006/main">
            <a:r>
              <a:t>- ops/release/enable_public_https.sh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FastAPI 只是入口。Room Service 管理房間生命週期，Domain Rules 決定骰子、進度、危機與結局；RDS 和 Bedrock 都隔離在 adapters。這讓一致性規則、資料持久化與 AI 敘事可以獨立測試，也讓 production wiring 能 fail closed。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backend/app/application/room_service.py</a:t>
            </a:r>
          </a:p>
          <a:p xmlns:a="http://schemas.openxmlformats.org/drawingml/2006/main">
            <a:r>
              <a:t>- docs/decisions/0003-adopt-postgresql-room-aggregate-repository.md</a:t>
            </a:r>
          </a:p>
          <a:p xmlns:a="http://schemas.openxmlformats.org/drawingml/2006/main">
            <a:r>
              <a:t>- docs/architecture/llm-integration.md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前端與後端都把介面定義留在應用核心，外部 I/O 由 adapter 實作。前端的 Fetch adapter 對接 FastAPI；後端的 Repository Port 與 Storyteller Port 分別由 PostgreSQL 與 Bedrock adapter 實作。這讓產品規則不直接依賴 AWS SDK，模型、資料庫或運維接點可以在 adapter 層抽換與驗證。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docs/architecture/frontend-clean-architecture.md</a:t>
            </a:r>
          </a:p>
          <a:p xmlns:a="http://schemas.openxmlformats.org/drawingml/2006/main">
            <a:r>
              <a:t>- docs/decisions/0002-adopt-clean-frontend-architecture.md</a:t>
            </a:r>
          </a:p>
          <a:p xmlns:a="http://schemas.openxmlformats.org/drawingml/2006/main">
            <a:r>
              <a:t>- web/src/application/ports/game-api.js</a:t>
            </a:r>
          </a:p>
          <a:p xmlns:a="http://schemas.openxmlformats.org/drawingml/2006/main">
            <a:r>
              <a:t>- backend/app/application/ports.py</a:t>
            </a:r>
          </a:p>
          <a:p xmlns:a="http://schemas.openxmlformats.org/drawingml/2006/main">
            <a:r>
              <a:t>- backend/app/adapters/bedrock_storyteller.py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玩家經 Internet Gateway 進入 public app subnet 的 EC2，資料庫只在 private DB subnets。EC2 透過 Bedrock 產生受約束敘事，CloudWatch 收集 safe application logs，Systems Manager 提供免 SSH 維運。圖上的三條外部依賴分別走上方、下方與管理平面通道，避免與 VPC 或 Subnet 邊界重疊。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infra/cloudformation/tier0-network.yaml</a:t>
            </a:r>
          </a:p>
          <a:p xmlns:a="http://schemas.openxmlformats.org/drawingml/2006/main">
            <a:r>
              <a:t>- infra/cloudformation/tier0-rds.yaml</a:t>
            </a:r>
          </a:p>
          <a:p xmlns:a="http://schemas.openxmlformats.org/drawingml/2006/main">
            <a:r>
              <a:t>- infra/cloudformation/tier1-observability.yaml</a:t>
            </a:r>
          </a:p>
          <a:p xmlns:a="http://schemas.openxmlformats.org/drawingml/2006/main">
            <a:r>
              <a:t>- infra/cloudformation/tier1-operations.yaml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第三章展示安全、成本、SSM 與 CloudWatch 的實機證據，也清楚區分已完成與尚未完成。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docs/evidence/2026-08-24-tier1-runtime-observability/validation.md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網路、權限與成本都在部署前被設計。管理面以 SSM 取代 SSH；private RDS 只接受 App SG；AppRole 只取得指定 Bedrock、CloudWatch 與 runtime secret。成本用 US$1 Budget、最小規格、七天 log retention 與明確不建立清單控制。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docs/architecture/tier0-aws-change-envelope.md</a:t>
            </a:r>
          </a:p>
          <a:p xmlns:a="http://schemas.openxmlformats.org/drawingml/2006/main">
            <a:r>
              <a:t>- docs/handoffs/CURRENT.md</a:t>
            </a:r>
          </a:p>
          <a:p xmlns:a="http://schemas.openxmlformats.org/drawingml/2006/main">
            <a:r>
              <a:t>- AWS Architecture Icons 2026 Q3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FastAPI 只把 allowlist 欄位寫入安全 JSONL，CloudWatch Agent 收集固定檔案並送到七天 retention 的 Log Group。Metric filter 只辨識 500 到 599，Alarm 門檻是一分鐘至少一次。SSM Health Document 已驗證 service、live 與 ready；正向 delivery 已完成，5xx trigger 和 recovery 尚未宣稱完成。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infra/cloudformation/tier1-observability.yaml</a:t>
            </a:r>
          </a:p>
          <a:p xmlns:a="http://schemas.openxmlformats.org/drawingml/2006/main">
            <a:r>
              <a:t>- infra/cloudformation/tier1-ssm-health-check.yaml</a:t>
            </a:r>
          </a:p>
          <a:p xmlns:a="http://schemas.openxmlformats.org/drawingml/2006/main">
            <a:r>
              <a:t>- docs/evidence/2026-08-24-tier1-runtime-observability/validation.md</a:t>
            </a:r>
          </a:p>
          <a:p xmlns:a="http://schemas.openxmlformats.org/drawingml/2006/main">
            <a:r>
              <a:t>- AWS Architecture Icons 2026 Q3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Tier 0 到 Tier 5 是同一產品的累積演進。Tier 0 證明可玩、private data 與 AWS 部署；Tier 1 加入可觀測與免 SSH 維運。後續才做元件隔離、CI/CD、微服務與 Agentic AI，每一層都必須有實際成果和證據。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AGENTS.md</a:t>
            </a:r>
          </a:p>
          <a:p xmlns:a="http://schemas.openxmlformats.org/drawingml/2006/main">
            <a:r>
              <a:t>- docs/project-plan.md</a:t>
            </a:r>
          </a:p>
          <a:p xmlns:a="http://schemas.openxmlformats.org/drawingml/2006/main">
            <a:r>
              <a:t>- docs/checkpoints.md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共演計劃展示的是完整的產品工程能力：把使用者需求轉成系統邊界，把風險轉成安全與 rollback，把部署轉成可重現證據。下一步會完成 5xx alarm、recovery 與 AIOps incident，但每次擴張仍以價值、成本與驗證為前提。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docs/handoffs/CURRENT.md</a:t>
            </a:r>
          </a:p>
          <a:p xmlns:a="http://schemas.openxmlformats.org/drawingml/2006/main">
            <a:r>
              <a:t>- docs/project-plan.md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73e271470e48b3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5f1a4ab69f4fc0" /><Relationship Type="http://schemas.openxmlformats.org/officeDocument/2006/relationships/slideLayout" Target="/ppt/slideLayouts/slideLayout1.xml" Id="Rdc2f2b71133149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c2f2b71133149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c216aab4e4045" /><Relationship Type="http://schemas.openxmlformats.org/officeDocument/2006/relationships/notesSlide" Target="/ppt/notesSlides/notesSlide1.xml" Id="Re4880f7de1614b5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aff40b849c487d" /><Relationship Type="http://schemas.openxmlformats.org/officeDocument/2006/relationships/notesSlide" Target="/ppt/notesSlides/notesSlide2.xml" Id="R484b27a40910465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77de006bb74003" /><Relationship Type="http://schemas.openxmlformats.org/officeDocument/2006/relationships/notesSlide" Target="/ppt/notesSlides/notesSlide3.xml" Id="R7a22c049393448c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522ecd639b4360" /><Relationship Type="http://schemas.openxmlformats.org/officeDocument/2006/relationships/notesSlide" Target="/ppt/notesSlides/notesSlide4.xml" Id="R658f238ee73145c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d40b77a1cc4973" /><Relationship Type="http://schemas.openxmlformats.org/officeDocument/2006/relationships/notesSlide" Target="/ppt/notesSlides/notesSlide5.xml" Id="Rc9f3e06e27714ba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a6934d1c824776" /><Relationship Type="http://schemas.openxmlformats.org/officeDocument/2006/relationships/image" Target="/ppt/media/image.png" Id="Rb983bd8986f24e87" /><Relationship Type="http://schemas.openxmlformats.org/officeDocument/2006/relationships/notesSlide" Target="/ppt/notesSlides/notesSlide6.xml" Id="Rddb315d8363141f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985d1122934747" /><Relationship Type="http://schemas.openxmlformats.org/officeDocument/2006/relationships/notesSlide" Target="/ppt/notesSlides/notesSlide7.xml" Id="R539c826a9f6f4ac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8df2ee2334fcb" /><Relationship Type="http://schemas.openxmlformats.org/officeDocument/2006/relationships/image" Target="/ppt/media/image.svg" Id="R4ccd9351d9dc4404" /><Relationship Type="http://schemas.openxmlformats.org/officeDocument/2006/relationships/image" Target="/ppt/media/image.png" Id="R0fc17c9943974ec6" /><Relationship Type="http://schemas.openxmlformats.org/officeDocument/2006/relationships/image" Target="/ppt/media/image2.png" Id="Rc457ade814d94853" /><Relationship Type="http://schemas.openxmlformats.org/officeDocument/2006/relationships/image" Target="/ppt/media/image2.svg" Id="Rc63e7bf95f7a41fb" /><Relationship Type="http://schemas.openxmlformats.org/officeDocument/2006/relationships/image" Target="/ppt/media/image3.png" Id="Rb907be2a20c24e5d" /><Relationship Type="http://schemas.openxmlformats.org/officeDocument/2006/relationships/image" Target="/ppt/media/image3.svg" Id="Rf7e2ecfcaa7d42b8" /><Relationship Type="http://schemas.openxmlformats.org/officeDocument/2006/relationships/image" Target="/ppt/media/image4.png" Id="R1a14be79b07c4733" /><Relationship Type="http://schemas.openxmlformats.org/officeDocument/2006/relationships/image" Target="/ppt/media/image4.svg" Id="R5a9b070a60f24195" /><Relationship Type="http://schemas.openxmlformats.org/officeDocument/2006/relationships/image" Target="/ppt/media/image5.png" Id="R61dd273e205a4ca3" /><Relationship Type="http://schemas.openxmlformats.org/officeDocument/2006/relationships/image" Target="/ppt/media/image5.svg" Id="R6aa3e3adcde4447c" /><Relationship Type="http://schemas.openxmlformats.org/officeDocument/2006/relationships/notesSlide" Target="/ppt/notesSlides/notesSlide8.xml" Id="R5a3d1024a3e34ac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d5d08ce4ec4358" /><Relationship Type="http://schemas.openxmlformats.org/officeDocument/2006/relationships/image" Target="/ppt/media/image6.png" Id="Rb3ad16bd40f943e6" /><Relationship Type="http://schemas.openxmlformats.org/officeDocument/2006/relationships/image" Target="/ppt/media/image6.svg" Id="Raadd5828e2c44edf" /><Relationship Type="http://schemas.openxmlformats.org/officeDocument/2006/relationships/notesSlide" Target="/ppt/notesSlides/notesSlide9.xml" Id="R22343238ae2947d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8b9d6949a04ccd" /><Relationship Type="http://schemas.openxmlformats.org/officeDocument/2006/relationships/image" Target="/ppt/media/image7.png" Id="R3a961adf81c84f05" /><Relationship Type="http://schemas.openxmlformats.org/officeDocument/2006/relationships/notesSlide" Target="/ppt/notesSlides/notesSlide10.xml" Id="R94e1b42dbeb04df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c2caf40a92d4357" /><Relationship Type="http://schemas.openxmlformats.org/officeDocument/2006/relationships/image" Target="/ppt/media/image8.png" Id="R89692c3a105e4415" /><Relationship Type="http://schemas.openxmlformats.org/officeDocument/2006/relationships/notesSlide" Target="/ppt/notesSlides/notesSlide11.xml" Id="R5f6c254069f64d9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900616e5ce4a8d" /><Relationship Type="http://schemas.openxmlformats.org/officeDocument/2006/relationships/image" Target="/ppt/media/image9.png" Id="Rcce9c90c3d724ab8" /><Relationship Type="http://schemas.openxmlformats.org/officeDocument/2006/relationships/notesSlide" Target="/ppt/notesSlides/notesSlide12.xml" Id="R3cd92aa52ab646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8ce06ba4ec495a" /><Relationship Type="http://schemas.openxmlformats.org/officeDocument/2006/relationships/notesSlide" Target="/ppt/notesSlides/notesSlide13.xml" Id="Rf833f9d6d743427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1080f2c3a54fd4" /><Relationship Type="http://schemas.openxmlformats.org/officeDocument/2006/relationships/image" Target="/ppt/media/image7.svg" Id="R79e15824942445fe" /><Relationship Type="http://schemas.openxmlformats.org/officeDocument/2006/relationships/image" Target="/ppt/media/image7.png" Id="Rc34a8dc8e255488a" /><Relationship Type="http://schemas.openxmlformats.org/officeDocument/2006/relationships/image" Target="/ppt/media/image8.svg" Id="R8271596094584c6e" /><Relationship Type="http://schemas.openxmlformats.org/officeDocument/2006/relationships/image" Target="/ppt/media/image8.png" Id="Rb746d4a5555a470c" /><Relationship Type="http://schemas.openxmlformats.org/officeDocument/2006/relationships/image" Target="/ppt/media/image9.svg" Id="R440d6e603c1a4944" /><Relationship Type="http://schemas.openxmlformats.org/officeDocument/2006/relationships/image" Target="/ppt/media/image9.png" Id="R134f3421c1f24e81" /><Relationship Type="http://schemas.openxmlformats.org/officeDocument/2006/relationships/notesSlide" Target="/ppt/notesSlides/notesSlide14.xml" Id="R5269f2658892488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7b8f350e2448b" /><Relationship Type="http://schemas.openxmlformats.org/officeDocument/2006/relationships/image" Target="/ppt/media/image10.png" Id="R29fa0cd934274d00" /><Relationship Type="http://schemas.openxmlformats.org/officeDocument/2006/relationships/notesSlide" Target="/ppt/notesSlides/notesSlide15.xml" Id="Raad09d3c41204c8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1911938415420e" /><Relationship Type="http://schemas.openxmlformats.org/officeDocument/2006/relationships/notesSlide" Target="/ppt/notesSlides/notesSlide16.xml" Id="R98fca50071c3411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0cf31ba344a05" /><Relationship Type="http://schemas.openxmlformats.org/officeDocument/2006/relationships/notesSlide" Target="/ppt/notesSlides/notesSlide17.xml" Id="Reefec6115a0c487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C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cover-kicker">
            <a:extLst xmlns:a="http://schemas.openxmlformats.org/drawingml/2006/main">
              <a:ext uri="{FF2B5EF4-FFF2-40B4-BE49-F238E27FC236}">
                <a16:creationId xmlns:a16="http://schemas.microsoft.com/office/drawing/2014/main" id="{369A32BA-0FD2-42FD-A6B9-0215B509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AWS CLOUD PRODUCT CASE</a:t>
            </a:r>
          </a:p>
        </p:txBody>
      </p:sp>
      <p:sp>
        <p:nvSpPr>
          <p:cNvPr id="2" name="cover-title">
            <a:extLst xmlns:a="http://schemas.openxmlformats.org/drawingml/2006/main">
              <a:ext uri="{FF2B5EF4-FFF2-40B4-BE49-F238E27FC236}">
                <a16:creationId xmlns:a16="http://schemas.microsoft.com/office/drawing/2014/main" id="{A6400521-4AB7-42BE-B1B4-0B11FE5B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562100"/>
            <a:ext cx="666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3" name="cover-subtitle">
            <a:extLst xmlns:a="http://schemas.openxmlformats.org/drawingml/2006/main">
              <a:ext uri="{FF2B5EF4-FFF2-40B4-BE49-F238E27FC236}">
                <a16:creationId xmlns:a16="http://schemas.microsoft.com/office/drawing/2014/main" id="{51AA789C-738C-4FE5-BDB1-F449182E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8858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多人 AI 產品如何同時做到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共同決策、私有資料與可觀測維運</a:t>
            </a:r>
          </a:p>
        </p:txBody>
      </p:sp>
      <p:sp>
        <p:nvSpPr>
          <p:cNvPr id="4" name="cover-line">
            <a:extLst xmlns:a="http://schemas.openxmlformats.org/drawingml/2006/main">
              <a:ext uri="{FF2B5EF4-FFF2-40B4-BE49-F238E27FC236}">
                <a16:creationId xmlns:a16="http://schemas.microsoft.com/office/drawing/2014/main" id="{A9424A19-DFBF-4CA2-8E2D-E4444EAD0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9900"/>
            </a:solidFill>
            <a:prstDash val="solid"/>
          </a:ln>
        </p:spPr>
      </p:sp>
      <p:sp>
        <p:nvSpPr>
          <p:cNvPr id="5" name="cover-proof">
            <a:extLst xmlns:a="http://schemas.openxmlformats.org/drawingml/2006/main">
              <a:ext uri="{FF2B5EF4-FFF2-40B4-BE49-F238E27FC236}">
                <a16:creationId xmlns:a16="http://schemas.microsoft.com/office/drawing/2014/main" id="{F409F23F-57B4-41B3-AC67-780D7DA7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5905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7FE0B5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7FE0B5"/>
                </a:solidFill>
                <a:latin typeface="PingFang TC"/>
                <a:ea typeface="PingFang TC"/>
                <a:cs typeface="PingFang TC"/>
              </a:rPr>
              <a:t>4 位玩家 · 4 回合 · AWS 實機驗證</a:t>
            </a:r>
          </a:p>
        </p:txBody>
      </p:sp>
      <p:sp>
        <p:nvSpPr>
          <p:cNvPr id="6" name="cover-meta">
            <a:extLst xmlns:a="http://schemas.openxmlformats.org/drawingml/2006/main">
              <a:ext uri="{FF2B5EF4-FFF2-40B4-BE49-F238E27FC236}">
                <a16:creationId xmlns:a16="http://schemas.microsoft.com/office/drawing/2014/main" id="{2650E14F-8F89-44AF-8F83-BC80E214C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7429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FastAPI  ·  Amazon RDS  ·  Amazon Bedrock  ·  CloudWatch</a:t>
            </a:r>
          </a:p>
        </p:txBody>
      </p:sp>
      <p:sp>
        <p:nvSpPr>
          <p:cNvPr id="7" name="cover-date">
            <a:extLst xmlns:a="http://schemas.openxmlformats.org/drawingml/2006/main">
              <a:ext uri="{FF2B5EF4-FFF2-40B4-BE49-F238E27FC236}">
                <a16:creationId xmlns:a16="http://schemas.microsoft.com/office/drawing/2014/main" id="{565D9072-EB7A-4B11-AD83-6E0CECBFD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579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產品架構展示  |  2026.08.24</a:t>
            </a:r>
          </a:p>
        </p:txBody>
      </p:sp>
      <p:sp>
        <p:nvSpPr>
          <p:cNvPr id="8" name="cover-orbit-1">
            <a:extLst xmlns:a="http://schemas.openxmlformats.org/drawingml/2006/main">
              <a:ext uri="{FF2B5EF4-FFF2-40B4-BE49-F238E27FC236}">
                <a16:creationId xmlns:a16="http://schemas.microsoft.com/office/drawing/2014/main" id="{D1DCC3F3-0E16-477A-92C7-C8FA33A4F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857250"/>
            <a:ext cx="1047750" cy="104775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34B65"/>
            </a:solidFill>
            <a:prstDash val="solid"/>
          </a:ln>
        </p:spPr>
      </p:sp>
      <p:sp>
        <p:nvSpPr>
          <p:cNvPr id="9" name="cover-orbit-2">
            <a:extLst xmlns:a="http://schemas.openxmlformats.org/drawingml/2006/main">
              <a:ext uri="{FF2B5EF4-FFF2-40B4-BE49-F238E27FC236}">
                <a16:creationId xmlns:a16="http://schemas.microsoft.com/office/drawing/2014/main" id="{94EDC4F1-BB33-4E0A-9FDF-48F734A83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90750"/>
            <a:ext cx="2095500" cy="2095500"/>
          </a:xfrm>
          <a:prstGeom xmlns:a="http://schemas.openxmlformats.org/drawingml/2006/main" prst="roundRect">
            <a:avLst>
              <a:gd name="adj" fmla="val 500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234B65"/>
            </a:solidFill>
            <a:prstDash val="solid"/>
          </a:ln>
        </p:spPr>
      </p:sp>
      <p:sp>
        <p:nvSpPr>
          <p:cNvPr id="10" name="cover-dot">
            <a:extLst xmlns:a="http://schemas.openxmlformats.org/drawingml/2006/main">
              <a:ext uri="{FF2B5EF4-FFF2-40B4-BE49-F238E27FC236}">
                <a16:creationId xmlns:a16="http://schemas.microsoft.com/office/drawing/2014/main" id="{07CB5C10-B3D5-4ECA-9AE2-C67F381EF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3048000"/>
            <a:ext cx="3238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age-mask-1">
            <a:extLst xmlns:a="http://schemas.openxmlformats.org/drawingml/2006/main">
              <a:ext uri="{FF2B5EF4-FFF2-40B4-BE49-F238E27FC236}">
                <a16:creationId xmlns:a16="http://schemas.microsoft.com/office/drawing/2014/main" id="{6F732F66-3388-40A7-AE4B-67B91906D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page-new-1">
            <a:extLst xmlns:a="http://schemas.openxmlformats.org/drawingml/2006/main">
              <a:ext uri="{FF2B5EF4-FFF2-40B4-BE49-F238E27FC236}">
                <a16:creationId xmlns:a16="http://schemas.microsoft.com/office/drawing/2014/main" id="{615A92D9-0DDB-42D8-9619-9D6B71CF3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4" name="page-mask-v2-1">
            <a:extLst xmlns:a="http://schemas.openxmlformats.org/drawingml/2006/main">
              <a:ext uri="{FF2B5EF4-FFF2-40B4-BE49-F238E27FC236}">
                <a16:creationId xmlns:a16="http://schemas.microsoft.com/office/drawing/2014/main" id="{3C1A0D31-AE28-47EA-80D7-04202723A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page-v2-1">
            <a:extLst xmlns:a="http://schemas.openxmlformats.org/drawingml/2006/main">
              <a:ext uri="{FF2B5EF4-FFF2-40B4-BE49-F238E27FC236}">
                <a16:creationId xmlns:a16="http://schemas.microsoft.com/office/drawing/2014/main" id="{2A1318AE-A767-4387-B9FD-CE8C266B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07736407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C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apter-no-01">
            <a:extLst xmlns:a="http://schemas.openxmlformats.org/drawingml/2006/main">
              <a:ext uri="{FF2B5EF4-FFF2-40B4-BE49-F238E27FC236}">
                <a16:creationId xmlns:a16="http://schemas.microsoft.com/office/drawing/2014/main" id="{BC8C3A07-8959-4B26-9394-7D9646B76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2" name="chapter-label-01">
            <a:extLst xmlns:a="http://schemas.openxmlformats.org/drawingml/2006/main">
              <a:ext uri="{FF2B5EF4-FFF2-40B4-BE49-F238E27FC236}">
                <a16:creationId xmlns:a16="http://schemas.microsoft.com/office/drawing/2014/main" id="{D0CB7B11-CC54-4D68-98B1-694F66457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71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WHY</a:t>
            </a:r>
          </a:p>
        </p:txBody>
      </p:sp>
      <p:sp>
        <p:nvSpPr>
          <p:cNvPr id="3" name="chapter-rule-01">
            <a:extLst xmlns:a="http://schemas.openxmlformats.org/drawingml/2006/main">
              <a:ext uri="{FF2B5EF4-FFF2-40B4-BE49-F238E27FC236}">
                <a16:creationId xmlns:a16="http://schemas.microsoft.com/office/drawing/2014/main" id="{A9BB5AEC-0751-4CBB-8319-546940BA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9900"/>
            </a:solidFill>
            <a:prstDash val="solid"/>
          </a:ln>
        </p:spPr>
      </p:sp>
      <p:sp>
        <p:nvSpPr>
          <p:cNvPr id="4" name="chapter-title-01">
            <a:extLst xmlns:a="http://schemas.openxmlformats.org/drawingml/2006/main">
              <a:ext uri="{FF2B5EF4-FFF2-40B4-BE49-F238E27FC236}">
                <a16:creationId xmlns:a16="http://schemas.microsoft.com/office/drawing/2014/main" id="{E8BCD834-163B-4DF7-95DD-F74E4858E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952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先證明產品價值，再談雲端服務。</a:t>
            </a:r>
          </a:p>
        </p:txBody>
      </p:sp>
      <p:sp>
        <p:nvSpPr>
          <p:cNvPr id="6" name="chapter-mark-01">
            <a:extLst xmlns:a="http://schemas.openxmlformats.org/drawingml/2006/main">
              <a:ext uri="{FF2B5EF4-FFF2-40B4-BE49-F238E27FC236}">
                <a16:creationId xmlns:a16="http://schemas.microsoft.com/office/drawing/2014/main" id="{0767F2C1-1A84-4368-AD15-97598CD7C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7" name="page-mask-2">
            <a:extLst xmlns:a="http://schemas.openxmlformats.org/drawingml/2006/main">
              <a:ext uri="{FF2B5EF4-FFF2-40B4-BE49-F238E27FC236}">
                <a16:creationId xmlns:a16="http://schemas.microsoft.com/office/drawing/2014/main" id="{F5C570C5-C088-42E7-8065-C3CBB98F5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ge-new-2">
            <a:extLst xmlns:a="http://schemas.openxmlformats.org/drawingml/2006/main">
              <a:ext uri="{FF2B5EF4-FFF2-40B4-BE49-F238E27FC236}">
                <a16:creationId xmlns:a16="http://schemas.microsoft.com/office/drawing/2014/main" id="{00685C7A-C08D-46E7-80AA-F4E42DBB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0" name="chapter-prompt-mask-v2-2">
            <a:extLst xmlns:a="http://schemas.openxmlformats.org/drawingml/2006/main">
              <a:ext uri="{FF2B5EF4-FFF2-40B4-BE49-F238E27FC236}">
                <a16:creationId xmlns:a16="http://schemas.microsoft.com/office/drawing/2014/main" id="{C88D22A9-206F-491D-A0D6-EBD4C79F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00550"/>
            <a:ext cx="962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hapter-prompt-v2-2">
            <a:extLst xmlns:a="http://schemas.openxmlformats.org/drawingml/2006/main">
              <a:ext uri="{FF2B5EF4-FFF2-40B4-BE49-F238E27FC236}">
                <a16:creationId xmlns:a16="http://schemas.microsoft.com/office/drawing/2014/main" id="{D9D6AF65-1638-480D-BEE3-32955766E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多人共同決策需要一致狀態、可延伸流程與可被信任的 AI 輸出。</a:t>
            </a:r>
          </a:p>
        </p:txBody>
      </p:sp>
      <p:sp>
        <p:nvSpPr>
          <p:cNvPr id="12" name="page-mask-v2-2">
            <a:extLst xmlns:a="http://schemas.openxmlformats.org/drawingml/2006/main">
              <a:ext uri="{FF2B5EF4-FFF2-40B4-BE49-F238E27FC236}">
                <a16:creationId xmlns:a16="http://schemas.microsoft.com/office/drawing/2014/main" id="{75214AFB-23B9-4B12-8C16-A7350AB7A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age-v2-2">
            <a:extLst xmlns:a="http://schemas.openxmlformats.org/drawingml/2006/main">
              <a:ext uri="{FF2B5EF4-FFF2-40B4-BE49-F238E27FC236}">
                <a16:creationId xmlns:a16="http://schemas.microsoft.com/office/drawing/2014/main" id="{8C7076A1-AD71-4A64-8370-EC4850B63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92191405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kicker-2">
            <a:extLst xmlns:a="http://schemas.openxmlformats.org/drawingml/2006/main">
              <a:ext uri="{FF2B5EF4-FFF2-40B4-BE49-F238E27FC236}">
                <a16:creationId xmlns:a16="http://schemas.microsoft.com/office/drawing/2014/main" id="{6EA771EB-F951-434D-BDCC-619BFC6A3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01  PRODUCT VALUE</a:t>
            </a:r>
          </a:p>
        </p:txBody>
      </p:sp>
      <p:sp>
        <p:nvSpPr>
          <p:cNvPr id="4" name="page-2">
            <a:extLst xmlns:a="http://schemas.openxmlformats.org/drawingml/2006/main">
              <a:ext uri="{FF2B5EF4-FFF2-40B4-BE49-F238E27FC236}">
                <a16:creationId xmlns:a16="http://schemas.microsoft.com/office/drawing/2014/main" id="{8C2B8B58-82CF-4877-86A3-7EF37F54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20" name="page-mask-3">
            <a:extLst xmlns:a="http://schemas.openxmlformats.org/drawingml/2006/main">
              <a:ext uri="{FF2B5EF4-FFF2-40B4-BE49-F238E27FC236}">
                <a16:creationId xmlns:a16="http://schemas.microsoft.com/office/drawing/2014/main" id="{7D9C23E0-FB22-4804-BB80-3E315BDBA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age-new-3">
            <a:extLst xmlns:a="http://schemas.openxmlformats.org/drawingml/2006/main">
              <a:ext uri="{FF2B5EF4-FFF2-40B4-BE49-F238E27FC236}">
                <a16:creationId xmlns:a16="http://schemas.microsoft.com/office/drawing/2014/main" id="{F80AFB59-31E6-47A6-A5DC-B033AD72C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2" name="PRODUCT VALUE-header-mask">
            <a:extLst xmlns:a="http://schemas.openxmlformats.org/drawingml/2006/main">
              <a:ext uri="{FF2B5EF4-FFF2-40B4-BE49-F238E27FC236}">
                <a16:creationId xmlns:a16="http://schemas.microsoft.com/office/drawing/2014/main" id="{676271B3-9677-4DDA-92E0-A1123727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1028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RODUCT VALUE-kicker">
            <a:extLst xmlns:a="http://schemas.openxmlformats.org/drawingml/2006/main">
              <a:ext uri="{FF2B5EF4-FFF2-40B4-BE49-F238E27FC236}">
                <a16:creationId xmlns:a16="http://schemas.microsoft.com/office/drawing/2014/main" id="{10F34B56-7491-40EB-8C90-FC5F8228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PRODUCT VALUE</a:t>
            </a:r>
          </a:p>
        </p:txBody>
      </p:sp>
      <p:sp>
        <p:nvSpPr>
          <p:cNvPr id="24" name="PRODUCT VALUE-title">
            <a:extLst xmlns:a="http://schemas.openxmlformats.org/drawingml/2006/main">
              <a:ext uri="{FF2B5EF4-FFF2-40B4-BE49-F238E27FC236}">
                <a16:creationId xmlns:a16="http://schemas.microsoft.com/office/drawing/2014/main" id="{2B141931-DEA4-42D7-BC87-7738CECC5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多人共創需要所有人共享同一狀態</a:t>
            </a:r>
          </a:p>
        </p:txBody>
      </p:sp>
      <p:sp>
        <p:nvSpPr>
          <p:cNvPr id="25" name="PRODUCT VALUE-rule">
            <a:extLst xmlns:a="http://schemas.openxmlformats.org/drawingml/2006/main">
              <a:ext uri="{FF2B5EF4-FFF2-40B4-BE49-F238E27FC236}">
                <a16:creationId xmlns:a16="http://schemas.microsoft.com/office/drawing/2014/main" id="{D31C663C-DF55-47F9-8E42-FC01195C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6" name="PRODUCT VALUE-kicker-mask">
            <a:extLst xmlns:a="http://schemas.openxmlformats.org/drawingml/2006/main">
              <a:ext uri="{FF2B5EF4-FFF2-40B4-BE49-F238E27FC236}">
                <a16:creationId xmlns:a16="http://schemas.microsoft.com/office/drawing/2014/main" id="{11B021AB-967A-46BE-980D-88654B09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RODUCT VALUE-kicker-new">
            <a:extLst xmlns:a="http://schemas.openxmlformats.org/drawingml/2006/main">
              <a:ext uri="{FF2B5EF4-FFF2-40B4-BE49-F238E27FC236}">
                <a16:creationId xmlns:a16="http://schemas.microsoft.com/office/drawing/2014/main" id="{D41F7520-F555-4305-BB28-136ECE421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PRODUCT VALUE</a:t>
            </a:r>
          </a:p>
        </p:txBody>
      </p:sp>
      <p:sp>
        <p:nvSpPr>
          <p:cNvPr id="28" name="page-mask-v2-3">
            <a:extLst xmlns:a="http://schemas.openxmlformats.org/drawingml/2006/main">
              <a:ext uri="{FF2B5EF4-FFF2-40B4-BE49-F238E27FC236}">
                <a16:creationId xmlns:a16="http://schemas.microsoft.com/office/drawing/2014/main" id="{80694BDF-98BA-4DBC-816E-BB6D7D04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age-v2-3">
            <a:extLst xmlns:a="http://schemas.openxmlformats.org/drawingml/2006/main">
              <a:ext uri="{FF2B5EF4-FFF2-40B4-BE49-F238E27FC236}">
                <a16:creationId xmlns:a16="http://schemas.microsoft.com/office/drawing/2014/main" id="{565DFF1B-21FF-4343-8462-78CAA36BA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30" name="p3-left-link">
            <a:extLst xmlns:a="http://schemas.openxmlformats.org/drawingml/2006/main">
              <a:ext uri="{FF2B5EF4-FFF2-40B4-BE49-F238E27FC236}">
                <a16:creationId xmlns:a16="http://schemas.microsoft.com/office/drawing/2014/main" id="{AE794584-DA5E-4E4A-89C6-2B5EEF66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3133725"/>
            <a:ext cx="19050" cy="19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1" name="p3-core-left">
            <a:extLst xmlns:a="http://schemas.openxmlformats.org/drawingml/2006/main">
              <a:ext uri="{FF2B5EF4-FFF2-40B4-BE49-F238E27FC236}">
                <a16:creationId xmlns:a16="http://schemas.microsoft.com/office/drawing/2014/main" id="{F9BDA6CD-7315-470E-9106-D6A35A627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133725"/>
            <a:ext cx="19050" cy="19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2" name="p3-core-right">
            <a:extLst xmlns:a="http://schemas.openxmlformats.org/drawingml/2006/main">
              <a:ext uri="{FF2B5EF4-FFF2-40B4-BE49-F238E27FC236}">
                <a16:creationId xmlns:a16="http://schemas.microsoft.com/office/drawing/2014/main" id="{AFF910A5-8835-4C7F-ACAC-D3F8F6287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133725"/>
            <a:ext cx="19050" cy="19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3" name="p3-right-link">
            <a:extLst xmlns:a="http://schemas.openxmlformats.org/drawingml/2006/main">
              <a:ext uri="{FF2B5EF4-FFF2-40B4-BE49-F238E27FC236}">
                <a16:creationId xmlns:a16="http://schemas.microsoft.com/office/drawing/2014/main" id="{1F090ED5-DCBA-49A9-842F-22BCDE334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3133725"/>
            <a:ext cx="19050" cy="19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4" name="p3-core-bottom">
            <a:extLst xmlns:a="http://schemas.openxmlformats.org/drawingml/2006/main">
              <a:ext uri="{FF2B5EF4-FFF2-40B4-BE49-F238E27FC236}">
                <a16:creationId xmlns:a16="http://schemas.microsoft.com/office/drawing/2014/main" id="{36B65268-BF4A-46BD-BB8E-3B43DB29B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848100"/>
            <a:ext cx="19050" cy="19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35" name="p3-bottom-link">
            <a:extLst xmlns:a="http://schemas.openxmlformats.org/drawingml/2006/main">
              <a:ext uri="{FF2B5EF4-FFF2-40B4-BE49-F238E27FC236}">
                <a16:creationId xmlns:a16="http://schemas.microsoft.com/office/drawing/2014/main" id="{1A790908-C228-4071-ACFA-384544A96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4514850"/>
            <a:ext cx="19050" cy="1905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cxnSp>
        <p:nvCxnSpPr>
          <p:cNvPr id="74" name=""/>
          <p:cNvCxnSpPr>
            <a:stCxn xmlns:a="http://schemas.openxmlformats.org/drawingml/2006/main" id="31" idx="6"/>
            <a:endCxn xmlns:a="http://schemas.openxmlformats.org/drawingml/2006/main" id="30" idx="2"/>
          </p:cNvCxnSpPr>
          <p:nvPr/>
        </p:nvCxnSpPr>
        <p:spPr>
          <a:xfrm xmlns:a="http://schemas.openxmlformats.org/drawingml/2006/main" flipH="1">
            <a:off x="3514725" y="3143250"/>
            <a:ext cx="12573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3B7"/>
            </a:solidFill>
            <a:prstDash val="solid"/>
          </a:ln>
        </p:spPr>
      </p:cxnSp>
      <p:cxnSp>
        <p:nvCxnSpPr>
          <p:cNvPr id="75" name=""/>
          <p:cNvCxnSpPr>
            <a:stCxn xmlns:a="http://schemas.openxmlformats.org/drawingml/2006/main" id="32" idx="6"/>
            <a:endCxn xmlns:a="http://schemas.openxmlformats.org/drawingml/2006/main" id="33" idx="2"/>
          </p:cNvCxnSpPr>
          <p:nvPr/>
        </p:nvCxnSpPr>
        <p:spPr>
          <a:xfrm xmlns:a="http://schemas.openxmlformats.org/drawingml/2006/main">
            <a:off x="7439025" y="3143250"/>
            <a:ext cx="1219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25D"/>
            </a:solidFill>
            <a:prstDash val="solid"/>
          </a:ln>
        </p:spPr>
      </p:cxnSp>
      <p:cxnSp>
        <p:nvCxnSpPr>
          <p:cNvPr id="76" name=""/>
          <p:cNvCxnSpPr>
            <a:stCxn xmlns:a="http://schemas.openxmlformats.org/drawingml/2006/main" id="34" idx="4"/>
            <a:endCxn xmlns:a="http://schemas.openxmlformats.org/drawingml/2006/main" id="35" idx="0"/>
          </p:cNvCxnSpPr>
          <p:nvPr/>
        </p:nvCxnSpPr>
        <p:spPr>
          <a:xfrm xmlns:a="http://schemas.openxmlformats.org/drawingml/2006/main">
            <a:off x="6096000" y="3867150"/>
            <a:ext cx="0" cy="6477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9900"/>
            </a:solidFill>
            <a:prstDash val="solid"/>
          </a:ln>
        </p:spPr>
      </p:cxnSp>
      <p:sp>
        <p:nvSpPr>
          <p:cNvPr id="39" name="p3-left">
            <a:extLst xmlns:a="http://schemas.openxmlformats.org/drawingml/2006/main">
              <a:ext uri="{FF2B5EF4-FFF2-40B4-BE49-F238E27FC236}">
                <a16:creationId xmlns:a16="http://schemas.microsoft.com/office/drawing/2014/main" id="{217C19AE-540D-47D2-8AA6-C61B81465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9146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3-left-tag">
            <a:extLst xmlns:a="http://schemas.openxmlformats.org/drawingml/2006/main">
              <a:ext uri="{FF2B5EF4-FFF2-40B4-BE49-F238E27FC236}">
                <a16:creationId xmlns:a16="http://schemas.microsoft.com/office/drawing/2014/main" id="{37D7649B-4BFA-4255-A915-4FD87A63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51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同步</a:t>
            </a:r>
          </a:p>
        </p:txBody>
      </p:sp>
      <p:sp>
        <p:nvSpPr>
          <p:cNvPr id="41" name="p3-left-title">
            <a:extLst xmlns:a="http://schemas.openxmlformats.org/drawingml/2006/main">
              <a:ext uri="{FF2B5EF4-FFF2-40B4-BE49-F238E27FC236}">
                <a16:creationId xmlns:a16="http://schemas.microsoft.com/office/drawing/2014/main" id="{877B4663-DFC6-434D-99DC-2F418EA6F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不同步</a:t>
            </a:r>
          </a:p>
        </p:txBody>
      </p:sp>
      <p:sp>
        <p:nvSpPr>
          <p:cNvPr id="42" name="p3-left-copy">
            <a:extLst xmlns:a="http://schemas.openxmlformats.org/drawingml/2006/main">
              <a:ext uri="{FF2B5EF4-FFF2-40B4-BE49-F238E27FC236}">
                <a16:creationId xmlns:a16="http://schemas.microsoft.com/office/drawing/2014/main" id="{32479D4D-75A7-4951-9285-C7DA614B5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337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每個人看到不同版本</a:t>
            </a:r>
          </a:p>
        </p:txBody>
      </p:sp>
      <p:sp>
        <p:nvSpPr>
          <p:cNvPr id="43" name="p3-right">
            <a:extLst xmlns:a="http://schemas.openxmlformats.org/drawingml/2006/main">
              <a:ext uri="{FF2B5EF4-FFF2-40B4-BE49-F238E27FC236}">
                <a16:creationId xmlns:a16="http://schemas.microsoft.com/office/drawing/2014/main" id="{C220286C-3FFD-4B7B-B5DB-D253A13C6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333625"/>
            <a:ext cx="2914650" cy="1619250"/>
          </a:xfrm>
          <a:prstGeom xmlns:a="http://schemas.openxmlformats.org/drawingml/2006/main" prst="roundRect">
            <a:avLst>
              <a:gd name="adj" fmla="val 10588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p3-right-tag">
            <a:extLst xmlns:a="http://schemas.openxmlformats.org/drawingml/2006/main">
              <a:ext uri="{FF2B5EF4-FFF2-40B4-BE49-F238E27FC236}">
                <a16:creationId xmlns:a16="http://schemas.microsoft.com/office/drawing/2014/main" id="{35548804-1347-4010-9D43-E384EB369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14600"/>
            <a:ext cx="857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規則</a:t>
            </a:r>
          </a:p>
        </p:txBody>
      </p:sp>
      <p:sp>
        <p:nvSpPr>
          <p:cNvPr id="45" name="p3-right-title">
            <a:extLst xmlns:a="http://schemas.openxmlformats.org/drawingml/2006/main">
              <a:ext uri="{FF2B5EF4-FFF2-40B4-BE49-F238E27FC236}">
                <a16:creationId xmlns:a16="http://schemas.microsoft.com/office/drawing/2014/main" id="{4640C6C5-B527-4BC9-B3A6-A3A6F8F9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8575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無共識</a:t>
            </a:r>
          </a:p>
        </p:txBody>
      </p:sp>
      <p:sp>
        <p:nvSpPr>
          <p:cNvPr id="46" name="p3-right-copy">
            <a:extLst xmlns:a="http://schemas.openxmlformats.org/drawingml/2006/main">
              <a:ext uri="{FF2B5EF4-FFF2-40B4-BE49-F238E27FC236}">
                <a16:creationId xmlns:a16="http://schemas.microsoft.com/office/drawing/2014/main" id="{58232153-097B-4F1D-BD3B-ADB653AC8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33750"/>
            <a:ext cx="228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AI 輸出沒有規則邊界</a:t>
            </a:r>
          </a:p>
        </p:txBody>
      </p:sp>
      <p:sp>
        <p:nvSpPr>
          <p:cNvPr id="47" name="p3-core">
            <a:extLst xmlns:a="http://schemas.openxmlformats.org/drawingml/2006/main">
              <a:ext uri="{FF2B5EF4-FFF2-40B4-BE49-F238E27FC236}">
                <a16:creationId xmlns:a16="http://schemas.microsoft.com/office/drawing/2014/main" id="{BE0F2D56-67B1-4E18-88D5-7C9CC17AA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524125"/>
            <a:ext cx="2667000" cy="1333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3-core-kicker">
            <a:extLst xmlns:a="http://schemas.openxmlformats.org/drawingml/2006/main">
              <a:ext uri="{FF2B5EF4-FFF2-40B4-BE49-F238E27FC236}">
                <a16:creationId xmlns:a16="http://schemas.microsoft.com/office/drawing/2014/main" id="{41568F64-9432-4FDC-AD67-AF874D94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86050"/>
            <a:ext cx="190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共同根因</a:t>
            </a:r>
          </a:p>
        </p:txBody>
      </p:sp>
      <p:sp>
        <p:nvSpPr>
          <p:cNvPr id="49" name="p3-core-title">
            <a:extLst xmlns:a="http://schemas.openxmlformats.org/drawingml/2006/main">
              <a:ext uri="{FF2B5EF4-FFF2-40B4-BE49-F238E27FC236}">
                <a16:creationId xmlns:a16="http://schemas.microsoft.com/office/drawing/2014/main" id="{1627AC95-FE42-48DF-B849-6B087B1DF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000375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缺少共同狀態</a:t>
            </a:r>
          </a:p>
        </p:txBody>
      </p:sp>
      <p:sp>
        <p:nvSpPr>
          <p:cNvPr id="50" name="p3-core-copy">
            <a:extLst xmlns:a="http://schemas.openxmlformats.org/drawingml/2006/main">
              <a:ext uri="{FF2B5EF4-FFF2-40B4-BE49-F238E27FC236}">
                <a16:creationId xmlns:a16="http://schemas.microsoft.com/office/drawing/2014/main" id="{8EBA3039-9E41-4735-8431-0796BE4C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00625" y="34099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沒有唯一版本與規則結果</a:t>
            </a:r>
          </a:p>
        </p:txBody>
      </p:sp>
      <p:sp>
        <p:nvSpPr>
          <p:cNvPr id="51" name="p3-bottom">
            <a:extLst xmlns:a="http://schemas.openxmlformats.org/drawingml/2006/main">
              <a:ext uri="{FF2B5EF4-FFF2-40B4-BE49-F238E27FC236}">
                <a16:creationId xmlns:a16="http://schemas.microsoft.com/office/drawing/2014/main" id="{D230C218-E873-492D-89A1-8852840E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524375"/>
            <a:ext cx="2857500" cy="1190625"/>
          </a:xfrm>
          <a:prstGeom xmlns:a="http://schemas.openxmlformats.org/drawingml/2006/main" prst="roundRect">
            <a:avLst>
              <a:gd name="adj" fmla="val 14400"/>
            </a:avLst>
          </a:prstGeom>
          <a:solidFill xmlns:a="http://schemas.openxmlformats.org/drawingml/2006/main">
            <a:srgbClr val="FFF3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p3-bottom-tag">
            <a:extLst xmlns:a="http://schemas.openxmlformats.org/drawingml/2006/main">
              <a:ext uri="{FF2B5EF4-FFF2-40B4-BE49-F238E27FC236}">
                <a16:creationId xmlns:a16="http://schemas.microsoft.com/office/drawing/2014/main" id="{619977F6-F3F9-474C-9FDC-C69681E1A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667250"/>
            <a:ext cx="95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產品化</a:t>
            </a:r>
          </a:p>
        </p:txBody>
      </p:sp>
      <p:sp>
        <p:nvSpPr>
          <p:cNvPr id="53" name="p3-bottom-title">
            <a:extLst xmlns:a="http://schemas.openxmlformats.org/drawingml/2006/main">
              <a:ext uri="{FF2B5EF4-FFF2-40B4-BE49-F238E27FC236}">
                <a16:creationId xmlns:a16="http://schemas.microsoft.com/office/drawing/2014/main" id="{0A14369E-BB43-41E4-B30A-63E61DBF8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4953000"/>
            <a:ext cx="2286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難延伸</a:t>
            </a:r>
          </a:p>
        </p:txBody>
      </p:sp>
      <p:sp>
        <p:nvSpPr>
          <p:cNvPr id="54" name="p3-bottom-copy">
            <a:extLst xmlns:a="http://schemas.openxmlformats.org/drawingml/2006/main">
              <a:ext uri="{FF2B5EF4-FFF2-40B4-BE49-F238E27FC236}">
                <a16:creationId xmlns:a16="http://schemas.microsoft.com/office/drawing/2014/main" id="{76F07048-D367-44D9-9451-E4AEBEFE0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334000"/>
            <a:ext cx="2286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一次性體驗無法成為服務</a:t>
            </a:r>
          </a:p>
        </p:txBody>
      </p:sp>
      <p:sp>
        <p:nvSpPr>
          <p:cNvPr id="55" name="p3-summary">
            <a:extLst xmlns:a="http://schemas.openxmlformats.org/drawingml/2006/main">
              <a:ext uri="{FF2B5EF4-FFF2-40B4-BE49-F238E27FC236}">
                <a16:creationId xmlns:a16="http://schemas.microsoft.com/office/drawing/2014/main" id="{70E4B4D9-3625-4FD5-B780-78D7DD231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953125"/>
            <a:ext cx="742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三個問題同時發生，解法必須從 canonical state 開始。</a:t>
            </a:r>
          </a:p>
        </p:txBody>
      </p:sp>
    </p:spTree>
    <p:extLst>
      <p:ext uri="{BB962C8B-B14F-4D97-AF65-F5344CB8AC3E}">
        <p14:creationId xmlns:p14="http://schemas.microsoft.com/office/powerpoint/2010/main" val="5963702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-BUSINESS EXTENSION">
            <a:extLst xmlns:a="http://schemas.openxmlformats.org/drawingml/2006/main">
              <a:ext uri="{FF2B5EF4-FFF2-40B4-BE49-F238E27FC236}">
                <a16:creationId xmlns:a16="http://schemas.microsoft.com/office/drawing/2014/main" id="{B4B5AC1E-3EBD-482A-B66D-99778B0D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BUSINESS EXTENSION</a:t>
            </a:r>
          </a:p>
        </p:txBody>
      </p:sp>
      <p:sp>
        <p:nvSpPr>
          <p:cNvPr id="2" name="t-BUSINESS EXTENSION">
            <a:extLst xmlns:a="http://schemas.openxmlformats.org/drawingml/2006/main">
              <a:ext uri="{FF2B5EF4-FFF2-40B4-BE49-F238E27FC236}">
                <a16:creationId xmlns:a16="http://schemas.microsoft.com/office/drawing/2014/main" id="{AD8D743B-0002-431E-A54F-70DDBC5A3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同一個多人協作核心，可以換成不同場景</a:t>
            </a:r>
          </a:p>
        </p:txBody>
      </p:sp>
      <p:sp>
        <p:nvSpPr>
          <p:cNvPr id="3" name="r-BUSINESS EXTENSION">
            <a:extLst xmlns:a="http://schemas.openxmlformats.org/drawingml/2006/main">
              <a:ext uri="{FF2B5EF4-FFF2-40B4-BE49-F238E27FC236}">
                <a16:creationId xmlns:a16="http://schemas.microsoft.com/office/drawing/2014/main" id="{B2FB8F87-E761-409B-93E6-61918871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1" name="page-mask-4">
            <a:extLst xmlns:a="http://schemas.openxmlformats.org/drawingml/2006/main">
              <a:ext uri="{FF2B5EF4-FFF2-40B4-BE49-F238E27FC236}">
                <a16:creationId xmlns:a16="http://schemas.microsoft.com/office/drawing/2014/main" id="{9429F4BC-4BAC-4AF3-9B67-16188F253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age-new-4">
            <a:extLst xmlns:a="http://schemas.openxmlformats.org/drawingml/2006/main">
              <a:ext uri="{FF2B5EF4-FFF2-40B4-BE49-F238E27FC236}">
                <a16:creationId xmlns:a16="http://schemas.microsoft.com/office/drawing/2014/main" id="{A0194F30-F632-454C-B43F-48E4809C6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4" name="BUSINESS EXTENSION-kicker-mask">
            <a:extLst xmlns:a="http://schemas.openxmlformats.org/drawingml/2006/main">
              <a:ext uri="{FF2B5EF4-FFF2-40B4-BE49-F238E27FC236}">
                <a16:creationId xmlns:a16="http://schemas.microsoft.com/office/drawing/2014/main" id="{5FE4DA1A-CA09-4D18-9FFB-FD6C80F5D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BUSINESS EXTENSION-kicker-new">
            <a:extLst xmlns:a="http://schemas.openxmlformats.org/drawingml/2006/main">
              <a:ext uri="{FF2B5EF4-FFF2-40B4-BE49-F238E27FC236}">
                <a16:creationId xmlns:a16="http://schemas.microsoft.com/office/drawing/2014/main" id="{EB7A47EF-1434-4078-AB41-FA07728D8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BUSINESS EXTENSION</a:t>
            </a:r>
          </a:p>
        </p:txBody>
      </p:sp>
      <p:sp>
        <p:nvSpPr>
          <p:cNvPr id="26" name="page-mask-v2-4">
            <a:extLst xmlns:a="http://schemas.openxmlformats.org/drawingml/2006/main">
              <a:ext uri="{FF2B5EF4-FFF2-40B4-BE49-F238E27FC236}">
                <a16:creationId xmlns:a16="http://schemas.microsoft.com/office/drawing/2014/main" id="{C26A4061-FE9F-42E7-8305-4CE198E83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page-v2-4">
            <a:extLst xmlns:a="http://schemas.openxmlformats.org/drawingml/2006/main">
              <a:ext uri="{FF2B5EF4-FFF2-40B4-BE49-F238E27FC236}">
                <a16:creationId xmlns:a16="http://schemas.microsoft.com/office/drawing/2014/main" id="{4FFD4AF4-AE83-44D1-A1F0-EE098D5BD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8" name="p4-field-0">
            <a:extLst xmlns:a="http://schemas.openxmlformats.org/drawingml/2006/main">
              <a:ext uri="{FF2B5EF4-FFF2-40B4-BE49-F238E27FC236}">
                <a16:creationId xmlns:a16="http://schemas.microsoft.com/office/drawing/2014/main" id="{0D8FE4FA-C45E-4E2D-91E5-0588E9DDA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3238500" cy="381000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4-no-0">
            <a:extLst xmlns:a="http://schemas.openxmlformats.org/drawingml/2006/main">
              <a:ext uri="{FF2B5EF4-FFF2-40B4-BE49-F238E27FC236}">
                <a16:creationId xmlns:a16="http://schemas.microsoft.com/office/drawing/2014/main" id="{1AC8CF48-699F-490E-8F20-3E4F98628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288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30" name="p4-tag-bg-0">
            <a:extLst xmlns:a="http://schemas.openxmlformats.org/drawingml/2006/main">
              <a:ext uri="{FF2B5EF4-FFF2-40B4-BE49-F238E27FC236}">
                <a16:creationId xmlns:a16="http://schemas.microsoft.com/office/drawing/2014/main" id="{944885AF-DA19-4163-946D-F0D7976FD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1790700"/>
            <a:ext cx="628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3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p4-tag-0">
            <a:extLst xmlns:a="http://schemas.openxmlformats.org/drawingml/2006/main">
              <a:ext uri="{FF2B5EF4-FFF2-40B4-BE49-F238E27FC236}">
                <a16:creationId xmlns:a16="http://schemas.microsoft.com/office/drawing/2014/main" id="{F5A1F948-6DE5-4FD6-9B77-C55E29C0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181927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遊戲</a:t>
            </a:r>
          </a:p>
        </p:txBody>
      </p:sp>
      <p:sp>
        <p:nvSpPr>
          <p:cNvPr id="32" name="p4-title-0">
            <a:extLst xmlns:a="http://schemas.openxmlformats.org/drawingml/2006/main">
              <a:ext uri="{FF2B5EF4-FFF2-40B4-BE49-F238E27FC236}">
                <a16:creationId xmlns:a16="http://schemas.microsoft.com/office/drawing/2014/main" id="{8375B514-C5A2-4C6B-A428-96359843A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 AI 文字 RPG</a:t>
            </a:r>
          </a:p>
        </p:txBody>
      </p:sp>
      <p:sp>
        <p:nvSpPr>
          <p:cNvPr id="33" name="p4-sep-0">
            <a:extLst xmlns:a="http://schemas.openxmlformats.org/drawingml/2006/main">
              <a:ext uri="{FF2B5EF4-FFF2-40B4-BE49-F238E27FC236}">
                <a16:creationId xmlns:a16="http://schemas.microsoft.com/office/drawing/2014/main" id="{389DBAE8-A3BD-4439-9B1D-B3609542E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527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73B7"/>
            </a:solidFill>
            <a:prstDash val="solid"/>
          </a:ln>
        </p:spPr>
      </p:sp>
      <p:sp>
        <p:nvSpPr>
          <p:cNvPr id="34" name="p4-flow-0">
            <a:extLst xmlns:a="http://schemas.openxmlformats.org/drawingml/2006/main">
              <a:ext uri="{FF2B5EF4-FFF2-40B4-BE49-F238E27FC236}">
                <a16:creationId xmlns:a16="http://schemas.microsoft.com/office/drawing/2014/main" id="{8BFAEFA6-080F-46D2-9935-0ADD01965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43250"/>
            <a:ext cx="2743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共同輸入</a:t>
            </a:r>
          </a:p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規則結算</a:t>
            </a:r>
          </a:p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同步敘事</a:t>
            </a:r>
          </a:p>
        </p:txBody>
      </p:sp>
      <p:sp>
        <p:nvSpPr>
          <p:cNvPr id="35" name="p4-value-label-0">
            <a:extLst xmlns:a="http://schemas.openxmlformats.org/drawingml/2006/main">
              <a:ext uri="{FF2B5EF4-FFF2-40B4-BE49-F238E27FC236}">
                <a16:creationId xmlns:a16="http://schemas.microsoft.com/office/drawing/2014/main" id="{760FC770-82C5-4381-BD19-3478C281C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4767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商業價值</a:t>
            </a:r>
          </a:p>
        </p:txBody>
      </p:sp>
      <p:sp>
        <p:nvSpPr>
          <p:cNvPr id="36" name="p4-value-0">
            <a:extLst xmlns:a="http://schemas.openxmlformats.org/drawingml/2006/main">
              <a:ext uri="{FF2B5EF4-FFF2-40B4-BE49-F238E27FC236}">
                <a16:creationId xmlns:a16="http://schemas.microsoft.com/office/drawing/2014/main" id="{26C62EAD-2B3C-4117-972B-8A6B29B00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625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娛樂與互動內容</a:t>
            </a:r>
          </a:p>
        </p:txBody>
      </p:sp>
      <p:sp>
        <p:nvSpPr>
          <p:cNvPr id="37" name="p4-field-1">
            <a:extLst xmlns:a="http://schemas.openxmlformats.org/drawingml/2006/main">
              <a:ext uri="{FF2B5EF4-FFF2-40B4-BE49-F238E27FC236}">
                <a16:creationId xmlns:a16="http://schemas.microsoft.com/office/drawing/2014/main" id="{9A115D63-7A1E-49AE-956E-B131AE47B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19250"/>
            <a:ext cx="3238500" cy="381000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p4-no-1">
            <a:extLst xmlns:a="http://schemas.openxmlformats.org/drawingml/2006/main">
              <a:ext uri="{FF2B5EF4-FFF2-40B4-BE49-F238E27FC236}">
                <a16:creationId xmlns:a16="http://schemas.microsoft.com/office/drawing/2014/main" id="{2DF6FC1C-1A76-4B68-BB32-A6AB36FA8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288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39" name="p4-tag-bg-1">
            <a:extLst xmlns:a="http://schemas.openxmlformats.org/drawingml/2006/main">
              <a:ext uri="{FF2B5EF4-FFF2-40B4-BE49-F238E27FC236}">
                <a16:creationId xmlns:a16="http://schemas.microsoft.com/office/drawing/2014/main" id="{174B8552-B943-4355-A6AB-19A37CD94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90700"/>
            <a:ext cx="628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p4-tag-1">
            <a:extLst xmlns:a="http://schemas.openxmlformats.org/drawingml/2006/main">
              <a:ext uri="{FF2B5EF4-FFF2-40B4-BE49-F238E27FC236}">
                <a16:creationId xmlns:a16="http://schemas.microsoft.com/office/drawing/2014/main" id="{164DEAEF-42FD-4918-8602-71AF1FE14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1927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會議</a:t>
            </a:r>
          </a:p>
        </p:txBody>
      </p:sp>
      <p:sp>
        <p:nvSpPr>
          <p:cNvPr id="41" name="p4-title-1">
            <a:extLst xmlns:a="http://schemas.openxmlformats.org/drawingml/2006/main">
              <a:ext uri="{FF2B5EF4-FFF2-40B4-BE49-F238E27FC236}">
                <a16:creationId xmlns:a16="http://schemas.microsoft.com/office/drawing/2014/main" id="{A2055497-61A4-4C38-86B9-75585E1F4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2669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AI 輔助會議</a:t>
            </a:r>
          </a:p>
        </p:txBody>
      </p:sp>
      <p:sp>
        <p:nvSpPr>
          <p:cNvPr id="42" name="p4-sep-1">
            <a:extLst xmlns:a="http://schemas.openxmlformats.org/drawingml/2006/main">
              <a:ext uri="{FF2B5EF4-FFF2-40B4-BE49-F238E27FC236}">
                <a16:creationId xmlns:a16="http://schemas.microsoft.com/office/drawing/2014/main" id="{0EE0C9C8-98F7-4DD6-B7F5-57EF0A741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29527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6825D"/>
            </a:solidFill>
            <a:prstDash val="solid"/>
          </a:ln>
        </p:spPr>
      </p:sp>
      <p:sp>
        <p:nvSpPr>
          <p:cNvPr id="43" name="p4-flow-1">
            <a:extLst xmlns:a="http://schemas.openxmlformats.org/drawingml/2006/main">
              <a:ext uri="{FF2B5EF4-FFF2-40B4-BE49-F238E27FC236}">
                <a16:creationId xmlns:a16="http://schemas.microsoft.com/office/drawing/2014/main" id="{E3F1FE36-E164-49BD-8344-C5E7DE98E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143250"/>
            <a:ext cx="2743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多人發言</a:t>
            </a:r>
          </a:p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主題聚類</a:t>
            </a:r>
          </a:p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摘要與行動項</a:t>
            </a:r>
          </a:p>
        </p:txBody>
      </p:sp>
      <p:sp>
        <p:nvSpPr>
          <p:cNvPr id="44" name="p4-value-label-1">
            <a:extLst xmlns:a="http://schemas.openxmlformats.org/drawingml/2006/main">
              <a:ext uri="{FF2B5EF4-FFF2-40B4-BE49-F238E27FC236}">
                <a16:creationId xmlns:a16="http://schemas.microsoft.com/office/drawing/2014/main" id="{26E694B2-9F0D-4357-AE52-F15F72F90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4767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商業價值</a:t>
            </a:r>
          </a:p>
        </p:txBody>
      </p:sp>
      <p:sp>
        <p:nvSpPr>
          <p:cNvPr id="45" name="p4-value-1">
            <a:extLst xmlns:a="http://schemas.openxmlformats.org/drawingml/2006/main">
              <a:ext uri="{FF2B5EF4-FFF2-40B4-BE49-F238E27FC236}">
                <a16:creationId xmlns:a16="http://schemas.microsoft.com/office/drawing/2014/main" id="{DC623E96-3361-4AF4-87D9-38AB05BCE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7625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縮短整理時間</a:t>
            </a:r>
          </a:p>
          <a:p xmlns:a="http://schemas.openxmlformats.org/drawingml/2006/main"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保留共同脈絡</a:t>
            </a:r>
          </a:p>
        </p:txBody>
      </p:sp>
      <p:sp>
        <p:nvSpPr>
          <p:cNvPr id="46" name="p4-field-2">
            <a:extLst xmlns:a="http://schemas.openxmlformats.org/drawingml/2006/main">
              <a:ext uri="{FF2B5EF4-FFF2-40B4-BE49-F238E27FC236}">
                <a16:creationId xmlns:a16="http://schemas.microsoft.com/office/drawing/2014/main" id="{F5AED150-4CFC-4F42-A98F-2FD274EB5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19250"/>
            <a:ext cx="3238500" cy="3810000"/>
          </a:xfrm>
          <a:prstGeom xmlns:a="http://schemas.openxmlformats.org/drawingml/2006/main" prst="roundRect">
            <a:avLst>
              <a:gd name="adj" fmla="val 6471"/>
            </a:avLst>
          </a:prstGeom>
          <a:solidFill xmlns:a="http://schemas.openxmlformats.org/drawingml/2006/main">
            <a:srgbClr val="FFF3E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p4-no-2">
            <a:extLst xmlns:a="http://schemas.openxmlformats.org/drawingml/2006/main">
              <a:ext uri="{FF2B5EF4-FFF2-40B4-BE49-F238E27FC236}">
                <a16:creationId xmlns:a16="http://schemas.microsoft.com/office/drawing/2014/main" id="{579D810D-1AE6-4D6A-BC89-2A0A61D1C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82880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48" name="p4-tag-bg-2">
            <a:extLst xmlns:a="http://schemas.openxmlformats.org/drawingml/2006/main">
              <a:ext uri="{FF2B5EF4-FFF2-40B4-BE49-F238E27FC236}">
                <a16:creationId xmlns:a16="http://schemas.microsoft.com/office/drawing/2014/main" id="{EE572313-0243-4317-9307-361987955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1790700"/>
            <a:ext cx="6286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9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p4-tag-2">
            <a:extLst xmlns:a="http://schemas.openxmlformats.org/drawingml/2006/main">
              <a:ext uri="{FF2B5EF4-FFF2-40B4-BE49-F238E27FC236}">
                <a16:creationId xmlns:a16="http://schemas.microsoft.com/office/drawing/2014/main" id="{0312CBD6-0D4A-48D7-9839-0D37066E2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819275"/>
            <a:ext cx="590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培訓</a:t>
            </a:r>
          </a:p>
        </p:txBody>
      </p:sp>
      <p:sp>
        <p:nvSpPr>
          <p:cNvPr id="50" name="p4-title-2">
            <a:extLst xmlns:a="http://schemas.openxmlformats.org/drawingml/2006/main">
              <a:ext uri="{FF2B5EF4-FFF2-40B4-BE49-F238E27FC236}">
                <a16:creationId xmlns:a16="http://schemas.microsoft.com/office/drawing/2014/main" id="{F10E5812-CAC4-4AFC-BF35-1795B492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266950"/>
            <a:ext cx="27432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培訓與工作坊</a:t>
            </a:r>
          </a:p>
        </p:txBody>
      </p:sp>
      <p:sp>
        <p:nvSpPr>
          <p:cNvPr id="51" name="p4-sep-2">
            <a:extLst xmlns:a="http://schemas.openxmlformats.org/drawingml/2006/main">
              <a:ext uri="{FF2B5EF4-FFF2-40B4-BE49-F238E27FC236}">
                <a16:creationId xmlns:a16="http://schemas.microsoft.com/office/drawing/2014/main" id="{91DA3C81-9CD1-4BA1-9694-6531CFA34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952750"/>
            <a:ext cx="2743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FF9900"/>
            </a:solidFill>
            <a:prstDash val="solid"/>
          </a:ln>
        </p:spPr>
      </p:sp>
      <p:sp>
        <p:nvSpPr>
          <p:cNvPr id="52" name="p4-flow-2">
            <a:extLst xmlns:a="http://schemas.openxmlformats.org/drawingml/2006/main">
              <a:ext uri="{FF2B5EF4-FFF2-40B4-BE49-F238E27FC236}">
                <a16:creationId xmlns:a16="http://schemas.microsoft.com/office/drawing/2014/main" id="{50E8BB43-4C54-4ED2-9F23-003A68BC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143250"/>
            <a:ext cx="2743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角色任務</a:t>
            </a:r>
          </a:p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情境評估</a:t>
            </a:r>
          </a:p>
          <a:p xmlns:a="http://schemas.openxmlformats.org/drawingml/2006/main">
            <a:pPr algn="l"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回饋與復盤</a:t>
            </a:r>
          </a:p>
        </p:txBody>
      </p:sp>
      <p:sp>
        <p:nvSpPr>
          <p:cNvPr id="53" name="p4-value-label-2">
            <a:extLst xmlns:a="http://schemas.openxmlformats.org/drawingml/2006/main">
              <a:ext uri="{FF2B5EF4-FFF2-40B4-BE49-F238E27FC236}">
                <a16:creationId xmlns:a16="http://schemas.microsoft.com/office/drawing/2014/main" id="{8C709F87-0A2F-45DA-926F-53C446E11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4767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商業價值</a:t>
            </a:r>
          </a:p>
        </p:txBody>
      </p:sp>
      <p:sp>
        <p:nvSpPr>
          <p:cNvPr id="54" name="p4-value-2">
            <a:extLst xmlns:a="http://schemas.openxmlformats.org/drawingml/2006/main">
              <a:ext uri="{FF2B5EF4-FFF2-40B4-BE49-F238E27FC236}">
                <a16:creationId xmlns:a16="http://schemas.microsoft.com/office/drawing/2014/main" id="{4DDB795D-9D34-4ED8-936B-031A87651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2743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可重複演練</a:t>
            </a:r>
          </a:p>
          <a:p xmlns:a="http://schemas.openxmlformats.org/drawingml/2006/main">
            <a:pPr algn="l">
              <a:def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可量化觀察</a:t>
            </a:r>
          </a:p>
        </p:txBody>
      </p:sp>
      <p:sp>
        <p:nvSpPr>
          <p:cNvPr id="55" name="p4-note">
            <a:extLst xmlns:a="http://schemas.openxmlformats.org/drawingml/2006/main">
              <a:ext uri="{FF2B5EF4-FFF2-40B4-BE49-F238E27FC236}">
                <a16:creationId xmlns:a16="http://schemas.microsoft.com/office/drawing/2014/main" id="{EF954AC0-18DE-4A37-9903-D0A2CDA91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715000"/>
            <a:ext cx="89535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4F7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p4-note-text">
            <a:extLst xmlns:a="http://schemas.openxmlformats.org/drawingml/2006/main">
              <a:ext uri="{FF2B5EF4-FFF2-40B4-BE49-F238E27FC236}">
                <a16:creationId xmlns:a16="http://schemas.microsoft.com/office/drawing/2014/main" id="{C4777A15-FF10-4E30-A45C-FF05E9D29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810250"/>
            <a:ext cx="8477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共同核心：參與者、回合／議程、canonical state、AI 受約束輸出；後兩項為延伸方向。</a:t>
            </a:r>
          </a:p>
        </p:txBody>
      </p:sp>
    </p:spTree>
    <p:extLst>
      <p:ext uri="{BB962C8B-B14F-4D97-AF65-F5344CB8AC3E}">
        <p14:creationId xmlns:p14="http://schemas.microsoft.com/office/powerpoint/2010/main" val="10701684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kicker-3">
            <a:extLst xmlns:a="http://schemas.openxmlformats.org/drawingml/2006/main">
              <a:ext uri="{FF2B5EF4-FFF2-40B4-BE49-F238E27FC236}">
                <a16:creationId xmlns:a16="http://schemas.microsoft.com/office/drawing/2014/main" id="{5E38F992-E110-4417-89C7-4DC6A6E81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02  EXPERIENCE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7ED6E4ED-CA66-49B2-AB67-81865A56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玩家只做決策，平台完成其餘閉環</a:t>
            </a:r>
          </a:p>
        </p:txBody>
      </p:sp>
      <p:sp>
        <p:nvSpPr>
          <p:cNvPr id="3" name="title-line-3">
            <a:extLst xmlns:a="http://schemas.openxmlformats.org/drawingml/2006/main">
              <a:ext uri="{FF2B5EF4-FFF2-40B4-BE49-F238E27FC236}">
                <a16:creationId xmlns:a16="http://schemas.microsoft.com/office/drawing/2014/main" id="{1AD0DDDC-AD72-406E-9515-D1CCA55E1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4" name="page-3">
            <a:extLst xmlns:a="http://schemas.openxmlformats.org/drawingml/2006/main">
              <a:ext uri="{FF2B5EF4-FFF2-40B4-BE49-F238E27FC236}">
                <a16:creationId xmlns:a16="http://schemas.microsoft.com/office/drawing/2014/main" id="{662DB084-1D0F-4AF0-8608-FCE29D641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5" name="loop-0">
            <a:extLst xmlns:a="http://schemas.openxmlformats.org/drawingml/2006/main">
              <a:ext uri="{FF2B5EF4-FFF2-40B4-BE49-F238E27FC236}">
                <a16:creationId xmlns:a16="http://schemas.microsoft.com/office/drawing/2014/main" id="{99EDB4D7-F95C-4EB4-94F8-EB44CC382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1809750" cy="1809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loop-1">
            <a:extLst xmlns:a="http://schemas.openxmlformats.org/drawingml/2006/main">
              <a:ext uri="{FF2B5EF4-FFF2-40B4-BE49-F238E27FC236}">
                <a16:creationId xmlns:a16="http://schemas.microsoft.com/office/drawing/2014/main" id="{EAC23EB4-DD25-4F42-B77C-799970A83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381250"/>
            <a:ext cx="1809750" cy="1809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loop-2">
            <a:extLst xmlns:a="http://schemas.openxmlformats.org/drawingml/2006/main">
              <a:ext uri="{FF2B5EF4-FFF2-40B4-BE49-F238E27FC236}">
                <a16:creationId xmlns:a16="http://schemas.microsoft.com/office/drawing/2014/main" id="{2624FC9E-F8BA-42AF-ADC0-3678AAF24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81250"/>
            <a:ext cx="1809750" cy="1809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loop-3">
            <a:extLst xmlns:a="http://schemas.openxmlformats.org/drawingml/2006/main">
              <a:ext uri="{FF2B5EF4-FFF2-40B4-BE49-F238E27FC236}">
                <a16:creationId xmlns:a16="http://schemas.microsoft.com/office/drawing/2014/main" id="{1AC7B721-78E2-4AF2-A42B-2748BA76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381250"/>
            <a:ext cx="1809750" cy="1809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noFill/>
            <a:prstDash val="solid"/>
          </a:ln>
        </p:spPr>
      </p:sp>
      <p:cxnSp>
        <p:nvCxnSpPr>
          <p:cNvPr id="105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724150" y="32861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3B7"/>
            </a:solidFill>
            <a:prstDash val="solid"/>
            <a:tailEnd type="triangle" w="sm" len="sm"/>
          </a:ln>
        </p:spPr>
      </p:cxnSp>
      <p:cxnSp>
        <p:nvCxnSpPr>
          <p:cNvPr id="106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334000" y="32861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825D"/>
            </a:solidFill>
            <a:prstDash val="solid"/>
            <a:tailEnd type="triangle" w="sm" len="sm"/>
          </a:ln>
        </p:spPr>
      </p:cxnSp>
      <p:cxnSp>
        <p:nvCxnSpPr>
          <p:cNvPr id="107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943850" y="3286125"/>
            <a:ext cx="800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F73B7"/>
            </a:solidFill>
            <a:prstDash val="solid"/>
            <a:tailEnd type="triangle" w="sm" len="sm"/>
          </a:ln>
        </p:spPr>
      </p:cxnSp>
      <p:sp>
        <p:nvSpPr>
          <p:cNvPr id="12" name="loop-no-0">
            <a:extLst xmlns:a="http://schemas.openxmlformats.org/drawingml/2006/main">
              <a:ext uri="{FF2B5EF4-FFF2-40B4-BE49-F238E27FC236}">
                <a16:creationId xmlns:a16="http://schemas.microsoft.com/office/drawing/2014/main" id="{869CD38C-03A7-4B6D-B382-1E09A163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717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01</a:t>
            </a:r>
          </a:p>
        </p:txBody>
      </p:sp>
      <p:sp>
        <p:nvSpPr>
          <p:cNvPr id="13" name="loop-title-0">
            <a:extLst xmlns:a="http://schemas.openxmlformats.org/drawingml/2006/main">
              <a:ext uri="{FF2B5EF4-FFF2-40B4-BE49-F238E27FC236}">
                <a16:creationId xmlns:a16="http://schemas.microsoft.com/office/drawing/2014/main" id="{70AB09FC-79CA-45BC-A97C-FE61955CB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028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加入房間</a:t>
            </a:r>
          </a:p>
        </p:txBody>
      </p:sp>
      <p:sp>
        <p:nvSpPr>
          <p:cNvPr id="14" name="loop-sub-0">
            <a:extLst xmlns:a="http://schemas.openxmlformats.org/drawingml/2006/main">
              <a:ext uri="{FF2B5EF4-FFF2-40B4-BE49-F238E27FC236}">
                <a16:creationId xmlns:a16="http://schemas.microsoft.com/office/drawing/2014/main" id="{3D296C5B-EB16-4FD7-B291-5570F246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433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3–5 位玩家</a:t>
            </a:r>
          </a:p>
        </p:txBody>
      </p:sp>
      <p:sp>
        <p:nvSpPr>
          <p:cNvPr id="15" name="loop-no-1">
            <a:extLst xmlns:a="http://schemas.openxmlformats.org/drawingml/2006/main">
              <a:ext uri="{FF2B5EF4-FFF2-40B4-BE49-F238E27FC236}">
                <a16:creationId xmlns:a16="http://schemas.microsoft.com/office/drawing/2014/main" id="{56CE029D-B774-47A0-AB46-91DFCD5AB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717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16" name="loop-title-1">
            <a:extLst xmlns:a="http://schemas.openxmlformats.org/drawingml/2006/main">
              <a:ext uri="{FF2B5EF4-FFF2-40B4-BE49-F238E27FC236}">
                <a16:creationId xmlns:a16="http://schemas.microsoft.com/office/drawing/2014/main" id="{FEBD13C1-F644-480A-A7B1-4C04FD559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028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共同決策</a:t>
            </a:r>
          </a:p>
        </p:txBody>
      </p:sp>
      <p:sp>
        <p:nvSpPr>
          <p:cNvPr id="17" name="loop-sub-1">
            <a:extLst xmlns:a="http://schemas.openxmlformats.org/drawingml/2006/main">
              <a:ext uri="{FF2B5EF4-FFF2-40B4-BE49-F238E27FC236}">
                <a16:creationId xmlns:a16="http://schemas.microsoft.com/office/drawing/2014/main" id="{8DE9543E-9867-4165-98C8-E3759C0A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433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行動 · 骰子</a:t>
            </a:r>
          </a:p>
        </p:txBody>
      </p:sp>
      <p:sp>
        <p:nvSpPr>
          <p:cNvPr id="18" name="loop-no-2">
            <a:extLst xmlns:a="http://schemas.openxmlformats.org/drawingml/2006/main">
              <a:ext uri="{FF2B5EF4-FFF2-40B4-BE49-F238E27FC236}">
                <a16:creationId xmlns:a16="http://schemas.microsoft.com/office/drawing/2014/main" id="{785B1877-47F5-42D2-95BF-8C7A413D6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5717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19" name="loop-title-2">
            <a:extLst xmlns:a="http://schemas.openxmlformats.org/drawingml/2006/main">
              <a:ext uri="{FF2B5EF4-FFF2-40B4-BE49-F238E27FC236}">
                <a16:creationId xmlns:a16="http://schemas.microsoft.com/office/drawing/2014/main" id="{750A07DF-16D9-4BB5-A9BB-A5879777C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28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規則結算</a:t>
            </a:r>
          </a:p>
        </p:txBody>
      </p:sp>
      <p:sp>
        <p:nvSpPr>
          <p:cNvPr id="20" name="loop-sub-2">
            <a:extLst xmlns:a="http://schemas.openxmlformats.org/drawingml/2006/main">
              <a:ext uri="{FF2B5EF4-FFF2-40B4-BE49-F238E27FC236}">
                <a16:creationId xmlns:a16="http://schemas.microsoft.com/office/drawing/2014/main" id="{859A2220-E832-446A-85B8-B6CA6F6F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5433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進度 · 危機 · 結局</a:t>
            </a:r>
          </a:p>
        </p:txBody>
      </p:sp>
      <p:sp>
        <p:nvSpPr>
          <p:cNvPr id="21" name="loop-no-3">
            <a:extLst xmlns:a="http://schemas.openxmlformats.org/drawingml/2006/main">
              <a:ext uri="{FF2B5EF4-FFF2-40B4-BE49-F238E27FC236}">
                <a16:creationId xmlns:a16="http://schemas.microsoft.com/office/drawing/2014/main" id="{BDC3EFFC-3A01-4CF9-8A3A-149672866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571750"/>
            <a:ext cx="1809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12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sp>
        <p:nvSpPr>
          <p:cNvPr id="22" name="loop-title-3">
            <a:extLst xmlns:a="http://schemas.openxmlformats.org/drawingml/2006/main">
              <a:ext uri="{FF2B5EF4-FFF2-40B4-BE49-F238E27FC236}">
                <a16:creationId xmlns:a16="http://schemas.microsoft.com/office/drawing/2014/main" id="{C06F0DDD-0657-4F84-8D61-F22BB887C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3028950"/>
            <a:ext cx="1619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同步敘事</a:t>
            </a:r>
          </a:p>
        </p:txBody>
      </p:sp>
      <p:sp>
        <p:nvSpPr>
          <p:cNvPr id="23" name="loop-sub-3">
            <a:extLst xmlns:a="http://schemas.openxmlformats.org/drawingml/2006/main">
              <a:ext uri="{FF2B5EF4-FFF2-40B4-BE49-F238E27FC236}">
                <a16:creationId xmlns:a16="http://schemas.microsoft.com/office/drawing/2014/main" id="{35D96379-60FA-41AB-B6D1-C141B387E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43300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所有人看到同一結果</a:t>
            </a:r>
          </a:p>
        </p:txBody>
      </p:sp>
      <p:sp>
        <p:nvSpPr>
          <p:cNvPr id="24" name="loop-boundary">
            <a:extLst xmlns:a="http://schemas.openxmlformats.org/drawingml/2006/main">
              <a:ext uri="{FF2B5EF4-FFF2-40B4-BE49-F238E27FC236}">
                <a16:creationId xmlns:a16="http://schemas.microsoft.com/office/drawing/2014/main" id="{2383A8E6-0EDF-44D0-9013-4DF4C1C1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19700"/>
            <a:ext cx="1009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瀏覽器不持有 AWS credential  ·  canonical state 由 server 判定  ·  LLM 不直接改寫規則</a:t>
            </a:r>
          </a:p>
        </p:txBody>
      </p:sp>
      <p:sp>
        <p:nvSpPr>
          <p:cNvPr id="47" name="page-mask-5">
            <a:extLst xmlns:a="http://schemas.openxmlformats.org/drawingml/2006/main">
              <a:ext uri="{FF2B5EF4-FFF2-40B4-BE49-F238E27FC236}">
                <a16:creationId xmlns:a16="http://schemas.microsoft.com/office/drawing/2014/main" id="{31E1E2C1-5C40-4DC9-B90F-C3182C91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age-new-5">
            <a:extLst xmlns:a="http://schemas.openxmlformats.org/drawingml/2006/main">
              <a:ext uri="{FF2B5EF4-FFF2-40B4-BE49-F238E27FC236}">
                <a16:creationId xmlns:a16="http://schemas.microsoft.com/office/drawing/2014/main" id="{FA14EDD2-2D6D-4798-A220-B8D45E4A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  <p:sp>
        <p:nvSpPr>
          <p:cNvPr id="60" name="EXPERIENCE-kicker-mask">
            <a:extLst xmlns:a="http://schemas.openxmlformats.org/drawingml/2006/main">
              <a:ext uri="{FF2B5EF4-FFF2-40B4-BE49-F238E27FC236}">
                <a16:creationId xmlns:a16="http://schemas.microsoft.com/office/drawing/2014/main" id="{BECAA193-7654-4C3C-8F08-14016EE6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EXPERIENCE-kicker-new">
            <a:extLst xmlns:a="http://schemas.openxmlformats.org/drawingml/2006/main">
              <a:ext uri="{FF2B5EF4-FFF2-40B4-BE49-F238E27FC236}">
                <a16:creationId xmlns:a16="http://schemas.microsoft.com/office/drawing/2014/main" id="{4F805631-BEDC-4DC9-85C6-9229041C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EXPERIENCE</a:t>
            </a:r>
          </a:p>
        </p:txBody>
      </p:sp>
      <p:sp>
        <p:nvSpPr>
          <p:cNvPr id="62" name="page-mask-v2-5">
            <a:extLst xmlns:a="http://schemas.openxmlformats.org/drawingml/2006/main">
              <a:ext uri="{FF2B5EF4-FFF2-40B4-BE49-F238E27FC236}">
                <a16:creationId xmlns:a16="http://schemas.microsoft.com/office/drawing/2014/main" id="{C0A6C230-E5AC-4404-85A9-649E3BB0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page-v2-5">
            <a:extLst xmlns:a="http://schemas.openxmlformats.org/drawingml/2006/main">
              <a:ext uri="{FF2B5EF4-FFF2-40B4-BE49-F238E27FC236}">
                <a16:creationId xmlns:a16="http://schemas.microsoft.com/office/drawing/2014/main" id="{CC9AC5CD-6266-407A-9E6C-D477CF2D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68722894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-4">
            <a:extLst xmlns:a="http://schemas.openxmlformats.org/drawingml/2006/main">
              <a:ext uri="{FF2B5EF4-FFF2-40B4-BE49-F238E27FC236}">
                <a16:creationId xmlns:a16="http://schemas.microsoft.com/office/drawing/2014/main" id="{83AA0740-14EC-42FB-AD3D-1620DF715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03  PROOF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8EA9CCED-DA9C-44A6-811C-E1707BFEE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四位玩家已在 AWS 完成四回合與結局</a:t>
            </a:r>
          </a:p>
        </p:txBody>
      </p:sp>
      <p:sp>
        <p:nvSpPr>
          <p:cNvPr id="3" name="title-line-4">
            <a:extLst xmlns:a="http://schemas.openxmlformats.org/drawingml/2006/main">
              <a:ext uri="{FF2B5EF4-FFF2-40B4-BE49-F238E27FC236}">
                <a16:creationId xmlns:a16="http://schemas.microsoft.com/office/drawing/2014/main" id="{BC21AF1C-D83F-4580-88CD-6152B59B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4" name="page-4">
            <a:extLst xmlns:a="http://schemas.openxmlformats.org/drawingml/2006/main">
              <a:ext uri="{FF2B5EF4-FFF2-40B4-BE49-F238E27FC236}">
                <a16:creationId xmlns:a16="http://schemas.microsoft.com/office/drawing/2014/main" id="{895FB3EF-23C3-4BDC-B3A5-28E98FDF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04</a:t>
            </a:r>
          </a:p>
        </p:txBody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3bd8986f24e87"/>
          <a:srcRect xmlns:a="http://schemas.openxmlformats.org/drawingml/2006/main" l="0" t="12306" r="0" b="1230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09600" y="1409700"/>
            <a:ext cx="8096250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proof-border">
            <a:extLst xmlns:a="http://schemas.openxmlformats.org/drawingml/2006/main">
              <a:ext uri="{FF2B5EF4-FFF2-40B4-BE49-F238E27FC236}">
                <a16:creationId xmlns:a16="http://schemas.microsoft.com/office/drawing/2014/main" id="{0B7ABACA-CBD8-4369-99AB-FE3320D16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09700"/>
            <a:ext cx="8096250" cy="4762500"/>
          </a:xfrm>
          <a:prstGeom xmlns:a="http://schemas.openxmlformats.org/drawingml/2006/main" prst="roundRect">
            <a:avLst>
              <a:gd name="adj" fmla="val 1200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7" name="proof-4">
            <a:extLst xmlns:a="http://schemas.openxmlformats.org/drawingml/2006/main">
              <a:ext uri="{FF2B5EF4-FFF2-40B4-BE49-F238E27FC236}">
                <a16:creationId xmlns:a16="http://schemas.microsoft.com/office/drawing/2014/main" id="{6140D164-A542-459C-95A7-B391E63E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714500"/>
            <a:ext cx="1809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54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54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8" name="proof-4-label">
            <a:extLst xmlns:a="http://schemas.openxmlformats.org/drawingml/2006/main">
              <a:ext uri="{FF2B5EF4-FFF2-40B4-BE49-F238E27FC236}">
                <a16:creationId xmlns:a16="http://schemas.microsoft.com/office/drawing/2014/main" id="{DBE31D07-41D0-454E-AC57-0589FB05E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336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位真實玩家</a:t>
            </a:r>
          </a:p>
        </p:txBody>
      </p:sp>
      <p:sp>
        <p:nvSpPr>
          <p:cNvPr id="9" name="proof-divider-1">
            <a:extLst xmlns:a="http://schemas.openxmlformats.org/drawingml/2006/main">
              <a:ext uri="{FF2B5EF4-FFF2-40B4-BE49-F238E27FC236}">
                <a16:creationId xmlns:a16="http://schemas.microsoft.com/office/drawing/2014/main" id="{F8063A82-1F0D-46D8-B51D-B2171C54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051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0" name="proof-rounds">
            <a:extLst xmlns:a="http://schemas.openxmlformats.org/drawingml/2006/main">
              <a:ext uri="{FF2B5EF4-FFF2-40B4-BE49-F238E27FC236}">
                <a16:creationId xmlns:a16="http://schemas.microsoft.com/office/drawing/2014/main" id="{ADBC221F-84E9-4226-815E-E7512FD8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33375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4 回合</a:t>
            </a:r>
          </a:p>
        </p:txBody>
      </p:sp>
      <p:sp>
        <p:nvSpPr>
          <p:cNvPr id="11" name="proof-result">
            <a:extLst xmlns:a="http://schemas.openxmlformats.org/drawingml/2006/main">
              <a:ext uri="{FF2B5EF4-FFF2-40B4-BE49-F238E27FC236}">
                <a16:creationId xmlns:a16="http://schemas.microsoft.com/office/drawing/2014/main" id="{A56F136F-79D6-4512-882F-82BDDCD4C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924300"/>
            <a:ext cx="180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結局完成</a:t>
            </a:r>
          </a:p>
        </p:txBody>
      </p:sp>
      <p:sp>
        <p:nvSpPr>
          <p:cNvPr id="12" name="proof-divider-2">
            <a:extLst xmlns:a="http://schemas.openxmlformats.org/drawingml/2006/main">
              <a:ext uri="{FF2B5EF4-FFF2-40B4-BE49-F238E27FC236}">
                <a16:creationId xmlns:a16="http://schemas.microsoft.com/office/drawing/2014/main" id="{6E6973DA-63EB-48AC-A5BB-51CBBF20D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629150"/>
            <a:ext cx="15811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3" name="proof-pass">
            <a:extLst xmlns:a="http://schemas.openxmlformats.org/drawingml/2006/main">
              <a:ext uri="{FF2B5EF4-FFF2-40B4-BE49-F238E27FC236}">
                <a16:creationId xmlns:a16="http://schemas.microsoft.com/office/drawing/2014/main" id="{72426F0C-9B23-4709-A2FE-5B47B68AF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49339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PASS</a:t>
            </a:r>
          </a:p>
        </p:txBody>
      </p:sp>
      <p:sp>
        <p:nvSpPr>
          <p:cNvPr id="14" name="proof-platforms">
            <a:extLst xmlns:a="http://schemas.openxmlformats.org/drawingml/2006/main">
              <a:ext uri="{FF2B5EF4-FFF2-40B4-BE49-F238E27FC236}">
                <a16:creationId xmlns:a16="http://schemas.microsoft.com/office/drawing/2014/main" id="{315E6B1E-53BE-4EFB-8A57-CAEF0442B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56260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0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iPhone · macOS · Windows</a:t>
            </a:r>
          </a:p>
        </p:txBody>
      </p:sp>
      <p:sp>
        <p:nvSpPr>
          <p:cNvPr id="17" name="page-mask-6">
            <a:extLst xmlns:a="http://schemas.openxmlformats.org/drawingml/2006/main">
              <a:ext uri="{FF2B5EF4-FFF2-40B4-BE49-F238E27FC236}">
                <a16:creationId xmlns:a16="http://schemas.microsoft.com/office/drawing/2014/main" id="{755C7CD0-16D1-499B-A74A-DE9BD01D9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age-new-6">
            <a:extLst xmlns:a="http://schemas.openxmlformats.org/drawingml/2006/main">
              <a:ext uri="{FF2B5EF4-FFF2-40B4-BE49-F238E27FC236}">
                <a16:creationId xmlns:a16="http://schemas.microsoft.com/office/drawing/2014/main" id="{E13395A8-97C1-4F04-A2AF-80E215642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  <p:sp>
        <p:nvSpPr>
          <p:cNvPr id="20" name="PROOF-kicker-mask">
            <a:extLst xmlns:a="http://schemas.openxmlformats.org/drawingml/2006/main">
              <a:ext uri="{FF2B5EF4-FFF2-40B4-BE49-F238E27FC236}">
                <a16:creationId xmlns:a16="http://schemas.microsoft.com/office/drawing/2014/main" id="{C2FC59B5-4D0F-4912-9980-D68B882D6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PROOF-kicker-new">
            <a:extLst xmlns:a="http://schemas.openxmlformats.org/drawingml/2006/main">
              <a:ext uri="{FF2B5EF4-FFF2-40B4-BE49-F238E27FC236}">
                <a16:creationId xmlns:a16="http://schemas.microsoft.com/office/drawing/2014/main" id="{57221059-2144-4834-B03B-3F12EB1B9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PROOF</a:t>
            </a:r>
          </a:p>
        </p:txBody>
      </p:sp>
      <p:sp>
        <p:nvSpPr>
          <p:cNvPr id="22" name="page-mask-v2-6">
            <a:extLst xmlns:a="http://schemas.openxmlformats.org/drawingml/2006/main">
              <a:ext uri="{FF2B5EF4-FFF2-40B4-BE49-F238E27FC236}">
                <a16:creationId xmlns:a16="http://schemas.microsoft.com/office/drawing/2014/main" id="{EC3DD205-F759-43D7-ACCE-654789FC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age-v2-6">
            <a:extLst xmlns:a="http://schemas.openxmlformats.org/drawingml/2006/main">
              <a:ext uri="{FF2B5EF4-FFF2-40B4-BE49-F238E27FC236}">
                <a16:creationId xmlns:a16="http://schemas.microsoft.com/office/drawing/2014/main" id="{6CC212B6-5AA7-4031-A8D1-DF47ACB8A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231526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C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apter-no-02">
            <a:extLst xmlns:a="http://schemas.openxmlformats.org/drawingml/2006/main">
              <a:ext uri="{FF2B5EF4-FFF2-40B4-BE49-F238E27FC236}">
                <a16:creationId xmlns:a16="http://schemas.microsoft.com/office/drawing/2014/main" id="{BF854A61-0142-4966-BD4E-5F30F7CB1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02</a:t>
            </a:r>
          </a:p>
        </p:txBody>
      </p:sp>
      <p:sp>
        <p:nvSpPr>
          <p:cNvPr id="2" name="chapter-label-02">
            <a:extLst xmlns:a="http://schemas.openxmlformats.org/drawingml/2006/main">
              <a:ext uri="{FF2B5EF4-FFF2-40B4-BE49-F238E27FC236}">
                <a16:creationId xmlns:a16="http://schemas.microsoft.com/office/drawing/2014/main" id="{7DF3C4F1-5921-4A79-A64B-021DC6860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71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DESIGN</a:t>
            </a:r>
          </a:p>
        </p:txBody>
      </p:sp>
      <p:sp>
        <p:nvSpPr>
          <p:cNvPr id="3" name="chapter-rule-02">
            <a:extLst xmlns:a="http://schemas.openxmlformats.org/drawingml/2006/main">
              <a:ext uri="{FF2B5EF4-FFF2-40B4-BE49-F238E27FC236}">
                <a16:creationId xmlns:a16="http://schemas.microsoft.com/office/drawing/2014/main" id="{4B382A4B-BB32-4850-A902-AF10B0288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9900"/>
            </a:solidFill>
            <a:prstDash val="solid"/>
          </a:ln>
        </p:spPr>
      </p:sp>
      <p:sp>
        <p:nvSpPr>
          <p:cNvPr id="4" name="chapter-title-02">
            <a:extLst xmlns:a="http://schemas.openxmlformats.org/drawingml/2006/main">
              <a:ext uri="{FF2B5EF4-FFF2-40B4-BE49-F238E27FC236}">
                <a16:creationId xmlns:a16="http://schemas.microsoft.com/office/drawing/2014/main" id="{4D9A9824-91A8-436F-B2E6-2C7A9A22A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952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每個 AWS 服務都要回答一個產品問題。</a:t>
            </a:r>
          </a:p>
        </p:txBody>
      </p:sp>
      <p:sp>
        <p:nvSpPr>
          <p:cNvPr id="6" name="chapter-mark-02">
            <a:extLst xmlns:a="http://schemas.openxmlformats.org/drawingml/2006/main">
              <a:ext uri="{FF2B5EF4-FFF2-40B4-BE49-F238E27FC236}">
                <a16:creationId xmlns:a16="http://schemas.microsoft.com/office/drawing/2014/main" id="{BEF25CBD-A1FB-4BB3-80D2-E493EF6D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7" name="page-mask-7">
            <a:extLst xmlns:a="http://schemas.openxmlformats.org/drawingml/2006/main">
              <a:ext uri="{FF2B5EF4-FFF2-40B4-BE49-F238E27FC236}">
                <a16:creationId xmlns:a16="http://schemas.microsoft.com/office/drawing/2014/main" id="{1C7FD291-78D6-4BEF-8BCB-EFA641E1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ge-new-7">
            <a:extLst xmlns:a="http://schemas.openxmlformats.org/drawingml/2006/main">
              <a:ext uri="{FF2B5EF4-FFF2-40B4-BE49-F238E27FC236}">
                <a16:creationId xmlns:a16="http://schemas.microsoft.com/office/drawing/2014/main" id="{B8AED0F6-3606-4E55-8A81-A71E747C4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sp>
        <p:nvSpPr>
          <p:cNvPr id="10" name="chapter-prompt-mask-v2-7">
            <a:extLst xmlns:a="http://schemas.openxmlformats.org/drawingml/2006/main">
              <a:ext uri="{FF2B5EF4-FFF2-40B4-BE49-F238E27FC236}">
                <a16:creationId xmlns:a16="http://schemas.microsoft.com/office/drawing/2014/main" id="{4805B64B-C890-4217-BF6C-8021C3C10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400550"/>
            <a:ext cx="9620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hapter-prompt-v2-7">
            <a:extLst xmlns:a="http://schemas.openxmlformats.org/drawingml/2006/main">
              <a:ext uri="{FF2B5EF4-FFF2-40B4-BE49-F238E27FC236}">
                <a16:creationId xmlns:a16="http://schemas.microsoft.com/office/drawing/2014/main" id="{63F0AA50-2734-49CC-94D0-6CE8DB58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9144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從產品限制回推服務，並同時衡量成本、資料一致性、模型演進與維運方式。</a:t>
            </a:r>
          </a:p>
        </p:txBody>
      </p:sp>
      <p:sp>
        <p:nvSpPr>
          <p:cNvPr id="12" name="page-mask-v2-7">
            <a:extLst xmlns:a="http://schemas.openxmlformats.org/drawingml/2006/main">
              <a:ext uri="{FF2B5EF4-FFF2-40B4-BE49-F238E27FC236}">
                <a16:creationId xmlns:a16="http://schemas.microsoft.com/office/drawing/2014/main" id="{65179958-8508-4AAB-BDD1-D370E2A5E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page-v2-7">
            <a:extLst xmlns:a="http://schemas.openxmlformats.org/drawingml/2006/main">
              <a:ext uri="{FF2B5EF4-FFF2-40B4-BE49-F238E27FC236}">
                <a16:creationId xmlns:a16="http://schemas.microsoft.com/office/drawing/2014/main" id="{2883ABD0-5403-4DAC-94AF-7E7774A50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9802799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k-SERVICE DECISIONS">
            <a:extLst xmlns:a="http://schemas.openxmlformats.org/drawingml/2006/main">
              <a:ext uri="{FF2B5EF4-FFF2-40B4-BE49-F238E27FC236}">
                <a16:creationId xmlns:a16="http://schemas.microsoft.com/office/drawing/2014/main" id="{56098100-9795-419E-97F7-4B928D707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SERVICE DECISIONS</a:t>
            </a:r>
          </a:p>
        </p:txBody>
      </p:sp>
      <p:sp>
        <p:nvSpPr>
          <p:cNvPr id="4" name="choice-problem-0">
            <a:extLst xmlns:a="http://schemas.openxmlformats.org/drawingml/2006/main">
              <a:ext uri="{FF2B5EF4-FFF2-40B4-BE49-F238E27FC236}">
                <a16:creationId xmlns:a16="http://schemas.microsoft.com/office/drawing/2014/main" id="{4989176D-650E-466B-A13A-6E1944566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52400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單一 MVP 需要直接控制 runtime</a:t>
            </a:r>
          </a:p>
        </p:txBody>
      </p:sp>
      <p:sp>
        <p:nvSpPr>
          <p:cNvPr id="5" name="choice-arrow-0">
            <a:extLst xmlns:a="http://schemas.openxmlformats.org/drawingml/2006/main">
              <a:ext uri="{FF2B5EF4-FFF2-40B4-BE49-F238E27FC236}">
                <a16:creationId xmlns:a16="http://schemas.microsoft.com/office/drawing/2014/main" id="{34468438-51B0-4ACE-86A3-5225DFA0A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1524000"/>
            <a:ext cx="49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17c9943974ec6">
            <a:extLst>
              <a:ext uri="{96DAC541-7B7A-43D3-8B79-37D633B846F1}">
                <asvg:svgBlip xmlns:asvg="http://schemas.microsoft.com/office/drawing/2016/SVG/main" r:embed="R4ccd9351d9dc440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91150" y="15430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7" name="choice-service-0">
            <a:extLst xmlns:a="http://schemas.openxmlformats.org/drawingml/2006/main">
              <a:ext uri="{FF2B5EF4-FFF2-40B4-BE49-F238E27FC236}">
                <a16:creationId xmlns:a16="http://schemas.microsoft.com/office/drawing/2014/main" id="{B134942C-26C4-44BD-80C8-AE2D2DC4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5240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EC2</a:t>
            </a:r>
          </a:p>
        </p:txBody>
      </p:sp>
      <p:sp>
        <p:nvSpPr>
          <p:cNvPr id="8" name="choice-reason-0">
            <a:extLst xmlns:a="http://schemas.openxmlformats.org/drawingml/2006/main">
              <a:ext uri="{FF2B5EF4-FFF2-40B4-BE49-F238E27FC236}">
                <a16:creationId xmlns:a16="http://schemas.microsoft.com/office/drawing/2014/main" id="{E5258B00-AAEB-45AF-A16F-D8BCCAE4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847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Nginx + FastAPI；先避免容器與負載平衡複雜度</a:t>
            </a:r>
          </a:p>
        </p:txBody>
      </p:sp>
      <p:sp>
        <p:nvSpPr>
          <p:cNvPr id="9" name="choice-divider-1">
            <a:extLst xmlns:a="http://schemas.openxmlformats.org/drawingml/2006/main">
              <a:ext uri="{FF2B5EF4-FFF2-40B4-BE49-F238E27FC236}">
                <a16:creationId xmlns:a16="http://schemas.microsoft.com/office/drawing/2014/main" id="{16E374EA-2F8F-4F64-A918-A33CFA498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0" name="choice-problem-1">
            <a:extLst xmlns:a="http://schemas.openxmlformats.org/drawingml/2006/main">
              <a:ext uri="{FF2B5EF4-FFF2-40B4-BE49-F238E27FC236}">
                <a16:creationId xmlns:a16="http://schemas.microsoft.com/office/drawing/2014/main" id="{3A2BFD42-A4B7-40A9-AC42-5F6A0FA11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1935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多人狀態必須一致且能跨重啟</a:t>
            </a:r>
          </a:p>
        </p:txBody>
      </p:sp>
      <p:sp>
        <p:nvSpPr>
          <p:cNvPr id="11" name="choice-arrow-1">
            <a:extLst xmlns:a="http://schemas.openxmlformats.org/drawingml/2006/main">
              <a:ext uri="{FF2B5EF4-FFF2-40B4-BE49-F238E27FC236}">
                <a16:creationId xmlns:a16="http://schemas.microsoft.com/office/drawing/2014/main" id="{A52CBEBF-D539-45A8-9A1A-C04581B59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19350"/>
            <a:ext cx="49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57ade814d94853">
            <a:extLst>
              <a:ext uri="{96DAC541-7B7A-43D3-8B79-37D633B846F1}">
                <asvg:svgBlip xmlns:asvg="http://schemas.microsoft.com/office/drawing/2016/SVG/main" r:embed="Rc63e7bf95f7a41f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91150" y="24384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13" name="choice-service-1">
            <a:extLst xmlns:a="http://schemas.openxmlformats.org/drawingml/2006/main">
              <a:ext uri="{FF2B5EF4-FFF2-40B4-BE49-F238E27FC236}">
                <a16:creationId xmlns:a16="http://schemas.microsoft.com/office/drawing/2014/main" id="{5AC20F74-D97C-4DED-9E7D-81BD2327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4193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RDS</a:t>
            </a:r>
          </a:p>
        </p:txBody>
      </p:sp>
      <p:sp>
        <p:nvSpPr>
          <p:cNvPr id="14" name="choice-reason-1">
            <a:extLst xmlns:a="http://schemas.openxmlformats.org/drawingml/2006/main">
              <a:ext uri="{FF2B5EF4-FFF2-40B4-BE49-F238E27FC236}">
                <a16:creationId xmlns:a16="http://schemas.microsoft.com/office/drawing/2014/main" id="{F8E0BE4B-2615-40D3-ABB0-6C2254D0A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432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PostgreSQL transaction、private subnet、持久化</a:t>
            </a:r>
          </a:p>
        </p:txBody>
      </p:sp>
      <p:sp>
        <p:nvSpPr>
          <p:cNvPr id="15" name="choice-divider-2">
            <a:extLst xmlns:a="http://schemas.openxmlformats.org/drawingml/2006/main">
              <a:ext uri="{FF2B5EF4-FFF2-40B4-BE49-F238E27FC236}">
                <a16:creationId xmlns:a16="http://schemas.microsoft.com/office/drawing/2014/main" id="{7300D017-0758-4F98-BD04-F9B3DABF8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00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choice-problem-2">
            <a:extLst xmlns:a="http://schemas.openxmlformats.org/drawingml/2006/main">
              <a:ext uri="{FF2B5EF4-FFF2-40B4-BE49-F238E27FC236}">
                <a16:creationId xmlns:a16="http://schemas.microsoft.com/office/drawing/2014/main" id="{9EB6CB2D-D97B-4C14-95BE-EC61BFFCB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需要受治理、可替換的模型入口</a:t>
            </a:r>
          </a:p>
        </p:txBody>
      </p:sp>
      <p:sp>
        <p:nvSpPr>
          <p:cNvPr id="17" name="choice-arrow-2">
            <a:extLst xmlns:a="http://schemas.openxmlformats.org/drawingml/2006/main">
              <a:ext uri="{FF2B5EF4-FFF2-40B4-BE49-F238E27FC236}">
                <a16:creationId xmlns:a16="http://schemas.microsoft.com/office/drawing/2014/main" id="{15B567B0-D10B-429E-A366-674520093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14700"/>
            <a:ext cx="49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07be2a20c24e5d">
            <a:extLst>
              <a:ext uri="{96DAC541-7B7A-43D3-8B79-37D633B846F1}">
                <asvg:svgBlip xmlns:asvg="http://schemas.microsoft.com/office/drawing/2016/SVG/main" r:embed="Rf7e2ecfcaa7d42b8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91150" y="33337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19" name="choice-service-2">
            <a:extLst xmlns:a="http://schemas.openxmlformats.org/drawingml/2006/main">
              <a:ext uri="{FF2B5EF4-FFF2-40B4-BE49-F238E27FC236}">
                <a16:creationId xmlns:a16="http://schemas.microsoft.com/office/drawing/2014/main" id="{1B03D315-4533-46C7-B911-3646345A6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3147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Bedrock</a:t>
            </a:r>
          </a:p>
        </p:txBody>
      </p:sp>
      <p:sp>
        <p:nvSpPr>
          <p:cNvPr id="20" name="choice-reason-2">
            <a:extLst xmlns:a="http://schemas.openxmlformats.org/drawingml/2006/main">
              <a:ext uri="{FF2B5EF4-FFF2-40B4-BE49-F238E27FC236}">
                <a16:creationId xmlns:a16="http://schemas.microsoft.com/office/drawing/2014/main" id="{CA849E2B-EC06-4A58-9A00-40E013B51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6385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Converse 統一介面、IAM、模型 ID 外部設定</a:t>
            </a:r>
          </a:p>
        </p:txBody>
      </p:sp>
      <p:sp>
        <p:nvSpPr>
          <p:cNvPr id="21" name="choice-divider-3">
            <a:extLst xmlns:a="http://schemas.openxmlformats.org/drawingml/2006/main">
              <a:ext uri="{FF2B5EF4-FFF2-40B4-BE49-F238E27FC236}">
                <a16:creationId xmlns:a16="http://schemas.microsoft.com/office/drawing/2014/main" id="{3E2D5DCA-C2AE-4F0F-B20D-CD930D68C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2" name="choice-problem-3">
            <a:extLst xmlns:a="http://schemas.openxmlformats.org/drawingml/2006/main">
              <a:ext uri="{FF2B5EF4-FFF2-40B4-BE49-F238E27FC236}">
                <a16:creationId xmlns:a16="http://schemas.microsoft.com/office/drawing/2014/main" id="{7201F65B-D77F-4840-BC85-32DDCEB11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21005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維運不能依賴 public SSH</a:t>
            </a:r>
          </a:p>
        </p:txBody>
      </p:sp>
      <p:sp>
        <p:nvSpPr>
          <p:cNvPr id="23" name="choice-arrow-3">
            <a:extLst xmlns:a="http://schemas.openxmlformats.org/drawingml/2006/main">
              <a:ext uri="{FF2B5EF4-FFF2-40B4-BE49-F238E27FC236}">
                <a16:creationId xmlns:a16="http://schemas.microsoft.com/office/drawing/2014/main" id="{4DCB769E-3C4E-4A97-9D90-979260651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210050"/>
            <a:ext cx="49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14be79b07c4733">
            <a:extLst>
              <a:ext uri="{96DAC541-7B7A-43D3-8B79-37D633B846F1}">
                <asvg:svgBlip xmlns:asvg="http://schemas.microsoft.com/office/drawing/2016/SVG/main" r:embed="R5a9b070a60f2419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91150" y="422910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25" name="choice-service-3">
            <a:extLst xmlns:a="http://schemas.openxmlformats.org/drawingml/2006/main">
              <a:ext uri="{FF2B5EF4-FFF2-40B4-BE49-F238E27FC236}">
                <a16:creationId xmlns:a16="http://schemas.microsoft.com/office/drawing/2014/main" id="{BE53AFD8-8DA8-4B18-8E8B-1F34AC244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1005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Systems Manager</a:t>
            </a:r>
          </a:p>
        </p:txBody>
      </p:sp>
      <p:sp>
        <p:nvSpPr>
          <p:cNvPr id="26" name="choice-reason-3">
            <a:extLst xmlns:a="http://schemas.openxmlformats.org/drawingml/2006/main">
              <a:ext uri="{FF2B5EF4-FFF2-40B4-BE49-F238E27FC236}">
                <a16:creationId xmlns:a16="http://schemas.microsoft.com/office/drawing/2014/main" id="{69018DC4-F0AA-4ACE-87D6-A41D5B24B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53390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Session Manager + 受限 Run Command</a:t>
            </a:r>
          </a:p>
        </p:txBody>
      </p:sp>
      <p:sp>
        <p:nvSpPr>
          <p:cNvPr id="27" name="choice-divider-4">
            <a:extLst xmlns:a="http://schemas.openxmlformats.org/drawingml/2006/main">
              <a:ext uri="{FF2B5EF4-FFF2-40B4-BE49-F238E27FC236}">
                <a16:creationId xmlns:a16="http://schemas.microsoft.com/office/drawing/2014/main" id="{35CA7248-99CC-4C44-994D-60B446650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911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8" name="choice-problem-4">
            <a:extLst xmlns:a="http://schemas.openxmlformats.org/drawingml/2006/main">
              <a:ext uri="{FF2B5EF4-FFF2-40B4-BE49-F238E27FC236}">
                <a16:creationId xmlns:a16="http://schemas.microsoft.com/office/drawing/2014/main" id="{9BBE7C1B-C15F-41BE-90F8-E6D18A615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05400"/>
            <a:ext cx="3905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發生問題時要有時間線與告警</a:t>
            </a:r>
          </a:p>
        </p:txBody>
      </p:sp>
      <p:sp>
        <p:nvSpPr>
          <p:cNvPr id="29" name="choice-arrow-4">
            <a:extLst xmlns:a="http://schemas.openxmlformats.org/drawingml/2006/main">
              <a:ext uri="{FF2B5EF4-FFF2-40B4-BE49-F238E27FC236}">
                <a16:creationId xmlns:a16="http://schemas.microsoft.com/office/drawing/2014/main" id="{A619E9C5-1EDE-45B4-B771-D7B24F07F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5105400"/>
            <a:ext cx="4953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9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→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dd273e205a4ca3">
            <a:extLst>
              <a:ext uri="{96DAC541-7B7A-43D3-8B79-37D633B846F1}">
                <asvg:svgBlip xmlns:asvg="http://schemas.microsoft.com/office/drawing/2016/SVG/main" r:embed="R6aa3e3adcde4447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5391150" y="5124450"/>
            <a:ext cx="552450" cy="552450"/>
          </a:xfrm>
          <a:prstGeom xmlns:a="http://schemas.openxmlformats.org/drawingml/2006/main" prst="rect">
            <a:avLst/>
          </a:prstGeom>
        </p:spPr>
      </p:pic>
      <p:sp>
        <p:nvSpPr>
          <p:cNvPr id="31" name="choice-service-4">
            <a:extLst xmlns:a="http://schemas.openxmlformats.org/drawingml/2006/main">
              <a:ext uri="{FF2B5EF4-FFF2-40B4-BE49-F238E27FC236}">
                <a16:creationId xmlns:a16="http://schemas.microsoft.com/office/drawing/2014/main" id="{88FB5195-152F-45F0-BB01-E8C664B66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105400"/>
            <a:ext cx="2190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Amazon CloudWatch</a:t>
            </a:r>
          </a:p>
        </p:txBody>
      </p:sp>
      <p:sp>
        <p:nvSpPr>
          <p:cNvPr id="32" name="choice-reason-4">
            <a:extLst xmlns:a="http://schemas.openxmlformats.org/drawingml/2006/main">
              <a:ext uri="{FF2B5EF4-FFF2-40B4-BE49-F238E27FC236}">
                <a16:creationId xmlns:a16="http://schemas.microsoft.com/office/drawing/2014/main" id="{9BF42C5C-0532-481A-880D-4464AA792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54292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12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safe logs、metric filter、alarm</a:t>
            </a:r>
          </a:p>
        </p:txBody>
      </p:sp>
      <p:sp>
        <p:nvSpPr>
          <p:cNvPr id="33" name="page-mask-8">
            <a:extLst xmlns:a="http://schemas.openxmlformats.org/drawingml/2006/main">
              <a:ext uri="{FF2B5EF4-FFF2-40B4-BE49-F238E27FC236}">
                <a16:creationId xmlns:a16="http://schemas.microsoft.com/office/drawing/2014/main" id="{5353CAB4-1FE0-4181-B664-9DE4237F6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page-new-8">
            <a:extLst xmlns:a="http://schemas.openxmlformats.org/drawingml/2006/main">
              <a:ext uri="{FF2B5EF4-FFF2-40B4-BE49-F238E27FC236}">
                <a16:creationId xmlns:a16="http://schemas.microsoft.com/office/drawing/2014/main" id="{6676EC4B-14E4-4F6C-BD75-0082B2F57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  <p:sp>
        <p:nvSpPr>
          <p:cNvPr id="41" name="SERVICE DECISIONS-header-mask">
            <a:extLst xmlns:a="http://schemas.openxmlformats.org/drawingml/2006/main">
              <a:ext uri="{FF2B5EF4-FFF2-40B4-BE49-F238E27FC236}">
                <a16:creationId xmlns:a16="http://schemas.microsoft.com/office/drawing/2014/main" id="{88C21FB4-D737-4CC1-A391-52D300FCB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1028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SERVICE DECISIONS-kicker">
            <a:extLst xmlns:a="http://schemas.openxmlformats.org/drawingml/2006/main">
              <a:ext uri="{FF2B5EF4-FFF2-40B4-BE49-F238E27FC236}">
                <a16:creationId xmlns:a16="http://schemas.microsoft.com/office/drawing/2014/main" id="{EB944799-9594-47CD-878D-F96A7CDC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SERVICE DECISIONS</a:t>
            </a:r>
          </a:p>
        </p:txBody>
      </p:sp>
      <p:sp>
        <p:nvSpPr>
          <p:cNvPr id="43" name="SERVICE DECISIONS-title">
            <a:extLst xmlns:a="http://schemas.openxmlformats.org/drawingml/2006/main">
              <a:ext uri="{FF2B5EF4-FFF2-40B4-BE49-F238E27FC236}">
                <a16:creationId xmlns:a16="http://schemas.microsoft.com/office/drawing/2014/main" id="{30FCBE2E-3076-475E-A59B-D23F1D04D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產品限制決定 AWS 服務選型</a:t>
            </a:r>
          </a:p>
        </p:txBody>
      </p:sp>
      <p:sp>
        <p:nvSpPr>
          <p:cNvPr id="44" name="SERVICE DECISIONS-rule">
            <a:extLst xmlns:a="http://schemas.openxmlformats.org/drawingml/2006/main">
              <a:ext uri="{FF2B5EF4-FFF2-40B4-BE49-F238E27FC236}">
                <a16:creationId xmlns:a16="http://schemas.microsoft.com/office/drawing/2014/main" id="{F468AC52-9BB7-47D4-91D6-E40AF280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45" name="SERVICE DECISIONS-kicker-mask">
            <a:extLst xmlns:a="http://schemas.openxmlformats.org/drawingml/2006/main">
              <a:ext uri="{FF2B5EF4-FFF2-40B4-BE49-F238E27FC236}">
                <a16:creationId xmlns:a16="http://schemas.microsoft.com/office/drawing/2014/main" id="{C0276F46-EDEC-4102-89AD-A55E8626D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SERVICE DECISIONS-kicker-new">
            <a:extLst xmlns:a="http://schemas.openxmlformats.org/drawingml/2006/main">
              <a:ext uri="{FF2B5EF4-FFF2-40B4-BE49-F238E27FC236}">
                <a16:creationId xmlns:a16="http://schemas.microsoft.com/office/drawing/2014/main" id="{47804AC8-3679-4751-82A2-7812DEC1D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SERVICE DECISIONS</a:t>
            </a:r>
          </a:p>
        </p:txBody>
      </p:sp>
      <p:sp>
        <p:nvSpPr>
          <p:cNvPr id="47" name="page-mask-v2-8">
            <a:extLst xmlns:a="http://schemas.openxmlformats.org/drawingml/2006/main">
              <a:ext uri="{FF2B5EF4-FFF2-40B4-BE49-F238E27FC236}">
                <a16:creationId xmlns:a16="http://schemas.microsoft.com/office/drawing/2014/main" id="{02812B93-DDAB-4A18-A69E-3C6A96F8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page-v2-8">
            <a:extLst xmlns:a="http://schemas.openxmlformats.org/drawingml/2006/main">
              <a:ext uri="{FF2B5EF4-FFF2-40B4-BE49-F238E27FC236}">
                <a16:creationId xmlns:a16="http://schemas.microsoft.com/office/drawing/2014/main" id="{60574A43-9902-43CE-91C2-E887084F3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6995829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k-MODEL STRATEGY">
            <a:extLst xmlns:a="http://schemas.openxmlformats.org/drawingml/2006/main">
              <a:ext uri="{FF2B5EF4-FFF2-40B4-BE49-F238E27FC236}">
                <a16:creationId xmlns:a16="http://schemas.microsoft.com/office/drawing/2014/main" id="{55FA3636-605B-4604-8832-2F4F65126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38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MODEL STRATEGY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ad16bd40f943e6">
            <a:extLst>
              <a:ext uri="{96DAC541-7B7A-43D3-8B79-37D633B846F1}">
                <asvg:svgBlip xmlns:asvg="http://schemas.microsoft.com/office/drawing/2016/SVG/main" r:embed="Raadd5828e2c44ed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95350" y="1752600"/>
            <a:ext cx="914400" cy="914400"/>
          </a:xfrm>
          <a:prstGeom xmlns:a="http://schemas.openxmlformats.org/drawingml/2006/main" prst="rect">
            <a:avLst/>
          </a:prstGeom>
        </p:spPr>
      </p:pic>
      <p:sp>
        <p:nvSpPr>
          <p:cNvPr id="5" name="model-current">
            <a:extLst xmlns:a="http://schemas.openxmlformats.org/drawingml/2006/main">
              <a:ext uri="{FF2B5EF4-FFF2-40B4-BE49-F238E27FC236}">
                <a16:creationId xmlns:a16="http://schemas.microsoft.com/office/drawing/2014/main" id="{359562F5-386E-495D-A52C-DE9B4B44E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1752600"/>
            <a:ext cx="400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1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目前：Amazon Nova Lite</a:t>
            </a:r>
          </a:p>
        </p:txBody>
      </p:sp>
      <p:sp>
        <p:nvSpPr>
          <p:cNvPr id="6" name="model-why">
            <a:extLst xmlns:a="http://schemas.openxmlformats.org/drawingml/2006/main">
              <a:ext uri="{FF2B5EF4-FFF2-40B4-BE49-F238E27FC236}">
                <a16:creationId xmlns:a16="http://schemas.microsoft.com/office/drawing/2014/main" id="{DCFEA481-E225-47C5-A77F-8106AA0B5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2343150"/>
            <a:ext cx="4191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低成本、快速、支援文字輸入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適合每回合都要等待結果的互動敘事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目前輸出上限只設 800 tokens</a:t>
            </a:r>
          </a:p>
        </p:txBody>
      </p:sp>
      <p:sp>
        <p:nvSpPr>
          <p:cNvPr id="7" name="model-boundary">
            <a:extLst xmlns:a="http://schemas.openxmlformats.org/drawingml/2006/main">
              <a:ext uri="{FF2B5EF4-FFF2-40B4-BE49-F238E27FC236}">
                <a16:creationId xmlns:a16="http://schemas.microsoft.com/office/drawing/2014/main" id="{1193724C-94A1-4535-B041-A42A3DBD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905250"/>
            <a:ext cx="5334000" cy="1200150"/>
          </a:xfrm>
          <a:prstGeom xmlns:a="http://schemas.openxmlformats.org/drawingml/2006/main" prst="roundRect">
            <a:avLst>
              <a:gd name="adj" fmla="val 12698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model-boundary-title">
            <a:extLst xmlns:a="http://schemas.openxmlformats.org/drawingml/2006/main">
              <a:ext uri="{FF2B5EF4-FFF2-40B4-BE49-F238E27FC236}">
                <a16:creationId xmlns:a16="http://schemas.microsoft.com/office/drawing/2014/main" id="{4647F260-A340-4F4F-9B6C-408642216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038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選型原則</a:t>
            </a:r>
          </a:p>
        </p:txBody>
      </p:sp>
      <p:sp>
        <p:nvSpPr>
          <p:cNvPr id="9" name="model-boundary-copy">
            <a:extLst xmlns:a="http://schemas.openxmlformats.org/drawingml/2006/main">
              <a:ext uri="{FF2B5EF4-FFF2-40B4-BE49-F238E27FC236}">
                <a16:creationId xmlns:a16="http://schemas.microsoft.com/office/drawing/2014/main" id="{24050C9A-0D03-4F86-B02F-B7D03B79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4577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互動延遲 × 敘事品質 × token 成本 × Region 可用性</a:t>
            </a:r>
          </a:p>
        </p:txBody>
      </p:sp>
      <p:sp>
        <p:nvSpPr>
          <p:cNvPr id="10" name="swap-title">
            <a:extLst xmlns:a="http://schemas.openxmlformats.org/drawingml/2006/main">
              <a:ext uri="{FF2B5EF4-FFF2-40B4-BE49-F238E27FC236}">
                <a16:creationId xmlns:a16="http://schemas.microsoft.com/office/drawing/2014/main" id="{336789E2-3060-4601-9D14-0D1844F99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65735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18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快速抽換的設計</a:t>
            </a:r>
          </a:p>
        </p:txBody>
      </p:sp>
      <p:sp>
        <p:nvSpPr>
          <p:cNvPr id="11" name="swap-0">
            <a:extLst xmlns:a="http://schemas.openxmlformats.org/drawingml/2006/main">
              <a:ext uri="{FF2B5EF4-FFF2-40B4-BE49-F238E27FC236}">
                <a16:creationId xmlns:a16="http://schemas.microsoft.com/office/drawing/2014/main" id="{0D7204B7-3A31-4579-80CC-EB294FE2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381250"/>
            <a:ext cx="4095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swap-text-0">
            <a:extLst xmlns:a="http://schemas.openxmlformats.org/drawingml/2006/main">
              <a:ext uri="{FF2B5EF4-FFF2-40B4-BE49-F238E27FC236}">
                <a16:creationId xmlns:a16="http://schemas.microsoft.com/office/drawing/2014/main" id="{A2C3DE77-0523-41D9-8B53-3D36B71BB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81250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RoomService</a:t>
            </a:r>
          </a:p>
        </p:txBody>
      </p:sp>
      <p:sp>
        <p:nvSpPr>
          <p:cNvPr id="13" name="swap-arrow-0">
            <a:extLst xmlns:a="http://schemas.openxmlformats.org/drawingml/2006/main">
              <a:ext uri="{FF2B5EF4-FFF2-40B4-BE49-F238E27FC236}">
                <a16:creationId xmlns:a16="http://schemas.microsoft.com/office/drawing/2014/main" id="{BF8C2277-4444-4F08-9915-86D5C711B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28956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↓</a:t>
            </a:r>
          </a:p>
        </p:txBody>
      </p:sp>
      <p:sp>
        <p:nvSpPr>
          <p:cNvPr id="14" name="swap-1">
            <a:extLst xmlns:a="http://schemas.openxmlformats.org/drawingml/2006/main">
              <a:ext uri="{FF2B5EF4-FFF2-40B4-BE49-F238E27FC236}">
                <a16:creationId xmlns:a16="http://schemas.microsoft.com/office/drawing/2014/main" id="{DD3AB711-B099-4C2A-80FB-CDD217E2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143250"/>
            <a:ext cx="4095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7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swap-text-1">
            <a:extLst xmlns:a="http://schemas.openxmlformats.org/drawingml/2006/main">
              <a:ext uri="{FF2B5EF4-FFF2-40B4-BE49-F238E27FC236}">
                <a16:creationId xmlns:a16="http://schemas.microsoft.com/office/drawing/2014/main" id="{CEF73EF7-4E9F-4111-8258-54F278B39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143250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Storyteller port</a:t>
            </a:r>
          </a:p>
        </p:txBody>
      </p:sp>
      <p:sp>
        <p:nvSpPr>
          <p:cNvPr id="16" name="swap-arrow-1">
            <a:extLst xmlns:a="http://schemas.openxmlformats.org/drawingml/2006/main">
              <a:ext uri="{FF2B5EF4-FFF2-40B4-BE49-F238E27FC236}">
                <a16:creationId xmlns:a16="http://schemas.microsoft.com/office/drawing/2014/main" id="{0E6D78B4-7723-4AD0-BC00-4D0A306F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6576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↓</a:t>
            </a:r>
          </a:p>
        </p:txBody>
      </p:sp>
      <p:sp>
        <p:nvSpPr>
          <p:cNvPr id="17" name="swap-2">
            <a:extLst xmlns:a="http://schemas.openxmlformats.org/drawingml/2006/main">
              <a:ext uri="{FF2B5EF4-FFF2-40B4-BE49-F238E27FC236}">
                <a16:creationId xmlns:a16="http://schemas.microsoft.com/office/drawing/2014/main" id="{6AD51BAF-64C8-4D58-B48D-A1CA0878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905250"/>
            <a:ext cx="4095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wap-text-2">
            <a:extLst xmlns:a="http://schemas.openxmlformats.org/drawingml/2006/main">
              <a:ext uri="{FF2B5EF4-FFF2-40B4-BE49-F238E27FC236}">
                <a16:creationId xmlns:a16="http://schemas.microsoft.com/office/drawing/2014/main" id="{9575B350-8C3F-4EEA-B4F9-DC45DB30F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905250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BedrockStoryteller</a:t>
            </a:r>
          </a:p>
        </p:txBody>
      </p:sp>
      <p:sp>
        <p:nvSpPr>
          <p:cNvPr id="19" name="swap-arrow-2">
            <a:extLst xmlns:a="http://schemas.openxmlformats.org/drawingml/2006/main">
              <a:ext uri="{FF2B5EF4-FFF2-40B4-BE49-F238E27FC236}">
                <a16:creationId xmlns:a16="http://schemas.microsoft.com/office/drawing/2014/main" id="{F91C464F-71EA-462A-92FA-237166419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19600"/>
            <a:ext cx="571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5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↓</a:t>
            </a:r>
          </a:p>
        </p:txBody>
      </p:sp>
      <p:sp>
        <p:nvSpPr>
          <p:cNvPr id="20" name="swap-3">
            <a:extLst xmlns:a="http://schemas.openxmlformats.org/drawingml/2006/main">
              <a:ext uri="{FF2B5EF4-FFF2-40B4-BE49-F238E27FC236}">
                <a16:creationId xmlns:a16="http://schemas.microsoft.com/office/drawing/2014/main" id="{2B017383-AC88-449B-AFF9-23BBCB370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667250"/>
            <a:ext cx="409575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EAF4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swap-text-3">
            <a:extLst xmlns:a="http://schemas.openxmlformats.org/drawingml/2006/main">
              <a:ext uri="{FF2B5EF4-FFF2-40B4-BE49-F238E27FC236}">
                <a16:creationId xmlns:a16="http://schemas.microsoft.com/office/drawing/2014/main" id="{9F41BB1C-7514-43D4-B3F9-CB809334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667250"/>
            <a:ext cx="3619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CO_STORY_BEDROCK_MODEL_ID</a:t>
            </a:r>
          </a:p>
        </p:txBody>
      </p:sp>
      <p:sp>
        <p:nvSpPr>
          <p:cNvPr id="22" name="swap-gate">
            <a:extLst xmlns:a="http://schemas.openxmlformats.org/drawingml/2006/main">
              <a:ext uri="{FF2B5EF4-FFF2-40B4-BE49-F238E27FC236}">
                <a16:creationId xmlns:a16="http://schemas.microsoft.com/office/drawing/2014/main" id="{EFAD5AC4-A0A6-4DB8-91B1-9B0694227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816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換 model ID 很快；上線前仍須重跑 schema、品質、延遲、成本、Region 與 IAM gate。</a:t>
            </a:r>
          </a:p>
        </p:txBody>
      </p:sp>
      <p:sp>
        <p:nvSpPr>
          <p:cNvPr id="23" name="page-mask-9">
            <a:extLst xmlns:a="http://schemas.openxmlformats.org/drawingml/2006/main">
              <a:ext uri="{FF2B5EF4-FFF2-40B4-BE49-F238E27FC236}">
                <a16:creationId xmlns:a16="http://schemas.microsoft.com/office/drawing/2014/main" id="{2156CF34-7C38-4334-82FF-E2620A71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page-new-9">
            <a:extLst xmlns:a="http://schemas.openxmlformats.org/drawingml/2006/main">
              <a:ext uri="{FF2B5EF4-FFF2-40B4-BE49-F238E27FC236}">
                <a16:creationId xmlns:a16="http://schemas.microsoft.com/office/drawing/2014/main" id="{B07711F8-DD34-473A-A86E-C8846B4C4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27" name="MODEL STRATEGY-header-mask">
            <a:extLst xmlns:a="http://schemas.openxmlformats.org/drawingml/2006/main">
              <a:ext uri="{FF2B5EF4-FFF2-40B4-BE49-F238E27FC236}">
                <a16:creationId xmlns:a16="http://schemas.microsoft.com/office/drawing/2014/main" id="{58BB3058-A52D-40D0-B919-353F98F56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1028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MODEL STRATEGY-kicker">
            <a:extLst xmlns:a="http://schemas.openxmlformats.org/drawingml/2006/main">
              <a:ext uri="{FF2B5EF4-FFF2-40B4-BE49-F238E27FC236}">
                <a16:creationId xmlns:a16="http://schemas.microsoft.com/office/drawing/2014/main" id="{D8CC5EA8-B91E-418B-8FEA-AA3395A16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MODEL STRATEGY</a:t>
            </a:r>
          </a:p>
        </p:txBody>
      </p:sp>
      <p:sp>
        <p:nvSpPr>
          <p:cNvPr id="29" name="MODEL STRATEGY-title">
            <a:extLst xmlns:a="http://schemas.openxmlformats.org/drawingml/2006/main">
              <a:ext uri="{FF2B5EF4-FFF2-40B4-BE49-F238E27FC236}">
                <a16:creationId xmlns:a16="http://schemas.microsoft.com/office/drawing/2014/main" id="{46B1E854-1288-44C9-B6DA-DBC0E17B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5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Nova Lite 提供現階段的成本與互動延遲平衡</a:t>
            </a:r>
          </a:p>
        </p:txBody>
      </p:sp>
      <p:sp>
        <p:nvSpPr>
          <p:cNvPr id="30" name="MODEL STRATEGY-rule">
            <a:extLst xmlns:a="http://schemas.openxmlformats.org/drawingml/2006/main">
              <a:ext uri="{FF2B5EF4-FFF2-40B4-BE49-F238E27FC236}">
                <a16:creationId xmlns:a16="http://schemas.microsoft.com/office/drawing/2014/main" id="{41BC3D68-E8B0-4D14-B67B-DA6BCCFB7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31" name="MODEL STRATEGY-kicker-mask">
            <a:extLst xmlns:a="http://schemas.openxmlformats.org/drawingml/2006/main">
              <a:ext uri="{FF2B5EF4-FFF2-40B4-BE49-F238E27FC236}">
                <a16:creationId xmlns:a16="http://schemas.microsoft.com/office/drawing/2014/main" id="{8A60DBD4-DEED-42CE-B334-CBFE7487B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MODEL STRATEGY-kicker-new">
            <a:extLst xmlns:a="http://schemas.openxmlformats.org/drawingml/2006/main">
              <a:ext uri="{FF2B5EF4-FFF2-40B4-BE49-F238E27FC236}">
                <a16:creationId xmlns:a16="http://schemas.microsoft.com/office/drawing/2014/main" id="{998490C6-194E-4F18-AB7F-BF3CB291B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MODEL STRATEGY</a:t>
            </a:r>
          </a:p>
        </p:txBody>
      </p:sp>
      <p:sp>
        <p:nvSpPr>
          <p:cNvPr id="33" name="page-mask-v2-9">
            <a:extLst xmlns:a="http://schemas.openxmlformats.org/drawingml/2006/main">
              <a:ext uri="{FF2B5EF4-FFF2-40B4-BE49-F238E27FC236}">
                <a16:creationId xmlns:a16="http://schemas.microsoft.com/office/drawing/2014/main" id="{0CF10BA7-F3F5-4BD4-9500-60D705D7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page-v2-9">
            <a:extLst xmlns:a="http://schemas.openxmlformats.org/drawingml/2006/main">
              <a:ext uri="{FF2B5EF4-FFF2-40B4-BE49-F238E27FC236}">
                <a16:creationId xmlns:a16="http://schemas.microsoft.com/office/drawing/2014/main" id="{91AD8F9B-6E66-408C-A9E3-2B74792E0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32713696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961adf81c84f0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age-mask-10">
            <a:extLst xmlns:a="http://schemas.openxmlformats.org/drawingml/2006/main">
              <a:ext uri="{FF2B5EF4-FFF2-40B4-BE49-F238E27FC236}">
                <a16:creationId xmlns:a16="http://schemas.microsoft.com/office/drawing/2014/main" id="{3D5A9390-C5F6-48A0-B8A0-F6E310606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new-10">
            <a:extLst xmlns:a="http://schemas.openxmlformats.org/drawingml/2006/main">
              <a:ext uri="{FF2B5EF4-FFF2-40B4-BE49-F238E27FC236}">
                <a16:creationId xmlns:a16="http://schemas.microsoft.com/office/drawing/2014/main" id="{38C93921-1F4F-45B8-B23B-4C0C60F4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  <p:sp>
        <p:nvSpPr>
          <p:cNvPr id="5" name="APPLICATION ARCHITECTURE-kicker-mask">
            <a:extLst xmlns:a="http://schemas.openxmlformats.org/drawingml/2006/main">
              <a:ext uri="{FF2B5EF4-FFF2-40B4-BE49-F238E27FC236}">
                <a16:creationId xmlns:a16="http://schemas.microsoft.com/office/drawing/2014/main" id="{CB53A9B9-B669-4824-86A2-1189E36AD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APPLICATION ARCHITECTURE-kicker-new">
            <a:extLst xmlns:a="http://schemas.openxmlformats.org/drawingml/2006/main">
              <a:ext uri="{FF2B5EF4-FFF2-40B4-BE49-F238E27FC236}">
                <a16:creationId xmlns:a16="http://schemas.microsoft.com/office/drawing/2014/main" id="{F355994F-7E58-478D-8C94-7383E88FC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APPLICATION ARCHITECTURE</a:t>
            </a:r>
          </a:p>
        </p:txBody>
      </p:sp>
      <p:sp>
        <p:nvSpPr>
          <p:cNvPr id="7" name="page-mask-v2-10">
            <a:extLst xmlns:a="http://schemas.openxmlformats.org/drawingml/2006/main">
              <a:ext uri="{FF2B5EF4-FFF2-40B4-BE49-F238E27FC236}">
                <a16:creationId xmlns:a16="http://schemas.microsoft.com/office/drawing/2014/main" id="{1ED503BD-03DF-453B-9162-D0AAEA8A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ge-v2-10">
            <a:extLst xmlns:a="http://schemas.openxmlformats.org/drawingml/2006/main">
              <a:ext uri="{FF2B5EF4-FFF2-40B4-BE49-F238E27FC236}">
                <a16:creationId xmlns:a16="http://schemas.microsoft.com/office/drawing/2014/main" id="{4EC4FE6F-053C-4F9E-9300-44DBD764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4796063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692c3a105e4415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3097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e9c90c3d724ab8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3187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71C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chapter-no-03">
            <a:extLst xmlns:a="http://schemas.openxmlformats.org/drawingml/2006/main">
              <a:ext uri="{FF2B5EF4-FFF2-40B4-BE49-F238E27FC236}">
                <a16:creationId xmlns:a16="http://schemas.microsoft.com/office/drawing/2014/main" id="{09863383-420D-4182-BB77-DAFCE8FB9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476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03</a:t>
            </a:r>
          </a:p>
        </p:txBody>
      </p:sp>
      <p:sp>
        <p:nvSpPr>
          <p:cNvPr id="2" name="chapter-label-03">
            <a:extLst xmlns:a="http://schemas.openxmlformats.org/drawingml/2006/main">
              <a:ext uri="{FF2B5EF4-FFF2-40B4-BE49-F238E27FC236}">
                <a16:creationId xmlns:a16="http://schemas.microsoft.com/office/drawing/2014/main" id="{A5654BC9-62CA-47EC-A3EF-3CBD95707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7150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40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OPERATE</a:t>
            </a:r>
          </a:p>
        </p:txBody>
      </p:sp>
      <p:sp>
        <p:nvSpPr>
          <p:cNvPr id="3" name="chapter-rule-03">
            <a:extLst xmlns:a="http://schemas.openxmlformats.org/drawingml/2006/main">
              <a:ext uri="{FF2B5EF4-FFF2-40B4-BE49-F238E27FC236}">
                <a16:creationId xmlns:a16="http://schemas.microsoft.com/office/drawing/2014/main" id="{13466292-2271-4D20-95C7-BEEDC446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19350"/>
            <a:ext cx="1524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FF9900"/>
            </a:solidFill>
            <a:prstDash val="solid"/>
          </a:ln>
        </p:spPr>
      </p:sp>
      <p:sp>
        <p:nvSpPr>
          <p:cNvPr id="4" name="chapter-title-03">
            <a:extLst xmlns:a="http://schemas.openxmlformats.org/drawingml/2006/main">
              <a:ext uri="{FF2B5EF4-FFF2-40B4-BE49-F238E27FC236}">
                <a16:creationId xmlns:a16="http://schemas.microsoft.com/office/drawing/2014/main" id="{C62F4E45-381B-4170-B3A9-C840A7BD9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9525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能被觀測與安全維運，才是雲端產品。</a:t>
            </a:r>
          </a:p>
        </p:txBody>
      </p:sp>
      <p:sp>
        <p:nvSpPr>
          <p:cNvPr id="5" name="chapter-prompt-03">
            <a:extLst xmlns:a="http://schemas.openxmlformats.org/drawingml/2006/main">
              <a:ext uri="{FF2B5EF4-FFF2-40B4-BE49-F238E27FC236}">
                <a16:creationId xmlns:a16="http://schemas.microsoft.com/office/drawing/2014/main" id="{54CFC55A-F975-45FE-88FF-76BC8F23D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1485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defRPr>
            </a:pPr>
            <a:r>
              <a:rPr sz="1650" b="0">
                <a:solidFill>
                  <a:srgbClr val="AFC2D0"/>
                </a:solidFill>
                <a:latin typeface="PingFang TC"/>
                <a:ea typeface="PingFang TC"/>
                <a:cs typeface="PingFang TC"/>
              </a:rPr>
              <a:t>正向健康檢查、safe logs 與 alarm 只是起點；下一步是完整 incident 閉環。</a:t>
            </a:r>
          </a:p>
        </p:txBody>
      </p:sp>
      <p:sp>
        <p:nvSpPr>
          <p:cNvPr id="6" name="chapter-mark-03">
            <a:extLst xmlns:a="http://schemas.openxmlformats.org/drawingml/2006/main">
              <a:ext uri="{FF2B5EF4-FFF2-40B4-BE49-F238E27FC236}">
                <a16:creationId xmlns:a16="http://schemas.microsoft.com/office/drawing/2014/main" id="{6567ACA0-83C5-4FFC-8328-6F2B7CA4F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1980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1050" b="1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共演計劃</a:t>
            </a:r>
          </a:p>
        </p:txBody>
      </p:sp>
      <p:sp>
        <p:nvSpPr>
          <p:cNvPr id="7" name="page-mask-12">
            <a:extLst xmlns:a="http://schemas.openxmlformats.org/drawingml/2006/main">
              <a:ext uri="{FF2B5EF4-FFF2-40B4-BE49-F238E27FC236}">
                <a16:creationId xmlns:a16="http://schemas.microsoft.com/office/drawing/2014/main" id="{486893FA-01B1-416E-B103-A806D77BF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ge-new-12">
            <a:extLst xmlns:a="http://schemas.openxmlformats.org/drawingml/2006/main">
              <a:ext uri="{FF2B5EF4-FFF2-40B4-BE49-F238E27FC236}">
                <a16:creationId xmlns:a16="http://schemas.microsoft.com/office/drawing/2014/main" id="{689BB81A-1606-4BFC-BEC8-1685577C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12</a:t>
            </a:r>
          </a:p>
        </p:txBody>
      </p:sp>
      <p:sp>
        <p:nvSpPr>
          <p:cNvPr id="10" name="page-mask-v2-13">
            <a:extLst xmlns:a="http://schemas.openxmlformats.org/drawingml/2006/main">
              <a:ext uri="{FF2B5EF4-FFF2-40B4-BE49-F238E27FC236}">
                <a16:creationId xmlns:a16="http://schemas.microsoft.com/office/drawing/2014/main" id="{22FEC8B8-CEDE-41EF-8B61-DA3D53608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C2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page-v2-13">
            <a:extLst xmlns:a="http://schemas.openxmlformats.org/drawingml/2006/main">
              <a:ext uri="{FF2B5EF4-FFF2-40B4-BE49-F238E27FC236}">
                <a16:creationId xmlns:a16="http://schemas.microsoft.com/office/drawing/2014/main" id="{7B2B9AA0-4748-4A8F-8748-0ECDEAC35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7F9AAD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86214999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kicker-7">
            <a:extLst xmlns:a="http://schemas.openxmlformats.org/drawingml/2006/main">
              <a:ext uri="{FF2B5EF4-FFF2-40B4-BE49-F238E27FC236}">
                <a16:creationId xmlns:a16="http://schemas.microsoft.com/office/drawing/2014/main" id="{C9FD122B-67AE-45E4-91A7-3D188F97D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06  GOVERNANCE</a:t>
            </a:r>
          </a:p>
        </p:txBody>
      </p:sp>
      <p:sp>
        <p:nvSpPr>
          <p:cNvPr id="4" name="page-7">
            <a:extLst xmlns:a="http://schemas.openxmlformats.org/drawingml/2006/main">
              <a:ext uri="{FF2B5EF4-FFF2-40B4-BE49-F238E27FC236}">
                <a16:creationId xmlns:a16="http://schemas.microsoft.com/office/drawing/2014/main" id="{B3BEE4B7-7103-47DC-BE85-EF1A4BD3F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07</a:t>
            </a:r>
          </a:p>
        </p:txBody>
      </p:sp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4a8dc8e255488a">
            <a:extLst>
              <a:ext uri="{96DAC541-7B7A-43D3-8B79-37D633B846F1}">
                <asvg:svgBlip xmlns:asvg="http://schemas.microsoft.com/office/drawing/2016/SVG/main" r:embed="R79e15824942445f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1143000" y="209550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6" name="gov-title-0">
            <a:extLst xmlns:a="http://schemas.openxmlformats.org/drawingml/2006/main">
              <a:ext uri="{FF2B5EF4-FFF2-40B4-BE49-F238E27FC236}">
                <a16:creationId xmlns:a16="http://schemas.microsoft.com/office/drawing/2014/main" id="{0535D859-D452-4AD1-BFC5-9BB7A215E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162300"/>
            <a:ext cx="2114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免 SSH</a:t>
            </a:r>
          </a:p>
        </p:txBody>
      </p:sp>
      <p:sp>
        <p:nvSpPr>
          <p:cNvPr id="7" name="gov-sub-0">
            <a:extLst xmlns:a="http://schemas.openxmlformats.org/drawingml/2006/main">
              <a:ext uri="{FF2B5EF4-FFF2-40B4-BE49-F238E27FC236}">
                <a16:creationId xmlns:a16="http://schemas.microsoft.com/office/drawing/2014/main" id="{6BFB0BFB-1B62-4F89-A411-8B6497C23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695700"/>
            <a:ext cx="2362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Session Manager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取代 public port 22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6d4a5555a470c">
            <a:extLst>
              <a:ext uri="{96DAC541-7B7A-43D3-8B79-37D633B846F1}">
                <asvg:svgBlip xmlns:asvg="http://schemas.microsoft.com/office/drawing/2016/SVG/main" r:embed="R8271596094584c6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4476750" y="209550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9" name="gov-title-1">
            <a:extLst xmlns:a="http://schemas.openxmlformats.org/drawingml/2006/main">
              <a:ext uri="{FF2B5EF4-FFF2-40B4-BE49-F238E27FC236}">
                <a16:creationId xmlns:a16="http://schemas.microsoft.com/office/drawing/2014/main" id="{211BCD90-AA83-4545-98C5-2136A4181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162300"/>
            <a:ext cx="2114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最小權限</a:t>
            </a:r>
          </a:p>
        </p:txBody>
      </p:sp>
      <p:sp>
        <p:nvSpPr>
          <p:cNvPr id="10" name="gov-sub-1">
            <a:extLst xmlns:a="http://schemas.openxmlformats.org/drawingml/2006/main">
              <a:ext uri="{FF2B5EF4-FFF2-40B4-BE49-F238E27FC236}">
                <a16:creationId xmlns:a16="http://schemas.microsoft.com/office/drawing/2014/main" id="{6213BD4B-DBF3-4A22-AA04-C10CF246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695700"/>
            <a:ext cx="2362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private RDS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AppRole 限定資源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4f3421c1f24e81">
            <a:extLst>
              <a:ext uri="{96DAC541-7B7A-43D3-8B79-37D633B846F1}">
                <asvg:svgBlip xmlns:asvg="http://schemas.microsoft.com/office/drawing/2016/SVG/main" r:embed="R440d6e603c1a494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810500" y="2095500"/>
            <a:ext cx="876300" cy="876300"/>
          </a:xfrm>
          <a:prstGeom xmlns:a="http://schemas.openxmlformats.org/drawingml/2006/main" prst="rect">
            <a:avLst/>
          </a:prstGeom>
        </p:spPr>
      </p:pic>
      <p:sp>
        <p:nvSpPr>
          <p:cNvPr id="12" name="gov-title-2">
            <a:extLst xmlns:a="http://schemas.openxmlformats.org/drawingml/2006/main">
              <a:ext uri="{FF2B5EF4-FFF2-40B4-BE49-F238E27FC236}">
                <a16:creationId xmlns:a16="http://schemas.microsoft.com/office/drawing/2014/main" id="{C8A51C00-482B-49BB-8B8C-39A330C5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62300"/>
            <a:ext cx="2114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US$1 Budget</a:t>
            </a:r>
          </a:p>
        </p:txBody>
      </p:sp>
      <p:sp>
        <p:nvSpPr>
          <p:cNvPr id="13" name="gov-sub-2">
            <a:extLst xmlns:a="http://schemas.openxmlformats.org/drawingml/2006/main">
              <a:ext uri="{FF2B5EF4-FFF2-40B4-BE49-F238E27FC236}">
                <a16:creationId xmlns:a16="http://schemas.microsoft.com/office/drawing/2014/main" id="{A873C049-692A-4605-BFE6-2143118B5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695700"/>
            <a:ext cx="23622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EC2／RDS 為主計費面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Logs retention 7 天</a:t>
            </a:r>
          </a:p>
        </p:txBody>
      </p:sp>
      <p:sp>
        <p:nvSpPr>
          <p:cNvPr id="14" name="gov-rule">
            <a:extLst xmlns:a="http://schemas.openxmlformats.org/drawingml/2006/main">
              <a:ext uri="{FF2B5EF4-FFF2-40B4-BE49-F238E27FC236}">
                <a16:creationId xmlns:a16="http://schemas.microsoft.com/office/drawing/2014/main" id="{B7478EE8-F499-47FA-AC2E-97171B1E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53000"/>
            <a:ext cx="1009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5" name="gov-prompt">
            <a:extLst xmlns:a="http://schemas.openxmlformats.org/drawingml/2006/main">
              <a:ext uri="{FF2B5EF4-FFF2-40B4-BE49-F238E27FC236}">
                <a16:creationId xmlns:a16="http://schemas.microsoft.com/office/drawing/2014/main" id="{C35490CD-F593-4E64-9DFC-CEE40F0A0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38750"/>
            <a:ext cx="5334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1575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Prompt Injection：前置拒絕 + schema validation</a:t>
            </a:r>
          </a:p>
        </p:txBody>
      </p:sp>
      <p:sp>
        <p:nvSpPr>
          <p:cNvPr id="16" name="gov-omit">
            <a:extLst xmlns:a="http://schemas.openxmlformats.org/drawingml/2006/main">
              <a:ext uri="{FF2B5EF4-FFF2-40B4-BE49-F238E27FC236}">
                <a16:creationId xmlns:a16="http://schemas.microsoft.com/office/drawing/2014/main" id="{6468BD15-5F25-4E39-9BB1-4615EECC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3875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2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未採用：NAT · ALB · CloudFront · Route 53</a:t>
            </a:r>
          </a:p>
        </p:txBody>
      </p:sp>
      <p:sp>
        <p:nvSpPr>
          <p:cNvPr id="21" name="page-mask-13">
            <a:extLst xmlns:a="http://schemas.openxmlformats.org/drawingml/2006/main">
              <a:ext uri="{FF2B5EF4-FFF2-40B4-BE49-F238E27FC236}">
                <a16:creationId xmlns:a16="http://schemas.microsoft.com/office/drawing/2014/main" id="{5B06F8BF-1F64-43C7-B958-256F0EFCA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age-new-13">
            <a:extLst xmlns:a="http://schemas.openxmlformats.org/drawingml/2006/main">
              <a:ext uri="{FF2B5EF4-FFF2-40B4-BE49-F238E27FC236}">
                <a16:creationId xmlns:a16="http://schemas.microsoft.com/office/drawing/2014/main" id="{5FC68AC2-D7AB-4964-81FC-2180CF92E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13</a:t>
            </a:r>
          </a:p>
        </p:txBody>
      </p:sp>
      <p:sp>
        <p:nvSpPr>
          <p:cNvPr id="26" name="GOVERNANCE-header-mask">
            <a:extLst xmlns:a="http://schemas.openxmlformats.org/drawingml/2006/main">
              <a:ext uri="{FF2B5EF4-FFF2-40B4-BE49-F238E27FC236}">
                <a16:creationId xmlns:a16="http://schemas.microsoft.com/office/drawing/2014/main" id="{EC107BF1-7ACF-428A-9D35-11FDFB8C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102870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GOVERNANCE-kicker">
            <a:extLst xmlns:a="http://schemas.openxmlformats.org/drawingml/2006/main">
              <a:ext uri="{FF2B5EF4-FFF2-40B4-BE49-F238E27FC236}">
                <a16:creationId xmlns:a16="http://schemas.microsoft.com/office/drawing/2014/main" id="{054A9A69-6080-40FE-861B-E34ECEC93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GOVERNANCE</a:t>
            </a:r>
          </a:p>
        </p:txBody>
      </p:sp>
      <p:sp>
        <p:nvSpPr>
          <p:cNvPr id="28" name="GOVERNANCE-title">
            <a:extLst xmlns:a="http://schemas.openxmlformats.org/drawingml/2006/main">
              <a:ext uri="{FF2B5EF4-FFF2-40B4-BE49-F238E27FC236}">
                <a16:creationId xmlns:a16="http://schemas.microsoft.com/office/drawing/2014/main" id="{38BC1CE8-8982-42D8-A349-D9E2C524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6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安全與成本從一開始就是架構輸入</a:t>
            </a:r>
          </a:p>
        </p:txBody>
      </p:sp>
      <p:sp>
        <p:nvSpPr>
          <p:cNvPr id="29" name="GOVERNANCE-rule">
            <a:extLst xmlns:a="http://schemas.openxmlformats.org/drawingml/2006/main">
              <a:ext uri="{FF2B5EF4-FFF2-40B4-BE49-F238E27FC236}">
                <a16:creationId xmlns:a16="http://schemas.microsoft.com/office/drawing/2014/main" id="{E23D5313-F098-4512-8247-CBCDF0C82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30" name="GOVERNANCE-kicker-mask">
            <a:extLst xmlns:a="http://schemas.openxmlformats.org/drawingml/2006/main">
              <a:ext uri="{FF2B5EF4-FFF2-40B4-BE49-F238E27FC236}">
                <a16:creationId xmlns:a16="http://schemas.microsoft.com/office/drawing/2014/main" id="{AF25C5CD-5323-4BA4-B079-991FD40D0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GOVERNANCE-kicker-new">
            <a:extLst xmlns:a="http://schemas.openxmlformats.org/drawingml/2006/main">
              <a:ext uri="{FF2B5EF4-FFF2-40B4-BE49-F238E27FC236}">
                <a16:creationId xmlns:a16="http://schemas.microsoft.com/office/drawing/2014/main" id="{BB191A7E-58D3-4867-BE51-5D5DACA28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GOVERNANCE</a:t>
            </a:r>
          </a:p>
        </p:txBody>
      </p:sp>
      <p:sp>
        <p:nvSpPr>
          <p:cNvPr id="32" name="page-mask-v2-14">
            <a:extLst xmlns:a="http://schemas.openxmlformats.org/drawingml/2006/main">
              <a:ext uri="{FF2B5EF4-FFF2-40B4-BE49-F238E27FC236}">
                <a16:creationId xmlns:a16="http://schemas.microsoft.com/office/drawing/2014/main" id="{A6636DC6-D2F7-4C2B-9F5D-00ECFB3DE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age-v2-14">
            <a:extLst xmlns:a="http://schemas.openxmlformats.org/drawingml/2006/main">
              <a:ext uri="{FF2B5EF4-FFF2-40B4-BE49-F238E27FC236}">
                <a16:creationId xmlns:a16="http://schemas.microsoft.com/office/drawing/2014/main" id="{C302E698-6F26-4715-B6A1-F2DC2D5DB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5718183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fa0cd934274d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page-mask-14">
            <a:extLst xmlns:a="http://schemas.openxmlformats.org/drawingml/2006/main">
              <a:ext uri="{FF2B5EF4-FFF2-40B4-BE49-F238E27FC236}">
                <a16:creationId xmlns:a16="http://schemas.microsoft.com/office/drawing/2014/main" id="{3CF39B02-C283-4547-936E-C03281F0B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page-new-14">
            <a:extLst xmlns:a="http://schemas.openxmlformats.org/drawingml/2006/main">
              <a:ext uri="{FF2B5EF4-FFF2-40B4-BE49-F238E27FC236}">
                <a16:creationId xmlns:a16="http://schemas.microsoft.com/office/drawing/2014/main" id="{176CFCF1-09F2-4748-B447-1B718447D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14</a:t>
            </a:r>
          </a:p>
        </p:txBody>
      </p:sp>
      <p:sp>
        <p:nvSpPr>
          <p:cNvPr id="5" name="TIER 1 OBSERVABILITY-kicker-mask">
            <a:extLst xmlns:a="http://schemas.openxmlformats.org/drawingml/2006/main">
              <a:ext uri="{FF2B5EF4-FFF2-40B4-BE49-F238E27FC236}">
                <a16:creationId xmlns:a16="http://schemas.microsoft.com/office/drawing/2014/main" id="{64320DBC-CBAA-4BA3-818E-DDB3610F7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TIER 1 OBSERVABILITY-kicker-new">
            <a:extLst xmlns:a="http://schemas.openxmlformats.org/drawingml/2006/main">
              <a:ext uri="{FF2B5EF4-FFF2-40B4-BE49-F238E27FC236}">
                <a16:creationId xmlns:a16="http://schemas.microsoft.com/office/drawing/2014/main" id="{809CFDF7-5569-47F9-A341-03193FF8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TIER 1 OBSERVABILITY</a:t>
            </a:r>
          </a:p>
        </p:txBody>
      </p:sp>
      <p:sp>
        <p:nvSpPr>
          <p:cNvPr id="7" name="page-mask-v2-15">
            <a:extLst xmlns:a="http://schemas.openxmlformats.org/drawingml/2006/main">
              <a:ext uri="{FF2B5EF4-FFF2-40B4-BE49-F238E27FC236}">
                <a16:creationId xmlns:a16="http://schemas.microsoft.com/office/drawing/2014/main" id="{1151F7C6-498C-4AB6-BE92-86D33AEE9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page-v2-15">
            <a:extLst xmlns:a="http://schemas.openxmlformats.org/drawingml/2006/main">
              <a:ext uri="{FF2B5EF4-FFF2-40B4-BE49-F238E27FC236}">
                <a16:creationId xmlns:a16="http://schemas.microsoft.com/office/drawing/2014/main" id="{B614A0B4-56EF-4760-86B1-73F84446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455616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9">
            <a:extLst xmlns:a="http://schemas.openxmlformats.org/drawingml/2006/main">
              <a:ext uri="{FF2B5EF4-FFF2-40B4-BE49-F238E27FC236}">
                <a16:creationId xmlns:a16="http://schemas.microsoft.com/office/drawing/2014/main" id="{5A79BDC0-C42A-4918-9CF8-87313D330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0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08  EVOLUTION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923E3288-2983-490E-BCE5-B32412CEB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"/>
            <a:ext cx="10763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70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同一產品，沿 Tier 0–5 累積企業能力</a:t>
            </a:r>
          </a:p>
        </p:txBody>
      </p:sp>
      <p:sp>
        <p:nvSpPr>
          <p:cNvPr id="3" name="title-line-9">
            <a:extLst xmlns:a="http://schemas.openxmlformats.org/drawingml/2006/main">
              <a:ext uri="{FF2B5EF4-FFF2-40B4-BE49-F238E27FC236}">
                <a16:creationId xmlns:a16="http://schemas.microsoft.com/office/drawing/2014/main" id="{ECE965BB-9391-4B9B-BB2F-6EF368028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181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4" name="page-9">
            <a:extLst xmlns:a="http://schemas.openxmlformats.org/drawingml/2006/main">
              <a:ext uri="{FF2B5EF4-FFF2-40B4-BE49-F238E27FC236}">
                <a16:creationId xmlns:a16="http://schemas.microsoft.com/office/drawing/2014/main" id="{0E61A1F0-9E8A-48DB-9CD5-5A0F000BD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09</a:t>
            </a:r>
          </a:p>
        </p:txBody>
      </p:sp>
      <p:sp>
        <p:nvSpPr>
          <p:cNvPr id="5" name="road">
            <a:extLst xmlns:a="http://schemas.openxmlformats.org/drawingml/2006/main">
              <a:ext uri="{FF2B5EF4-FFF2-40B4-BE49-F238E27FC236}">
                <a16:creationId xmlns:a16="http://schemas.microsoft.com/office/drawing/2014/main" id="{132B5598-E2EA-427E-A623-17A2F0D09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38500"/>
            <a:ext cx="9286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25">
            <a:solidFill>
              <a:srgbClr val="D9E1E8"/>
            </a:solidFill>
            <a:prstDash val="solid"/>
          </a:ln>
        </p:spPr>
      </p:sp>
      <p:sp>
        <p:nvSpPr>
          <p:cNvPr id="6" name="tier-0">
            <a:extLst xmlns:a="http://schemas.openxmlformats.org/drawingml/2006/main">
              <a:ext uri="{FF2B5EF4-FFF2-40B4-BE49-F238E27FC236}">
                <a16:creationId xmlns:a16="http://schemas.microsoft.com/office/drawing/2014/main" id="{E0D023CE-D07D-47BE-8D47-640F831A3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05125"/>
            <a:ext cx="66675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73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ier-no-0">
            <a:extLst xmlns:a="http://schemas.openxmlformats.org/drawingml/2006/main">
              <a:ext uri="{FF2B5EF4-FFF2-40B4-BE49-F238E27FC236}">
                <a16:creationId xmlns:a16="http://schemas.microsoft.com/office/drawing/2014/main" id="{40C2A4D9-531C-4BF7-9EDD-380FE0431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051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0</a:t>
            </a:r>
          </a:p>
        </p:txBody>
      </p:sp>
      <p:sp>
        <p:nvSpPr>
          <p:cNvPr id="8" name="tier-label-0">
            <a:extLst xmlns:a="http://schemas.openxmlformats.org/drawingml/2006/main">
              <a:ext uri="{FF2B5EF4-FFF2-40B4-BE49-F238E27FC236}">
                <a16:creationId xmlns:a16="http://schemas.microsoft.com/office/drawing/2014/main" id="{16FCDAFD-6769-474B-A787-74909AFD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38290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可玩雲端</a:t>
            </a:r>
          </a:p>
        </p:txBody>
      </p:sp>
      <p:sp>
        <p:nvSpPr>
          <p:cNvPr id="9" name="tier-1">
            <a:extLst xmlns:a="http://schemas.openxmlformats.org/drawingml/2006/main">
              <a:ext uri="{FF2B5EF4-FFF2-40B4-BE49-F238E27FC236}">
                <a16:creationId xmlns:a16="http://schemas.microsoft.com/office/drawing/2014/main" id="{03B6A0CF-5183-4262-B433-A495FF4E7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905125"/>
            <a:ext cx="66675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2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tier-no-1">
            <a:extLst xmlns:a="http://schemas.openxmlformats.org/drawingml/2006/main">
              <a:ext uri="{FF2B5EF4-FFF2-40B4-BE49-F238E27FC236}">
                <a16:creationId xmlns:a16="http://schemas.microsoft.com/office/drawing/2014/main" id="{A0FD7C30-B694-4BD1-A8CE-A7C622878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9875" y="29051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1</a:t>
            </a:r>
          </a:p>
        </p:txBody>
      </p:sp>
      <p:sp>
        <p:nvSpPr>
          <p:cNvPr id="11" name="tier-label-1">
            <a:extLst xmlns:a="http://schemas.openxmlformats.org/drawingml/2006/main">
              <a:ext uri="{FF2B5EF4-FFF2-40B4-BE49-F238E27FC236}">
                <a16:creationId xmlns:a16="http://schemas.microsoft.com/office/drawing/2014/main" id="{56C82D9C-3285-4C4A-B957-69F1D55C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8290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可觀測維運</a:t>
            </a:r>
          </a:p>
        </p:txBody>
      </p:sp>
      <p:sp>
        <p:nvSpPr>
          <p:cNvPr id="12" name="tier-2">
            <a:extLst xmlns:a="http://schemas.openxmlformats.org/drawingml/2006/main">
              <a:ext uri="{FF2B5EF4-FFF2-40B4-BE49-F238E27FC236}">
                <a16:creationId xmlns:a16="http://schemas.microsoft.com/office/drawing/2014/main" id="{ACE38B72-A6CF-4003-AC7D-12E2631D8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05125"/>
            <a:ext cx="66675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3" name="tier-no-2">
            <a:extLst xmlns:a="http://schemas.openxmlformats.org/drawingml/2006/main">
              <a:ext uri="{FF2B5EF4-FFF2-40B4-BE49-F238E27FC236}">
                <a16:creationId xmlns:a16="http://schemas.microsoft.com/office/drawing/2014/main" id="{D6C4B5A1-2382-4815-9505-8531D072F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9051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2</a:t>
            </a:r>
          </a:p>
        </p:txBody>
      </p:sp>
      <p:sp>
        <p:nvSpPr>
          <p:cNvPr id="14" name="tier-label-2">
            <a:extLst xmlns:a="http://schemas.openxmlformats.org/drawingml/2006/main">
              <a:ext uri="{FF2B5EF4-FFF2-40B4-BE49-F238E27FC236}">
                <a16:creationId xmlns:a16="http://schemas.microsoft.com/office/drawing/2014/main" id="{A0B7D662-43B8-4325-AFF0-5CC4D7FA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38290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元件隔離</a:t>
            </a:r>
          </a:p>
        </p:txBody>
      </p:sp>
      <p:sp>
        <p:nvSpPr>
          <p:cNvPr id="15" name="tier-3">
            <a:extLst xmlns:a="http://schemas.openxmlformats.org/drawingml/2006/main">
              <a:ext uri="{FF2B5EF4-FFF2-40B4-BE49-F238E27FC236}">
                <a16:creationId xmlns:a16="http://schemas.microsoft.com/office/drawing/2014/main" id="{C48111BE-6CAB-4FAE-B163-F582CBA2D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905125"/>
            <a:ext cx="66675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6" name="tier-no-3">
            <a:extLst xmlns:a="http://schemas.openxmlformats.org/drawingml/2006/main">
              <a:ext uri="{FF2B5EF4-FFF2-40B4-BE49-F238E27FC236}">
                <a16:creationId xmlns:a16="http://schemas.microsoft.com/office/drawing/2014/main" id="{F4A09240-5D9A-410B-A74E-9979FFFC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9051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3</a:t>
            </a:r>
          </a:p>
        </p:txBody>
      </p:sp>
      <p:sp>
        <p:nvSpPr>
          <p:cNvPr id="17" name="tier-label-3">
            <a:extLst xmlns:a="http://schemas.openxmlformats.org/drawingml/2006/main">
              <a:ext uri="{FF2B5EF4-FFF2-40B4-BE49-F238E27FC236}">
                <a16:creationId xmlns:a16="http://schemas.microsoft.com/office/drawing/2014/main" id="{42998EDC-A92C-4859-8592-8EFCEB6D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8290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自動交付</a:t>
            </a:r>
          </a:p>
        </p:txBody>
      </p:sp>
      <p:sp>
        <p:nvSpPr>
          <p:cNvPr id="18" name="tier-4">
            <a:extLst xmlns:a="http://schemas.openxmlformats.org/drawingml/2006/main">
              <a:ext uri="{FF2B5EF4-FFF2-40B4-BE49-F238E27FC236}">
                <a16:creationId xmlns:a16="http://schemas.microsoft.com/office/drawing/2014/main" id="{CAAF064C-ABDA-45C2-8B79-33211513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05125"/>
            <a:ext cx="66675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19" name="tier-no-4">
            <a:extLst xmlns:a="http://schemas.openxmlformats.org/drawingml/2006/main">
              <a:ext uri="{FF2B5EF4-FFF2-40B4-BE49-F238E27FC236}">
                <a16:creationId xmlns:a16="http://schemas.microsoft.com/office/drawing/2014/main" id="{1C5DADB8-F733-440F-AF69-C41035491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9051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4</a:t>
            </a:r>
          </a:p>
        </p:txBody>
      </p:sp>
      <p:sp>
        <p:nvSpPr>
          <p:cNvPr id="20" name="tier-label-4">
            <a:extLst xmlns:a="http://schemas.openxmlformats.org/drawingml/2006/main">
              <a:ext uri="{FF2B5EF4-FFF2-40B4-BE49-F238E27FC236}">
                <a16:creationId xmlns:a16="http://schemas.microsoft.com/office/drawing/2014/main" id="{D94A00C6-AC7A-4969-B1A6-A1D670E58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8290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微服務</a:t>
            </a:r>
          </a:p>
        </p:txBody>
      </p:sp>
      <p:sp>
        <p:nvSpPr>
          <p:cNvPr id="21" name="tier-5">
            <a:extLst xmlns:a="http://schemas.openxmlformats.org/drawingml/2006/main">
              <a:ext uri="{FF2B5EF4-FFF2-40B4-BE49-F238E27FC236}">
                <a16:creationId xmlns:a16="http://schemas.microsoft.com/office/drawing/2014/main" id="{7981DFDE-A1FE-4448-9BB0-AA6CD01B3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905125"/>
            <a:ext cx="666750" cy="666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1E8"/>
            </a:solidFill>
            <a:prstDash val="solid"/>
          </a:ln>
        </p:spPr>
      </p:sp>
      <p:sp>
        <p:nvSpPr>
          <p:cNvPr id="22" name="tier-no-5">
            <a:extLst xmlns:a="http://schemas.openxmlformats.org/drawingml/2006/main">
              <a:ext uri="{FF2B5EF4-FFF2-40B4-BE49-F238E27FC236}">
                <a16:creationId xmlns:a16="http://schemas.microsoft.com/office/drawing/2014/main" id="{BA342E5A-C79D-4DA5-B33D-D998234D5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2905125"/>
            <a:ext cx="66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5</a:t>
            </a:r>
          </a:p>
        </p:txBody>
      </p:sp>
      <p:sp>
        <p:nvSpPr>
          <p:cNvPr id="23" name="tier-label-5">
            <a:extLst xmlns:a="http://schemas.openxmlformats.org/drawingml/2006/main">
              <a:ext uri="{FF2B5EF4-FFF2-40B4-BE49-F238E27FC236}">
                <a16:creationId xmlns:a16="http://schemas.microsoft.com/office/drawing/2014/main" id="{2D32E78E-58C1-4F7D-AD07-3621D350D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8290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350" b="1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Agentic AI</a:t>
            </a:r>
          </a:p>
        </p:txBody>
      </p:sp>
      <p:sp>
        <p:nvSpPr>
          <p:cNvPr id="24" name="road-now">
            <a:extLst xmlns:a="http://schemas.openxmlformats.org/drawingml/2006/main">
              <a:ext uri="{FF2B5EF4-FFF2-40B4-BE49-F238E27FC236}">
                <a16:creationId xmlns:a16="http://schemas.microsoft.com/office/drawing/2014/main" id="{7546A327-6E73-4E7D-98AA-04120E97C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714500"/>
            <a:ext cx="8572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2025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2025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現在：Tier 0 已完成，Tier 1 正向可觀測路徑已通過</a:t>
            </a:r>
          </a:p>
        </p:txBody>
      </p:sp>
      <p:sp>
        <p:nvSpPr>
          <p:cNvPr id="25" name="road-rule">
            <a:extLst xmlns:a="http://schemas.openxmlformats.org/drawingml/2006/main">
              <a:ext uri="{FF2B5EF4-FFF2-40B4-BE49-F238E27FC236}">
                <a16:creationId xmlns:a16="http://schemas.microsoft.com/office/drawing/2014/main" id="{3155E7B4-F45A-40BF-B29A-120C89BF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048250"/>
            <a:ext cx="7429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6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每一層都保留可運作成果、架構理由與 AWS 驗證。</a:t>
            </a:r>
          </a:p>
        </p:txBody>
      </p:sp>
      <p:sp>
        <p:nvSpPr>
          <p:cNvPr id="26" name="road-gate">
            <a:extLst xmlns:a="http://schemas.openxmlformats.org/drawingml/2006/main">
              <a:ext uri="{FF2B5EF4-FFF2-40B4-BE49-F238E27FC236}">
                <a16:creationId xmlns:a16="http://schemas.microsoft.com/office/drawing/2014/main" id="{3931BF37-D280-42F8-ABE2-E2F836FBF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543550"/>
            <a:ext cx="742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1275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不為堆服務而擴張；只在價值、成本與證據成立時前進。</a:t>
            </a:r>
          </a:p>
        </p:txBody>
      </p:sp>
      <p:sp>
        <p:nvSpPr>
          <p:cNvPr id="28" name="page-mask-15">
            <a:extLst xmlns:a="http://schemas.openxmlformats.org/drawingml/2006/main">
              <a:ext uri="{FF2B5EF4-FFF2-40B4-BE49-F238E27FC236}">
                <a16:creationId xmlns:a16="http://schemas.microsoft.com/office/drawing/2014/main" id="{4C540D19-4BC6-4CA5-8324-EC27734F4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page-new-15">
            <a:extLst xmlns:a="http://schemas.openxmlformats.org/drawingml/2006/main">
              <a:ext uri="{FF2B5EF4-FFF2-40B4-BE49-F238E27FC236}">
                <a16:creationId xmlns:a16="http://schemas.microsoft.com/office/drawing/2014/main" id="{CCA7FBB1-EF99-43BC-8276-A48BDBFCB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15</a:t>
            </a:r>
          </a:p>
        </p:txBody>
      </p:sp>
      <p:sp>
        <p:nvSpPr>
          <p:cNvPr id="30" name="EVOLUTION-kicker-mask">
            <a:extLst xmlns:a="http://schemas.openxmlformats.org/drawingml/2006/main">
              <a:ext uri="{FF2B5EF4-FFF2-40B4-BE49-F238E27FC236}">
                <a16:creationId xmlns:a16="http://schemas.microsoft.com/office/drawing/2014/main" id="{D9D1BB7A-6A54-43A4-AEB9-372B36736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EVOLUTION-kicker-new">
            <a:extLst xmlns:a="http://schemas.openxmlformats.org/drawingml/2006/main">
              <a:ext uri="{FF2B5EF4-FFF2-40B4-BE49-F238E27FC236}">
                <a16:creationId xmlns:a16="http://schemas.microsoft.com/office/drawing/2014/main" id="{72D5F70F-AB60-455C-B889-ABB4C884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EVOLUTION</a:t>
            </a:r>
          </a:p>
        </p:txBody>
      </p:sp>
      <p:sp>
        <p:nvSpPr>
          <p:cNvPr id="32" name="page-mask-v2-16">
            <a:extLst xmlns:a="http://schemas.openxmlformats.org/drawingml/2006/main">
              <a:ext uri="{FF2B5EF4-FFF2-40B4-BE49-F238E27FC236}">
                <a16:creationId xmlns:a16="http://schemas.microsoft.com/office/drawing/2014/main" id="{9013A00D-2EFD-437F-AC93-A6F0EFEF4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page-v2-16">
            <a:extLst xmlns:a="http://schemas.openxmlformats.org/drawingml/2006/main">
              <a:ext uri="{FF2B5EF4-FFF2-40B4-BE49-F238E27FC236}">
                <a16:creationId xmlns:a16="http://schemas.microsoft.com/office/drawing/2014/main" id="{3CC31214-8A95-4557-9C85-7D6C1254B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368556769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close-big-0">
            <a:extLst xmlns:a="http://schemas.openxmlformats.org/drawingml/2006/main">
              <a:ext uri="{FF2B5EF4-FFF2-40B4-BE49-F238E27FC236}">
                <a16:creationId xmlns:a16="http://schemas.microsoft.com/office/drawing/2014/main" id="{7AEE70F0-9000-488A-BAE4-BC2385345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432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產品</a:t>
            </a:r>
          </a:p>
        </p:txBody>
      </p:sp>
      <p:sp>
        <p:nvSpPr>
          <p:cNvPr id="5" name="close-sub-0">
            <a:extLst xmlns:a="http://schemas.openxmlformats.org/drawingml/2006/main">
              <a:ext uri="{FF2B5EF4-FFF2-40B4-BE49-F238E27FC236}">
                <a16:creationId xmlns:a16="http://schemas.microsoft.com/office/drawing/2014/main" id="{BA1387AD-161C-4D0B-8C29-50CBA4E6D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909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多人共同決策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可玩閉環與真實驗證</a:t>
            </a:r>
          </a:p>
        </p:txBody>
      </p:sp>
      <p:sp>
        <p:nvSpPr>
          <p:cNvPr id="6" name="close-big-1">
            <a:extLst xmlns:a="http://schemas.openxmlformats.org/drawingml/2006/main">
              <a:ext uri="{FF2B5EF4-FFF2-40B4-BE49-F238E27FC236}">
                <a16:creationId xmlns:a16="http://schemas.microsoft.com/office/drawing/2014/main" id="{99982D59-8AD2-43C1-B3E1-3084B7DCD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432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16825D"/>
                </a:solidFill>
                <a:latin typeface="PingFang TC"/>
                <a:ea typeface="PingFang TC"/>
                <a:cs typeface="PingFang TC"/>
              </a:rPr>
              <a:t>雲端工程</a:t>
            </a:r>
          </a:p>
        </p:txBody>
      </p:sp>
      <p:sp>
        <p:nvSpPr>
          <p:cNvPr id="7" name="close-sub-1">
            <a:extLst xmlns:a="http://schemas.openxmlformats.org/drawingml/2006/main">
              <a:ext uri="{FF2B5EF4-FFF2-40B4-BE49-F238E27FC236}">
                <a16:creationId xmlns:a16="http://schemas.microsoft.com/office/drawing/2014/main" id="{FC4DFF54-5AF0-4999-852E-3E2E32747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909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IaC · private data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SSM · CloudWatch</a:t>
            </a:r>
          </a:p>
        </p:txBody>
      </p:sp>
      <p:sp>
        <p:nvSpPr>
          <p:cNvPr id="8" name="close-big-2">
            <a:extLst xmlns:a="http://schemas.openxmlformats.org/drawingml/2006/main">
              <a:ext uri="{FF2B5EF4-FFF2-40B4-BE49-F238E27FC236}">
                <a16:creationId xmlns:a16="http://schemas.microsoft.com/office/drawing/2014/main" id="{67B4C4DF-2437-41A8-88BF-DBBFC4D1F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143250"/>
            <a:ext cx="285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9900"/>
                </a:solidFill>
                <a:latin typeface="PingFang TC"/>
                <a:ea typeface="PingFang TC"/>
                <a:cs typeface="PingFang TC"/>
              </a:defRPr>
            </a:pPr>
            <a:r>
              <a:rPr sz="2250" b="1">
                <a:solidFill>
                  <a:srgbClr val="FF9900"/>
                </a:solidFill>
                <a:latin typeface="PingFang TC"/>
                <a:ea typeface="PingFang TC"/>
                <a:cs typeface="PingFang TC"/>
              </a:rPr>
              <a:t>持續演進</a:t>
            </a:r>
          </a:p>
        </p:txBody>
      </p:sp>
      <p:sp>
        <p:nvSpPr>
          <p:cNvPr id="9" name="close-sub-2">
            <a:extLst xmlns:a="http://schemas.openxmlformats.org/drawingml/2006/main">
              <a:ext uri="{FF2B5EF4-FFF2-40B4-BE49-F238E27FC236}">
                <a16:creationId xmlns:a16="http://schemas.microsoft.com/office/drawing/2014/main" id="{595C4C21-46A1-4140-81FD-FD77FF8F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79095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CI/CD · 微服務</a:t>
            </a:r>
          </a:p>
          <a:p xmlns:a="http://schemas.openxmlformats.org/drawingml/2006/main">
            <a:pPr algn="l">
              <a:buNone/>
              <a:def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1425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RAG · Agentic AI</a:t>
            </a:r>
          </a:p>
        </p:txBody>
      </p:sp>
      <p:sp>
        <p:nvSpPr>
          <p:cNvPr id="10" name="close-next">
            <a:extLst xmlns:a="http://schemas.openxmlformats.org/drawingml/2006/main">
              <a:ext uri="{FF2B5EF4-FFF2-40B4-BE49-F238E27FC236}">
                <a16:creationId xmlns:a16="http://schemas.microsoft.com/office/drawing/2014/main" id="{4DB4BA11-B8AC-4141-AB93-1E4C0C2F1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72800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0B1F3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close-next-copy">
            <a:extLst xmlns:a="http://schemas.openxmlformats.org/drawingml/2006/main">
              <a:ext uri="{FF2B5EF4-FFF2-40B4-BE49-F238E27FC236}">
                <a16:creationId xmlns:a16="http://schemas.microsoft.com/office/drawing/2014/main" id="{41F6E969-5EEB-4ADE-AA6D-ADA031A63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19750"/>
            <a:ext cx="10363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defRPr>
            </a:pPr>
            <a:r>
              <a:rPr sz="1800" b="1">
                <a:solidFill>
                  <a:srgbClr val="FFFFFF"/>
                </a:solidFill>
                <a:latin typeface="PingFang TC"/>
                <a:ea typeface="PingFang TC"/>
                <a:cs typeface="PingFang TC"/>
              </a:rPr>
              <a:t>下一步：5xx alarm → recovery → AIOps incident</a:t>
            </a:r>
          </a:p>
        </p:txBody>
      </p:sp>
      <p:sp>
        <p:nvSpPr>
          <p:cNvPr id="13" name="page-mask-16">
            <a:extLst xmlns:a="http://schemas.openxmlformats.org/drawingml/2006/main">
              <a:ext uri="{FF2B5EF4-FFF2-40B4-BE49-F238E27FC236}">
                <a16:creationId xmlns:a16="http://schemas.microsoft.com/office/drawing/2014/main" id="{715A9C8C-CFA1-40FA-891C-B89B0B49C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171450"/>
            <a:ext cx="762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page-new-16">
            <a:extLst xmlns:a="http://schemas.openxmlformats.org/drawingml/2006/main">
              <a:ext uri="{FF2B5EF4-FFF2-40B4-BE49-F238E27FC236}">
                <a16:creationId xmlns:a16="http://schemas.microsoft.com/office/drawing/2014/main" id="{217726B0-E135-4C6C-9E0A-D9E512DBF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5F6B78"/>
                </a:solidFill>
                <a:latin typeface="PingFang TC"/>
                <a:ea typeface="PingFang TC"/>
                <a:cs typeface="PingFang TC"/>
              </a:rPr>
              <a:t>16</a:t>
            </a:r>
          </a:p>
        </p:txBody>
      </p:sp>
      <p:sp>
        <p:nvSpPr>
          <p:cNvPr id="15" name="closing-title-mask-v2">
            <a:extLst xmlns:a="http://schemas.openxmlformats.org/drawingml/2006/main">
              <a:ext uri="{FF2B5EF4-FFF2-40B4-BE49-F238E27FC236}">
                <a16:creationId xmlns:a16="http://schemas.microsoft.com/office/drawing/2014/main" id="{08FB3250-B490-4FD8-B890-20B484866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1162050"/>
            <a:ext cx="1104900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closing-title-v2">
            <a:extLst xmlns:a="http://schemas.openxmlformats.org/drawingml/2006/main">
              <a:ext uri="{FF2B5EF4-FFF2-40B4-BE49-F238E27FC236}">
                <a16:creationId xmlns:a16="http://schemas.microsoft.com/office/drawing/2014/main" id="{C5B5FDAA-7FD8-4F36-8F7A-E036DABE5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95400"/>
            <a:ext cx="10477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我把產品、風險與維運一起設計成</a:t>
            </a:r>
          </a:p>
          <a:p xmlns:a="http://schemas.openxmlformats.org/drawingml/2006/main">
            <a:pPr algn="l">
              <a:buNone/>
              <a:defRPr sz="2850" b="1">
                <a:solidFill>
                  <a:srgbClr val="0B1F33"/>
                </a:solidFill>
                <a:latin typeface="PingFang TC"/>
                <a:ea typeface="PingFang TC"/>
                <a:cs typeface="PingFang TC"/>
              </a:defRPr>
            </a:pPr>
            <a:r>
              <a:rPr sz="2850" b="1">
                <a:solidFill>
                  <a:srgbClr val="0B1F33"/>
                </a:solidFill>
                <a:latin typeface="PingFang TC"/>
                <a:ea typeface="PingFang TC"/>
                <a:cs typeface="PingFang TC"/>
              </a:rPr>
              <a:t>可驗證、可持續演進的雲端服務。</a:t>
            </a:r>
          </a:p>
        </p:txBody>
      </p:sp>
      <p:sp>
        <p:nvSpPr>
          <p:cNvPr id="17" name="PORTFOLIO VALUE-kicker-mask">
            <a:extLst xmlns:a="http://schemas.openxmlformats.org/drawingml/2006/main">
              <a:ext uri="{FF2B5EF4-FFF2-40B4-BE49-F238E27FC236}">
                <a16:creationId xmlns:a16="http://schemas.microsoft.com/office/drawing/2014/main" id="{78F529E7-069D-4730-8423-99A170A42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PORTFOLIO VALUE-kicker-new">
            <a:extLst xmlns:a="http://schemas.openxmlformats.org/drawingml/2006/main">
              <a:ext uri="{FF2B5EF4-FFF2-40B4-BE49-F238E27FC236}">
                <a16:creationId xmlns:a16="http://schemas.microsoft.com/office/drawing/2014/main" id="{AC6CED10-AB7A-4E9C-851B-35B40E057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PORTFOLIO VALUE</a:t>
            </a:r>
          </a:p>
        </p:txBody>
      </p:sp>
      <p:sp>
        <p:nvSpPr>
          <p:cNvPr id="19" name="closing-kicker-deep-mask">
            <a:extLst xmlns:a="http://schemas.openxmlformats.org/drawingml/2006/main">
              <a:ext uri="{FF2B5EF4-FFF2-40B4-BE49-F238E27FC236}">
                <a16:creationId xmlns:a16="http://schemas.microsoft.com/office/drawing/2014/main" id="{F35A9260-18F4-4D83-A50F-FFC718FD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171450"/>
            <a:ext cx="5143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losing-kicker-final">
            <a:extLst xmlns:a="http://schemas.openxmlformats.org/drawingml/2006/main">
              <a:ext uri="{FF2B5EF4-FFF2-40B4-BE49-F238E27FC236}">
                <a16:creationId xmlns:a16="http://schemas.microsoft.com/office/drawing/2014/main" id="{F31315A2-7CE0-4BB8-ACCC-FA8BE278E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defRPr>
            </a:pPr>
            <a:r>
              <a:rPr sz="975" b="1">
                <a:solidFill>
                  <a:srgbClr val="1F73B7"/>
                </a:solidFill>
                <a:latin typeface="PingFang TC"/>
                <a:ea typeface="PingFang TC"/>
                <a:cs typeface="PingFang TC"/>
              </a:rPr>
              <a:t>PORTFOLIO VALUE</a:t>
            </a:r>
          </a:p>
        </p:txBody>
      </p:sp>
      <p:sp>
        <p:nvSpPr>
          <p:cNvPr id="21" name="closing-line-remnant-mask">
            <a:extLst xmlns:a="http://schemas.openxmlformats.org/drawingml/2006/main">
              <a:ext uri="{FF2B5EF4-FFF2-40B4-BE49-F238E27FC236}">
                <a16:creationId xmlns:a16="http://schemas.microsoft.com/office/drawing/2014/main" id="{0B863255-4ED7-4EF2-89DB-03FEEC4DB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2457450"/>
            <a:ext cx="11239500" cy="609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page-mask-v2-17">
            <a:extLst xmlns:a="http://schemas.openxmlformats.org/drawingml/2006/main">
              <a:ext uri="{FF2B5EF4-FFF2-40B4-BE49-F238E27FC236}">
                <a16:creationId xmlns:a16="http://schemas.microsoft.com/office/drawing/2014/main" id="{EC85A49E-64E1-4F26-8AC9-7903A2B44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171450"/>
            <a:ext cx="7429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page-v2-17">
            <a:extLst xmlns:a="http://schemas.openxmlformats.org/drawingml/2006/main">
              <a:ext uri="{FF2B5EF4-FFF2-40B4-BE49-F238E27FC236}">
                <a16:creationId xmlns:a16="http://schemas.microsoft.com/office/drawing/2014/main" id="{B55848C6-127E-44D5-A283-61BD8BE5A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4765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defRPr>
            </a:pPr>
            <a:r>
              <a:rPr sz="900" b="0">
                <a:solidFill>
                  <a:srgbClr val="667586"/>
                </a:solidFill>
                <a:latin typeface="PingFang TC"/>
                <a:ea typeface="PingFang TC"/>
                <a:cs typeface="PingFang T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4843342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2026-08-24T07:10:01.8180000Z</dcterms:created>
  <dcterms:modified xsi:type="dcterms:W3CDTF">2026-08-24T07:10:01.8180000Z</dcterms:modified>
</coreProperties>
</file>