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今天不是報告完成百分比，而是用一個真實多人 AI 產品，說明我如何把產品問題轉成 AWS 架構、風險控制與可驗證維運。</a:t>
            </a:r>
          </a:p>
          <a:p>
            <a:endParaRPr/>
          </a:p>
          <a:p>
            <a:r>
              <a:t>[Sources]</a:t>
            </a:r>
          </a:p>
          <a:p>
            <a:r>
              <a:t>- docs/handoffs/CURRENT.md</a:t>
            </a:r>
          </a:p>
          <a:p>
            <a:r>
              <a:t>- docs/evidence/2026-08-20-tier0-four-player-trial/validation.md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第一章先談產品問題與價值。服務選型只有在問題被說清楚後才有意義。</a:t>
            </a:r>
          </a:p>
          <a:p>
            <a:endParaRPr/>
          </a:p>
          <a:p>
            <a:r>
              <a:t>[Sources]</a:t>
            </a:r>
          </a:p>
          <a:p>
            <a:r>
              <a:t>- docs/product/source-of-truth.md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多人共創真正困難的是同步與共識。共演計劃讓 server 維持 canonical state 與 deterministic rules，AI 只在既定結果上生成敘事，因此同一核心能從娛樂延伸到培訓模擬、共創工作坊與互動內容。</a:t>
            </a:r>
          </a:p>
          <a:p>
            <a:endParaRPr/>
          </a:p>
          <a:p>
            <a:r>
              <a:t>[Sources]</a:t>
            </a:r>
          </a:p>
          <a:p>
            <a:r>
              <a:t>- docs/product/source-of-truth.md</a:t>
            </a:r>
          </a:p>
          <a:p>
            <a:r>
              <a:t>- docs/project-plan.md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RPG 是第一個可驗證場景，但核心不是奇幻故事，而是多人輸入、共同狀態、規則結算與 AI 受約束輸出。換成會議時，回合可對應議程與發言，AI 產生摘要和行動項；換成培訓時，規則可變成評估標準。這兩項是商業延伸概念，尚未實作。</a:t>
            </a:r>
          </a:p>
          <a:p>
            <a:endParaRPr/>
          </a:p>
          <a:p>
            <a:r>
              <a:t>[Sources]</a:t>
            </a:r>
          </a:p>
          <a:p>
            <a:r>
              <a:t>- docs/product/source-of-truth.md</a:t>
            </a:r>
          </a:p>
          <a:p>
            <a:r>
              <a:t>- 產品延伸推論，未宣稱已實作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玩家只需要加入房間、提交行動、擲骰並閱讀共同故事。前端不接觸 AWS credential；後端結算規則和狀態，最後才把結果交給 Bedrock 轉成敘事。這個責任分離讓產品體驗簡單，也讓雲端元件能獨立替換。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docs/architecture/frontend-clean-architecture.md</a:t>
            </a:r>
          </a:p>
          <a:p>
            <a:r>
              <a:t>- docs/architecture/llm-integration.md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這是公開 AWS 環境的實際遊玩畫面。四位玩家使用不同裝置完成世界生成、角色建立、四回合、AI 敘事、結局與刪房。這證明的是產品閉環，而不是只有單機畫面或後端測試。</a:t>
            </a:r>
          </a:p>
          <a:p>
            <a:endParaRPr/>
          </a:p>
          <a:p>
            <a:r>
              <a:t>[Sources]</a:t>
            </a:r>
          </a:p>
          <a:p>
            <a:r>
              <a:t>- docs/evidence/2026-08-20-tier0-four-player-trial/validation.md</a:t>
            </a:r>
          </a:p>
          <a:p>
            <a:r>
              <a:t>- 內部實際遊玩截圖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第二章從問題回推服務。接下來依序說明服務選型、Nova Lite、模型抽換與實際部署架構。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docs/architecture/tier0-aws-deployment-plan.md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EC2 解決的是單一 process MVP 的可控部署；RDS 解決多人狀態與跨重啟 persistence；Bedrock 提供受治理的模型入口；SSM 讓維運不開 SSH；CloudWatch 把 log 轉成可查詢、可告警的操作證據。未使用的 NAT Gateway、ALB、ECS 等服務不是缺漏，而是目前沒有足夠價值支撐成本與複雜度。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docs/architecture/tier0-aws-deployment-plan.md</a:t>
            </a:r>
          </a:p>
          <a:p>
            <a:r>
              <a:t>- infra/cloudformation/tier0-network.yaml</a:t>
            </a:r>
          </a:p>
          <a:p>
            <a:r>
              <a:t>- infra/cloudformation/tier0-rds.yaml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Nova Lite 是目前已部署模型。AWS 將它定位為低成本、快速的 multimodal model；本專案只使用文字輸入，互動回合看重的是等待時間和成本平衡，而不是最大推理能力。程式以 Storyteller port 隔離應用層，Bedrock adapter 使用 Converse，model ID 由環境設定，因此在同介面模型間切換主要是設定與驗證工作，不需改寫遊戲規則。但『可抽換』不等於免測試，仍要重跑 schema、品質、延遲、成本、Region、IAM 與 Guardrail gate。</a:t>
            </a:r>
          </a:p>
          <a:p>
            <a:endParaRPr/>
          </a:p>
          <a:p>
            <a:r>
              <a:t>[Sources]</a:t>
            </a:r>
          </a:p>
          <a:p>
            <a:r>
              <a:t>- https://docs.aws.amazon.com/bedrock/latest/userguide/model-card-amazon-nova-lite.html</a:t>
            </a:r>
          </a:p>
          <a:p>
            <a:r>
              <a:t>- https://docs.aws.amazon.com/bedrock/latest/userguide/apis.html</a:t>
            </a:r>
          </a:p>
          <a:p>
            <a:r>
              <a:t>- backend/app/application/ports.py</a:t>
            </a:r>
          </a:p>
          <a:p>
            <a:r>
              <a:t>- backend/app/adapters/bedrock_storyteller.py</a:t>
            </a:r>
          </a:p>
          <a:p>
            <a:r>
              <a:t>- backend/app/main.py</a:t>
            </a:r>
          </a:p>
          <a:p>
            <a:r>
              <a:t>- ops/release/enable_public_https.sh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FastAPI 只是入口。Room Service 管理房間生命週期，Domain Rules 決定骰子、進度、危機與結局；RDS 和 Bedrock 都隔離在 adapters。這讓一致性規則、資料持久化與 AI 敘事可以獨立測試，也讓 production wiring 能 fail closed。</a:t>
            </a:r>
          </a:p>
          <a:p>
            <a:endParaRPr/>
          </a:p>
          <a:p>
            <a:r>
              <a:t>[Sources]</a:t>
            </a:r>
          </a:p>
          <a:p>
            <a:r>
              <a:t>- backend/app/application/room_service.py</a:t>
            </a:r>
          </a:p>
          <a:p>
            <a:r>
              <a:t>- docs/decisions/0003-adopt-postgresql-room-aggregate-repository.md</a:t>
            </a:r>
          </a:p>
          <a:p>
            <a:r>
              <a:t>- docs/architecture/llm-integration.md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玩家經 Internet Gateway 進入 public app subnet 的 EC2，資料庫只在 private DB subnets。EC2 透過 Bedrock 產生受約束敘事，CloudWatch 收集 safe application logs，Systems Manager 提供免 SSH 維運。圖上的三條外部依賴分別走上方、下方與管理平面通道，避免與 VPC 或 Subnet 邊界重疊。</a:t>
            </a:r>
          </a:p>
          <a:p>
            <a:endParaRPr/>
          </a:p>
          <a:p>
            <a:r>
              <a:t>[Sources]</a:t>
            </a:r>
          </a:p>
          <a:p>
            <a:r>
              <a:t>- infra/cloudformation/tier0-network.yaml</a:t>
            </a:r>
          </a:p>
          <a:p>
            <a:r>
              <a:t>- infra/cloudformation/tier0-rds.yaml</a:t>
            </a:r>
          </a:p>
          <a:p>
            <a:r>
              <a:t>- infra/cloudformation/tier1-observability.yaml</a:t>
            </a:r>
          </a:p>
          <a:p>
            <a:r>
              <a:t>- infra/cloudformation/tier1-operations.yaml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前端與後端都把介面定義留在應用核心，外部</a:t>
            </a:r>
            <a:r>
              <a:rPr dirty="0"/>
              <a:t> I/O </a:t>
            </a:r>
            <a:r>
              <a:rPr dirty="0" err="1"/>
              <a:t>由</a:t>
            </a:r>
            <a:r>
              <a:rPr dirty="0"/>
              <a:t> adapter </a:t>
            </a:r>
            <a:r>
              <a:rPr dirty="0" err="1"/>
              <a:t>實作。前端的</a:t>
            </a:r>
            <a:r>
              <a:rPr dirty="0"/>
              <a:t> Fetch adapter </a:t>
            </a:r>
            <a:r>
              <a:rPr dirty="0" err="1"/>
              <a:t>對接</a:t>
            </a:r>
            <a:r>
              <a:rPr dirty="0"/>
              <a:t> </a:t>
            </a:r>
            <a:r>
              <a:rPr dirty="0" err="1"/>
              <a:t>FastAPI；後端的</a:t>
            </a:r>
            <a:r>
              <a:rPr dirty="0"/>
              <a:t> Repository Port </a:t>
            </a:r>
            <a:r>
              <a:rPr dirty="0" err="1"/>
              <a:t>與</a:t>
            </a:r>
            <a:r>
              <a:rPr dirty="0"/>
              <a:t> Storyteller Port </a:t>
            </a:r>
            <a:r>
              <a:rPr dirty="0" err="1"/>
              <a:t>分別由</a:t>
            </a:r>
            <a:r>
              <a:rPr dirty="0"/>
              <a:t> PostgreSQL </a:t>
            </a:r>
            <a:r>
              <a:rPr dirty="0" err="1"/>
              <a:t>與</a:t>
            </a:r>
            <a:r>
              <a:rPr dirty="0"/>
              <a:t> Bedrock adapter </a:t>
            </a:r>
            <a:r>
              <a:rPr dirty="0" err="1"/>
              <a:t>實作。這讓產品規則不直接依賴</a:t>
            </a:r>
            <a:r>
              <a:rPr dirty="0"/>
              <a:t> AWS </a:t>
            </a:r>
            <a:r>
              <a:rPr dirty="0" err="1"/>
              <a:t>SDK，模型、資料庫或運維接點可以在</a:t>
            </a:r>
            <a:r>
              <a:rPr dirty="0"/>
              <a:t> adapter </a:t>
            </a:r>
            <a:r>
              <a:rPr dirty="0" err="1"/>
              <a:t>層抽換與驗證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docs/architecture/frontend-clean-</a:t>
            </a:r>
            <a:r>
              <a:rPr dirty="0" err="1"/>
              <a:t>architecture.md</a:t>
            </a:r>
            <a:endParaRPr dirty="0"/>
          </a:p>
          <a:p>
            <a:r>
              <a:rPr dirty="0"/>
              <a:t>- docs/decisions/0002-adopt-clean-frontend-architecture.md</a:t>
            </a:r>
          </a:p>
          <a:p>
            <a:r>
              <a:rPr dirty="0"/>
              <a:t>- web/</a:t>
            </a:r>
            <a:r>
              <a:rPr dirty="0" err="1"/>
              <a:t>src</a:t>
            </a:r>
            <a:r>
              <a:rPr dirty="0"/>
              <a:t>/application/ports/game-</a:t>
            </a:r>
            <a:r>
              <a:rPr dirty="0" err="1"/>
              <a:t>api.js</a:t>
            </a:r>
            <a:endParaRPr dirty="0"/>
          </a:p>
          <a:p>
            <a:r>
              <a:rPr dirty="0"/>
              <a:t>- backend/app/application/</a:t>
            </a:r>
            <a:r>
              <a:rPr dirty="0" err="1"/>
              <a:t>ports.py</a:t>
            </a:r>
            <a:endParaRPr dirty="0"/>
          </a:p>
          <a:p>
            <a:r>
              <a:rPr dirty="0"/>
              <a:t>- backend/app/adapters/</a:t>
            </a:r>
            <a:r>
              <a:rPr dirty="0" err="1"/>
              <a:t>bedrock_storyteller.py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第三章展示安全、成本、SSM 與 CloudWatch 的實機證據，也清楚區分已完成與尚未完成。</a:t>
            </a:r>
          </a:p>
          <a:p>
            <a:endParaRPr/>
          </a:p>
          <a:p>
            <a:r>
              <a:t>[Sources]</a:t>
            </a:r>
          </a:p>
          <a:p>
            <a:r>
              <a:t>- docs/evidence/2026-08-24-tier1-runtime-observability/validation.md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網路、權限與成本都在部署前被設計。管理面以 SSM 取代 SSH；private RDS 只接受 App SG；AppRole 只取得指定 Bedrock、CloudWatch 與 runtime secret。成本用 US$1 Budget、最小規格、七天 log retention 與明確不建立清單控制。</a:t>
            </a:r>
          </a:p>
          <a:p>
            <a:endParaRPr/>
          </a:p>
          <a:p>
            <a:r>
              <a:t>[Sources]</a:t>
            </a:r>
          </a:p>
          <a:p>
            <a:r>
              <a:t>- docs/architecture/tier0-aws-change-envelope.md</a:t>
            </a:r>
          </a:p>
          <a:p>
            <a:r>
              <a:t>- docs/handoffs/CURRENT.md</a:t>
            </a:r>
          </a:p>
          <a:p>
            <a:r>
              <a:t>- AWS Architecture Icons 2026 Q3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FastAPI 只把 allowlist 欄位寫入安全 JSONL，CloudWatch Agent 收集固定檔案並送到七天 retention 的 Log Group。Metric filter 只辨識 500 到 599，Alarm 門檻是一分鐘至少一次。SSM Health Document 已驗證 service、live 與 ready；正向 delivery 已完成，5xx trigger 和 recovery 尚未宣稱完成。</a:t>
            </a:r>
          </a:p>
          <a:p>
            <a:endParaRPr/>
          </a:p>
          <a:p>
            <a:r>
              <a:t>[Sources]</a:t>
            </a:r>
          </a:p>
          <a:p>
            <a:r>
              <a:t>- infra/cloudformation/tier1-observability.yaml</a:t>
            </a:r>
          </a:p>
          <a:p>
            <a:r>
              <a:t>- infra/cloudformation/tier1-ssm-health-check.yaml</a:t>
            </a:r>
          </a:p>
          <a:p>
            <a:r>
              <a:t>- docs/evidence/2026-08-24-tier1-runtime-observability/validation.md</a:t>
            </a:r>
          </a:p>
          <a:p>
            <a:r>
              <a:t>- AWS Architecture Icons 2026 Q3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Tier 0 到 Tier 5 是同一產品的累積演進。Tier 0 證明可玩、private data 與 AWS 部署；Tier 1 加入可觀測與免 SSH 維運。後續才做元件隔離、CI/CD、微服務與 Agentic AI，每一層都必須有實際成果和證據。</a:t>
            </a:r>
          </a:p>
          <a:p>
            <a:endParaRPr/>
          </a:p>
          <a:p>
            <a:r>
              <a:t>[Sources]</a:t>
            </a:r>
          </a:p>
          <a:p>
            <a:r>
              <a:t>- AGENTS.md</a:t>
            </a:r>
          </a:p>
          <a:p>
            <a:r>
              <a:t>- docs/project-plan.md</a:t>
            </a:r>
          </a:p>
          <a:p>
            <a:r>
              <a:t>- docs/checkpoints.md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共演計劃展示的是完整的產品工程能力：把使用者需求轉成系統邊界，把風險轉成安全與 rollback，把部署轉成可重現證據。下一步會完成 5xx alarm、recovery 與 AIOps incident，但每次擴張仍以價值、成本與驗證為前提。</a:t>
            </a:r>
          </a:p>
          <a:p>
            <a:endParaRPr/>
          </a:p>
          <a:p>
            <a:r>
              <a:t>[Sources]</a:t>
            </a:r>
          </a:p>
          <a:p>
            <a:r>
              <a:t>- docs/handoffs/CURRENT.md</a:t>
            </a:r>
          </a:p>
          <a:p>
            <a:r>
              <a:t>- docs/project-plan.md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kicker">
            <a:extLst>
              <a:ext uri="{FF2B5EF4-FFF2-40B4-BE49-F238E27FC236}">
                <a16:creationId xmlns:a16="http://schemas.microsoft.com/office/drawing/2014/main" id="{369A32BA-0FD2-42FD-A6B9-0215B5095527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AWS CLOUD PRODUCT CASE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A6400521-4AB7-42BE-B1B4-0B11FE5BAC1A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666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51AA789C-738C-4FE5-BDB1-F449182E69F8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8858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多人 AI 產品如何同時做到</a:t>
            </a:r>
          </a:p>
          <a:p>
            <a:pPr algn="l"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共同決策、私有資料與可觀測維運</a:t>
            </a:r>
          </a:p>
        </p:txBody>
      </p:sp>
      <p:sp>
        <p:nvSpPr>
          <p:cNvPr id="4" name="cover-line">
            <a:extLst>
              <a:ext uri="{FF2B5EF4-FFF2-40B4-BE49-F238E27FC236}">
                <a16:creationId xmlns:a16="http://schemas.microsoft.com/office/drawing/2014/main" id="{A9424A19-DFBF-4CA2-8E2D-E4444EAD096C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2095500" cy="0"/>
          </a:xfrm>
          <a:prstGeom prst="line">
            <a:avLst/>
          </a:prstGeom>
          <a:noFill/>
          <a:ln w="476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over-proof">
            <a:extLst>
              <a:ext uri="{FF2B5EF4-FFF2-40B4-BE49-F238E27FC236}">
                <a16:creationId xmlns:a16="http://schemas.microsoft.com/office/drawing/2014/main" id="{F409F23F-57B4-41B3-AC67-780D7DA72F48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590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1">
                <a:solidFill>
                  <a:srgbClr val="7FE0B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FE0B5"/>
                </a:solidFill>
                <a:latin typeface="PingFang TC"/>
                <a:ea typeface="PingFang TC"/>
                <a:cs typeface="PingFang TC"/>
              </a:rPr>
              <a:t>4 位玩家 · 4 回合 · AWS 實機驗證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2650E14F-8F89-44AF-8F83-BC80E214C804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FastAPI  ·  Amazon RDS  ·  Amazon Bedrock  ·  CloudWatch</a:t>
            </a:r>
          </a:p>
        </p:txBody>
      </p:sp>
      <p:sp>
        <p:nvSpPr>
          <p:cNvPr id="7" name="cover-date">
            <a:extLst>
              <a:ext uri="{FF2B5EF4-FFF2-40B4-BE49-F238E27FC236}">
                <a16:creationId xmlns:a16="http://schemas.microsoft.com/office/drawing/2014/main" id="{565D9072-EB7A-4B11-AD83-6E0CECBFD149}"/>
              </a:ext>
            </a:extLst>
          </p:cNvPr>
          <p:cNvSpPr>
            <a:spLocks noGrp="1"/>
          </p:cNvSpPr>
          <p:nvPr/>
        </p:nvSpPr>
        <p:spPr>
          <a:xfrm>
            <a:off x="685800" y="60579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產品架構展示  |  2026.08.24</a:t>
            </a:r>
          </a:p>
        </p:txBody>
      </p:sp>
      <p:sp>
        <p:nvSpPr>
          <p:cNvPr id="8" name="cover-orbit-1">
            <a:extLst>
              <a:ext uri="{FF2B5EF4-FFF2-40B4-BE49-F238E27FC236}">
                <a16:creationId xmlns:a16="http://schemas.microsoft.com/office/drawing/2014/main" id="{D1DCC3F3-0E16-477A-92C7-C8FA33A4F9EA}"/>
              </a:ext>
            </a:extLst>
          </p:cNvPr>
          <p:cNvSpPr>
            <a:spLocks noGrp="1"/>
          </p:cNvSpPr>
          <p:nvPr/>
        </p:nvSpPr>
        <p:spPr>
          <a:xfrm>
            <a:off x="9906000" y="857250"/>
            <a:ext cx="1047750" cy="1047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34B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cover-orbit-2">
            <a:extLst>
              <a:ext uri="{FF2B5EF4-FFF2-40B4-BE49-F238E27FC236}">
                <a16:creationId xmlns:a16="http://schemas.microsoft.com/office/drawing/2014/main" id="{94EDC4F1-BB33-4E0A-9FDF-48F734A8372A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2095500" cy="20955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34B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over-dot">
            <a:extLst>
              <a:ext uri="{FF2B5EF4-FFF2-40B4-BE49-F238E27FC236}">
                <a16:creationId xmlns:a16="http://schemas.microsoft.com/office/drawing/2014/main" id="{07CB5C10-B3D5-4ECA-9AE2-C67F381EF460}"/>
              </a:ext>
            </a:extLst>
          </p:cNvPr>
          <p:cNvSpPr>
            <a:spLocks noGrp="1"/>
          </p:cNvSpPr>
          <p:nvPr/>
        </p:nvSpPr>
        <p:spPr>
          <a:xfrm>
            <a:off x="10096500" y="30480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age-mask-1">
            <a:extLst>
              <a:ext uri="{FF2B5EF4-FFF2-40B4-BE49-F238E27FC236}">
                <a16:creationId xmlns:a16="http://schemas.microsoft.com/office/drawing/2014/main" id="{6F732F66-3388-40A7-AE4B-67B91906D708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page-new-1">
            <a:extLst>
              <a:ext uri="{FF2B5EF4-FFF2-40B4-BE49-F238E27FC236}">
                <a16:creationId xmlns:a16="http://schemas.microsoft.com/office/drawing/2014/main" id="{615A92D9-0DDB-42D8-9619-9D6B71CF3C8F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4" name="page-mask-v2-1">
            <a:extLst>
              <a:ext uri="{FF2B5EF4-FFF2-40B4-BE49-F238E27FC236}">
                <a16:creationId xmlns:a16="http://schemas.microsoft.com/office/drawing/2014/main" id="{3C1A0D31-AE28-47EA-80D7-04202723A47A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page-v2-1">
            <a:extLst>
              <a:ext uri="{FF2B5EF4-FFF2-40B4-BE49-F238E27FC236}">
                <a16:creationId xmlns:a16="http://schemas.microsoft.com/office/drawing/2014/main" id="{2A1318AE-A767-4387-B9FD-CE8C266BEC29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7364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-no-01">
            <a:extLst>
              <a:ext uri="{FF2B5EF4-FFF2-40B4-BE49-F238E27FC236}">
                <a16:creationId xmlns:a16="http://schemas.microsoft.com/office/drawing/2014/main" id="{BC8C3A07-8959-4B26-9394-7D9646B764FE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2" name="chapter-label-01">
            <a:extLst>
              <a:ext uri="{FF2B5EF4-FFF2-40B4-BE49-F238E27FC236}">
                <a16:creationId xmlns:a16="http://schemas.microsoft.com/office/drawing/2014/main" id="{D0CB7B11-CC54-4D68-98B1-694F664577F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71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WHY</a:t>
            </a:r>
          </a:p>
        </p:txBody>
      </p:sp>
      <p:sp>
        <p:nvSpPr>
          <p:cNvPr id="3" name="chapter-rule-01">
            <a:extLst>
              <a:ext uri="{FF2B5EF4-FFF2-40B4-BE49-F238E27FC236}">
                <a16:creationId xmlns:a16="http://schemas.microsoft.com/office/drawing/2014/main" id="{A9BB5AEC-0751-4CBB-8319-546940BA506D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524000" cy="0"/>
          </a:xfrm>
          <a:prstGeom prst="line">
            <a:avLst/>
          </a:prstGeom>
          <a:noFill/>
          <a:ln w="476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hapter-title-01">
            <a:extLst>
              <a:ext uri="{FF2B5EF4-FFF2-40B4-BE49-F238E27FC236}">
                <a16:creationId xmlns:a16="http://schemas.microsoft.com/office/drawing/2014/main" id="{E8BCD834-163B-4DF7-95DD-F74E4858ED6A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9525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先證明產品價值，再談雲端服務。</a:t>
            </a:r>
          </a:p>
        </p:txBody>
      </p:sp>
      <p:sp>
        <p:nvSpPr>
          <p:cNvPr id="6" name="chapter-mark-01">
            <a:extLst>
              <a:ext uri="{FF2B5EF4-FFF2-40B4-BE49-F238E27FC236}">
                <a16:creationId xmlns:a16="http://schemas.microsoft.com/office/drawing/2014/main" id="{0767F2C1-1A84-4368-AD15-97598CD7C00C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2">
            <a:extLst>
              <a:ext uri="{FF2B5EF4-FFF2-40B4-BE49-F238E27FC236}">
                <a16:creationId xmlns:a16="http://schemas.microsoft.com/office/drawing/2014/main" id="{F5C570C5-C088-42E7-8065-C3CBB98F50D6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age-new-2">
            <a:extLst>
              <a:ext uri="{FF2B5EF4-FFF2-40B4-BE49-F238E27FC236}">
                <a16:creationId xmlns:a16="http://schemas.microsoft.com/office/drawing/2014/main" id="{00685C7A-C08D-46E7-80AA-F4E42DBB4791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chapter-prompt-mask-v2-2">
            <a:extLst>
              <a:ext uri="{FF2B5EF4-FFF2-40B4-BE49-F238E27FC236}">
                <a16:creationId xmlns:a16="http://schemas.microsoft.com/office/drawing/2014/main" id="{C88D22A9-206F-491D-A0D6-EBD4C79F555C}"/>
              </a:ext>
            </a:extLst>
          </p:cNvPr>
          <p:cNvSpPr>
            <a:spLocks noGrp="1"/>
          </p:cNvSpPr>
          <p:nvPr/>
        </p:nvSpPr>
        <p:spPr>
          <a:xfrm>
            <a:off x="590550" y="4400550"/>
            <a:ext cx="9620250" cy="87630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hapter-prompt-v2-2">
            <a:extLst>
              <a:ext uri="{FF2B5EF4-FFF2-40B4-BE49-F238E27FC236}">
                <a16:creationId xmlns:a16="http://schemas.microsoft.com/office/drawing/2014/main" id="{D9D6AF65-1638-480D-BEE3-32955766EAFB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多人共同決策需要一致狀態、可延伸流程與可被信任的 AI 輸出。</a:t>
            </a:r>
          </a:p>
        </p:txBody>
      </p:sp>
      <p:sp>
        <p:nvSpPr>
          <p:cNvPr id="12" name="page-mask-v2-2">
            <a:extLst>
              <a:ext uri="{FF2B5EF4-FFF2-40B4-BE49-F238E27FC236}">
                <a16:creationId xmlns:a16="http://schemas.microsoft.com/office/drawing/2014/main" id="{75214AFB-23B9-4B12-8C16-A7350AB7A193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page-v2-2">
            <a:extLst>
              <a:ext uri="{FF2B5EF4-FFF2-40B4-BE49-F238E27FC236}">
                <a16:creationId xmlns:a16="http://schemas.microsoft.com/office/drawing/2014/main" id="{8C7076A1-AD71-4A64-8370-EC4850B63972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191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kicker-2">
            <a:extLst>
              <a:ext uri="{FF2B5EF4-FFF2-40B4-BE49-F238E27FC236}">
                <a16:creationId xmlns:a16="http://schemas.microsoft.com/office/drawing/2014/main" id="{6EA771EB-F951-434D-BDCC-619BFC6A38F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  PRODUCT VALUE</a:t>
            </a:r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8C2B8B58-82CF-4877-86A3-7EF37F54AFFD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20" name="page-mask-3">
            <a:extLst>
              <a:ext uri="{FF2B5EF4-FFF2-40B4-BE49-F238E27FC236}">
                <a16:creationId xmlns:a16="http://schemas.microsoft.com/office/drawing/2014/main" id="{7D9C23E0-FB22-4804-BB80-3E315BDBA295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page-new-3">
            <a:extLst>
              <a:ext uri="{FF2B5EF4-FFF2-40B4-BE49-F238E27FC236}">
                <a16:creationId xmlns:a16="http://schemas.microsoft.com/office/drawing/2014/main" id="{F80AFB59-31E6-47A6-A5DC-B033AD72CCC8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PRODUCT VALUE-header-mask">
            <a:extLst>
              <a:ext uri="{FF2B5EF4-FFF2-40B4-BE49-F238E27FC236}">
                <a16:creationId xmlns:a16="http://schemas.microsoft.com/office/drawing/2014/main" id="{676271B3-9677-4DDA-92E0-A1123727BC97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10287000" cy="11049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PRODUCT VALUE-kicker">
            <a:extLst>
              <a:ext uri="{FF2B5EF4-FFF2-40B4-BE49-F238E27FC236}">
                <a16:creationId xmlns:a16="http://schemas.microsoft.com/office/drawing/2014/main" id="{10F34B56-7491-40EB-8C90-FC5F82284F3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PRODUCT VALUE</a:t>
            </a:r>
          </a:p>
        </p:txBody>
      </p:sp>
      <p:sp>
        <p:nvSpPr>
          <p:cNvPr id="24" name="PRODUCT VALUE-title">
            <a:extLst>
              <a:ext uri="{FF2B5EF4-FFF2-40B4-BE49-F238E27FC236}">
                <a16:creationId xmlns:a16="http://schemas.microsoft.com/office/drawing/2014/main" id="{2B141931-DEA4-42D7-BC87-7738CECC5F8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多人共創需要所有人共享同一狀態</a:t>
            </a:r>
          </a:p>
        </p:txBody>
      </p:sp>
      <p:sp>
        <p:nvSpPr>
          <p:cNvPr id="25" name="PRODUCT VALUE-rule">
            <a:extLst>
              <a:ext uri="{FF2B5EF4-FFF2-40B4-BE49-F238E27FC236}">
                <a16:creationId xmlns:a16="http://schemas.microsoft.com/office/drawing/2014/main" id="{D31C663C-DF55-47F9-8E42-FC01195C84B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PRODUCT VALUE-kicker-mask">
            <a:extLst>
              <a:ext uri="{FF2B5EF4-FFF2-40B4-BE49-F238E27FC236}">
                <a16:creationId xmlns:a16="http://schemas.microsoft.com/office/drawing/2014/main" id="{11B021AB-967A-46BE-980D-88654B09C68B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PRODUCT VALUE-kicker-new">
            <a:extLst>
              <a:ext uri="{FF2B5EF4-FFF2-40B4-BE49-F238E27FC236}">
                <a16:creationId xmlns:a16="http://schemas.microsoft.com/office/drawing/2014/main" id="{D41F7520-F555-4305-BB28-136ECE421A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PRODUCT VALUE</a:t>
            </a:r>
          </a:p>
        </p:txBody>
      </p:sp>
      <p:sp>
        <p:nvSpPr>
          <p:cNvPr id="28" name="page-mask-v2-3">
            <a:extLst>
              <a:ext uri="{FF2B5EF4-FFF2-40B4-BE49-F238E27FC236}">
                <a16:creationId xmlns:a16="http://schemas.microsoft.com/office/drawing/2014/main" id="{80694BDF-98BA-4DBC-816E-BB6D7D044A22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page-v2-3">
            <a:extLst>
              <a:ext uri="{FF2B5EF4-FFF2-40B4-BE49-F238E27FC236}">
                <a16:creationId xmlns:a16="http://schemas.microsoft.com/office/drawing/2014/main" id="{565DFF1B-21FF-4343-8462-78CAA36BA6FB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30" name="p3-left-link">
            <a:extLst>
              <a:ext uri="{FF2B5EF4-FFF2-40B4-BE49-F238E27FC236}">
                <a16:creationId xmlns:a16="http://schemas.microsoft.com/office/drawing/2014/main" id="{AE794584-DA5E-4E4A-89C6-2B5EEF667BBC}"/>
              </a:ext>
            </a:extLst>
          </p:cNvPr>
          <p:cNvSpPr>
            <a:spLocks noGrp="1"/>
          </p:cNvSpPr>
          <p:nvPr/>
        </p:nvSpPr>
        <p:spPr>
          <a:xfrm>
            <a:off x="3514725" y="3133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p3-core-left">
            <a:extLst>
              <a:ext uri="{FF2B5EF4-FFF2-40B4-BE49-F238E27FC236}">
                <a16:creationId xmlns:a16="http://schemas.microsoft.com/office/drawing/2014/main" id="{F9BDA6CD-7315-470E-9106-D6A35A62703A}"/>
              </a:ext>
            </a:extLst>
          </p:cNvPr>
          <p:cNvSpPr>
            <a:spLocks noGrp="1"/>
          </p:cNvSpPr>
          <p:nvPr/>
        </p:nvSpPr>
        <p:spPr>
          <a:xfrm>
            <a:off x="4752975" y="3133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p3-core-right">
            <a:extLst>
              <a:ext uri="{FF2B5EF4-FFF2-40B4-BE49-F238E27FC236}">
                <a16:creationId xmlns:a16="http://schemas.microsoft.com/office/drawing/2014/main" id="{AFF910A5-8835-4C7F-ACAC-D3F8F62871D2}"/>
              </a:ext>
            </a:extLst>
          </p:cNvPr>
          <p:cNvSpPr>
            <a:spLocks noGrp="1"/>
          </p:cNvSpPr>
          <p:nvPr/>
        </p:nvSpPr>
        <p:spPr>
          <a:xfrm>
            <a:off x="7419975" y="3133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p3-right-link">
            <a:extLst>
              <a:ext uri="{FF2B5EF4-FFF2-40B4-BE49-F238E27FC236}">
                <a16:creationId xmlns:a16="http://schemas.microsoft.com/office/drawing/2014/main" id="{1F090ED5-DCBA-49A9-842F-22BCDE33446F}"/>
              </a:ext>
            </a:extLst>
          </p:cNvPr>
          <p:cNvSpPr>
            <a:spLocks noGrp="1"/>
          </p:cNvSpPr>
          <p:nvPr/>
        </p:nvSpPr>
        <p:spPr>
          <a:xfrm>
            <a:off x="8658225" y="3133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p3-core-bottom">
            <a:extLst>
              <a:ext uri="{FF2B5EF4-FFF2-40B4-BE49-F238E27FC236}">
                <a16:creationId xmlns:a16="http://schemas.microsoft.com/office/drawing/2014/main" id="{36B65268-BF4A-46BD-BB8E-3B43DB29B2D2}"/>
              </a:ext>
            </a:extLst>
          </p:cNvPr>
          <p:cNvSpPr>
            <a:spLocks noGrp="1"/>
          </p:cNvSpPr>
          <p:nvPr/>
        </p:nvSpPr>
        <p:spPr>
          <a:xfrm>
            <a:off x="6086475" y="38481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p3-bottom-link">
            <a:extLst>
              <a:ext uri="{FF2B5EF4-FFF2-40B4-BE49-F238E27FC236}">
                <a16:creationId xmlns:a16="http://schemas.microsoft.com/office/drawing/2014/main" id="{1A790908-C228-4071-ACFA-384544A96F33}"/>
              </a:ext>
            </a:extLst>
          </p:cNvPr>
          <p:cNvSpPr>
            <a:spLocks noGrp="1"/>
          </p:cNvSpPr>
          <p:nvPr/>
        </p:nvSpPr>
        <p:spPr>
          <a:xfrm>
            <a:off x="6086475" y="4514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74" name="直線箭頭接點 73"/>
          <p:cNvCxnSpPr>
            <a:stCxn id="31" idx="6"/>
            <a:endCxn id="30" idx="2"/>
          </p:cNvCxnSpPr>
          <p:nvPr/>
        </p:nvCxnSpPr>
        <p:spPr>
          <a:xfrm flipH="1">
            <a:off x="3514725" y="3143250"/>
            <a:ext cx="1257300" cy="0"/>
          </a:xfrm>
          <a:prstGeom prst="straightConnector1">
            <a:avLst/>
          </a:prstGeom>
          <a:ln w="19050">
            <a:solidFill>
              <a:srgbClr val="1F73B7"/>
            </a:solidFill>
            <a:prstDash val="solid"/>
          </a:ln>
        </p:spPr>
      </p:cxnSp>
      <p:cxnSp>
        <p:nvCxnSpPr>
          <p:cNvPr id="75" name="直線箭頭接點 74"/>
          <p:cNvCxnSpPr>
            <a:stCxn id="32" idx="6"/>
            <a:endCxn id="33" idx="2"/>
          </p:cNvCxnSpPr>
          <p:nvPr/>
        </p:nvCxnSpPr>
        <p:spPr>
          <a:xfrm>
            <a:off x="7439025" y="3143250"/>
            <a:ext cx="1219200" cy="0"/>
          </a:xfrm>
          <a:prstGeom prst="straightConnector1">
            <a:avLst/>
          </a:prstGeom>
          <a:ln w="19050">
            <a:solidFill>
              <a:srgbClr val="16825D"/>
            </a:solidFill>
            <a:prstDash val="solid"/>
          </a:ln>
        </p:spPr>
      </p:cxnSp>
      <p:cxnSp>
        <p:nvCxnSpPr>
          <p:cNvPr id="76" name="直線箭頭接點 75"/>
          <p:cNvCxnSpPr>
            <a:stCxn id="34" idx="4"/>
            <a:endCxn id="35" idx="0"/>
          </p:cNvCxnSpPr>
          <p:nvPr/>
        </p:nvCxnSpPr>
        <p:spPr>
          <a:xfrm>
            <a:off x="6096000" y="3867150"/>
            <a:ext cx="0" cy="647700"/>
          </a:xfrm>
          <a:prstGeom prst="straightConnector1">
            <a:avLst/>
          </a:prstGeom>
          <a:ln w="19050">
            <a:solidFill>
              <a:srgbClr val="FF9900"/>
            </a:solidFill>
            <a:prstDash val="solid"/>
          </a:ln>
        </p:spPr>
      </p:cxnSp>
      <p:sp>
        <p:nvSpPr>
          <p:cNvPr id="39" name="p3-left">
            <a:extLst>
              <a:ext uri="{FF2B5EF4-FFF2-40B4-BE49-F238E27FC236}">
                <a16:creationId xmlns:a16="http://schemas.microsoft.com/office/drawing/2014/main" id="{217C19AE-540D-47D2-8AA6-C61B81465D78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2914650" cy="1619250"/>
          </a:xfrm>
          <a:prstGeom prst="roundRect">
            <a:avLst>
              <a:gd name="adj" fmla="val 10588"/>
            </a:avLst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p3-left-tag">
            <a:extLst>
              <a:ext uri="{FF2B5EF4-FFF2-40B4-BE49-F238E27FC236}">
                <a16:creationId xmlns:a16="http://schemas.microsoft.com/office/drawing/2014/main" id="{37D7649B-4BFA-4255-A915-4FD87A637240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同步</a:t>
            </a:r>
          </a:p>
        </p:txBody>
      </p:sp>
      <p:sp>
        <p:nvSpPr>
          <p:cNvPr id="41" name="p3-left-title">
            <a:extLst>
              <a:ext uri="{FF2B5EF4-FFF2-40B4-BE49-F238E27FC236}">
                <a16:creationId xmlns:a16="http://schemas.microsoft.com/office/drawing/2014/main" id="{877B4663-DFC6-434D-99DC-2F418EA6F9DB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不同步</a:t>
            </a:r>
          </a:p>
        </p:txBody>
      </p:sp>
      <p:sp>
        <p:nvSpPr>
          <p:cNvPr id="42" name="p3-left-copy">
            <a:extLst>
              <a:ext uri="{FF2B5EF4-FFF2-40B4-BE49-F238E27FC236}">
                <a16:creationId xmlns:a16="http://schemas.microsoft.com/office/drawing/2014/main" id="{32479D4D-75A7-4951-9285-C7DA614B5E43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每個人看到不同版本</a:t>
            </a:r>
          </a:p>
        </p:txBody>
      </p:sp>
      <p:sp>
        <p:nvSpPr>
          <p:cNvPr id="43" name="p3-right">
            <a:extLst>
              <a:ext uri="{FF2B5EF4-FFF2-40B4-BE49-F238E27FC236}">
                <a16:creationId xmlns:a16="http://schemas.microsoft.com/office/drawing/2014/main" id="{C220286C-3FFD-4B7B-B5DB-D253A13C64A9}"/>
              </a:ext>
            </a:extLst>
          </p:cNvPr>
          <p:cNvSpPr>
            <a:spLocks noGrp="1"/>
          </p:cNvSpPr>
          <p:nvPr/>
        </p:nvSpPr>
        <p:spPr>
          <a:xfrm>
            <a:off x="8667750" y="2333625"/>
            <a:ext cx="2914650" cy="1619250"/>
          </a:xfrm>
          <a:prstGeom prst="roundRect">
            <a:avLst>
              <a:gd name="adj" fmla="val 10588"/>
            </a:avLst>
          </a:prstGeom>
          <a:solidFill>
            <a:srgbClr val="EAF7F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p3-right-tag">
            <a:extLst>
              <a:ext uri="{FF2B5EF4-FFF2-40B4-BE49-F238E27FC236}">
                <a16:creationId xmlns:a16="http://schemas.microsoft.com/office/drawing/2014/main" id="{35548804-1347-4010-9D43-E384EB36915C}"/>
              </a:ext>
            </a:extLst>
          </p:cNvPr>
          <p:cNvSpPr>
            <a:spLocks noGrp="1"/>
          </p:cNvSpPr>
          <p:nvPr/>
        </p:nvSpPr>
        <p:spPr>
          <a:xfrm>
            <a:off x="8896350" y="25146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規則</a:t>
            </a:r>
          </a:p>
        </p:txBody>
      </p:sp>
      <p:sp>
        <p:nvSpPr>
          <p:cNvPr id="45" name="p3-right-title">
            <a:extLst>
              <a:ext uri="{FF2B5EF4-FFF2-40B4-BE49-F238E27FC236}">
                <a16:creationId xmlns:a16="http://schemas.microsoft.com/office/drawing/2014/main" id="{4640C6C5-B527-4BC9-B3A6-A3A6F8F992D9}"/>
              </a:ext>
            </a:extLst>
          </p:cNvPr>
          <p:cNvSpPr>
            <a:spLocks noGrp="1"/>
          </p:cNvSpPr>
          <p:nvPr/>
        </p:nvSpPr>
        <p:spPr>
          <a:xfrm>
            <a:off x="8896350" y="28575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無共識</a:t>
            </a:r>
          </a:p>
        </p:txBody>
      </p:sp>
      <p:sp>
        <p:nvSpPr>
          <p:cNvPr id="46" name="p3-right-copy">
            <a:extLst>
              <a:ext uri="{FF2B5EF4-FFF2-40B4-BE49-F238E27FC236}">
                <a16:creationId xmlns:a16="http://schemas.microsoft.com/office/drawing/2014/main" id="{58232153-097B-4F1D-BD3B-ADB653AC8DE6}"/>
              </a:ext>
            </a:extLst>
          </p:cNvPr>
          <p:cNvSpPr>
            <a:spLocks noGrp="1"/>
          </p:cNvSpPr>
          <p:nvPr/>
        </p:nvSpPr>
        <p:spPr>
          <a:xfrm>
            <a:off x="8896350" y="33337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AI 輸出沒有規則邊界</a:t>
            </a:r>
          </a:p>
        </p:txBody>
      </p:sp>
      <p:sp>
        <p:nvSpPr>
          <p:cNvPr id="47" name="p3-core">
            <a:extLst>
              <a:ext uri="{FF2B5EF4-FFF2-40B4-BE49-F238E27FC236}">
                <a16:creationId xmlns:a16="http://schemas.microsoft.com/office/drawing/2014/main" id="{BE0F2D56-67B1-4E18-88D5-7C9CC17AA877}"/>
              </a:ext>
            </a:extLst>
          </p:cNvPr>
          <p:cNvSpPr>
            <a:spLocks noGrp="1"/>
          </p:cNvSpPr>
          <p:nvPr/>
        </p:nvSpPr>
        <p:spPr>
          <a:xfrm>
            <a:off x="4762500" y="2524125"/>
            <a:ext cx="2667000" cy="1333500"/>
          </a:xfrm>
          <a:prstGeom prst="roundRect">
            <a:avLst>
              <a:gd name="adj" fmla="val 50000"/>
            </a:avLst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p3-core-kicker">
            <a:extLst>
              <a:ext uri="{FF2B5EF4-FFF2-40B4-BE49-F238E27FC236}">
                <a16:creationId xmlns:a16="http://schemas.microsoft.com/office/drawing/2014/main" id="{41568F64-9432-4FDC-AD67-AF874D94CC55}"/>
              </a:ext>
            </a:extLst>
          </p:cNvPr>
          <p:cNvSpPr>
            <a:spLocks noGrp="1"/>
          </p:cNvSpPr>
          <p:nvPr/>
        </p:nvSpPr>
        <p:spPr>
          <a:xfrm>
            <a:off x="5143500" y="26860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共同根因</a:t>
            </a:r>
          </a:p>
        </p:txBody>
      </p:sp>
      <p:sp>
        <p:nvSpPr>
          <p:cNvPr id="49" name="p3-core-title">
            <a:extLst>
              <a:ext uri="{FF2B5EF4-FFF2-40B4-BE49-F238E27FC236}">
                <a16:creationId xmlns:a16="http://schemas.microsoft.com/office/drawing/2014/main" id="{1627AC95-FE42-48DF-B849-6B087B1DFCF7}"/>
              </a:ext>
            </a:extLst>
          </p:cNvPr>
          <p:cNvSpPr>
            <a:spLocks noGrp="1"/>
          </p:cNvSpPr>
          <p:nvPr/>
        </p:nvSpPr>
        <p:spPr>
          <a:xfrm>
            <a:off x="5000625" y="3000375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缺少共同狀態</a:t>
            </a:r>
          </a:p>
        </p:txBody>
      </p:sp>
      <p:sp>
        <p:nvSpPr>
          <p:cNvPr id="50" name="p3-core-copy">
            <a:extLst>
              <a:ext uri="{FF2B5EF4-FFF2-40B4-BE49-F238E27FC236}">
                <a16:creationId xmlns:a16="http://schemas.microsoft.com/office/drawing/2014/main" id="{8EBA3039-9E41-4735-8431-0796BE4CF36F}"/>
              </a:ext>
            </a:extLst>
          </p:cNvPr>
          <p:cNvSpPr>
            <a:spLocks noGrp="1"/>
          </p:cNvSpPr>
          <p:nvPr/>
        </p:nvSpPr>
        <p:spPr>
          <a:xfrm>
            <a:off x="5000625" y="34099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沒有唯一版本與規則結果</a:t>
            </a:r>
          </a:p>
        </p:txBody>
      </p:sp>
      <p:sp>
        <p:nvSpPr>
          <p:cNvPr id="51" name="p3-bottom">
            <a:extLst>
              <a:ext uri="{FF2B5EF4-FFF2-40B4-BE49-F238E27FC236}">
                <a16:creationId xmlns:a16="http://schemas.microsoft.com/office/drawing/2014/main" id="{D230C218-E873-492D-89A1-8852840E8799}"/>
              </a:ext>
            </a:extLst>
          </p:cNvPr>
          <p:cNvSpPr>
            <a:spLocks noGrp="1"/>
          </p:cNvSpPr>
          <p:nvPr/>
        </p:nvSpPr>
        <p:spPr>
          <a:xfrm>
            <a:off x="4667250" y="4524375"/>
            <a:ext cx="2857500" cy="1190625"/>
          </a:xfrm>
          <a:prstGeom prst="roundRect">
            <a:avLst>
              <a:gd name="adj" fmla="val 14400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p3-bottom-tag">
            <a:extLst>
              <a:ext uri="{FF2B5EF4-FFF2-40B4-BE49-F238E27FC236}">
                <a16:creationId xmlns:a16="http://schemas.microsoft.com/office/drawing/2014/main" id="{619977F6-F3F9-474C-9FDC-C69681E1A524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產品化</a:t>
            </a:r>
          </a:p>
        </p:txBody>
      </p:sp>
      <p:sp>
        <p:nvSpPr>
          <p:cNvPr id="53" name="p3-bottom-title">
            <a:extLst>
              <a:ext uri="{FF2B5EF4-FFF2-40B4-BE49-F238E27FC236}">
                <a16:creationId xmlns:a16="http://schemas.microsoft.com/office/drawing/2014/main" id="{0A14369E-BB43-41E4-B30A-63E61DBF86AA}"/>
              </a:ext>
            </a:extLst>
          </p:cNvPr>
          <p:cNvSpPr>
            <a:spLocks noGrp="1"/>
          </p:cNvSpPr>
          <p:nvPr/>
        </p:nvSpPr>
        <p:spPr>
          <a:xfrm>
            <a:off x="4914900" y="49530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難延伸</a:t>
            </a:r>
          </a:p>
        </p:txBody>
      </p:sp>
      <p:sp>
        <p:nvSpPr>
          <p:cNvPr id="54" name="p3-bottom-copy">
            <a:extLst>
              <a:ext uri="{FF2B5EF4-FFF2-40B4-BE49-F238E27FC236}">
                <a16:creationId xmlns:a16="http://schemas.microsoft.com/office/drawing/2014/main" id="{76F07048-D367-44D9-9451-E4AEBEFE0553}"/>
              </a:ext>
            </a:extLst>
          </p:cNvPr>
          <p:cNvSpPr>
            <a:spLocks noGrp="1"/>
          </p:cNvSpPr>
          <p:nvPr/>
        </p:nvSpPr>
        <p:spPr>
          <a:xfrm>
            <a:off x="4914900" y="5334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一次性體驗無法成為服務</a:t>
            </a:r>
          </a:p>
        </p:txBody>
      </p:sp>
      <p:sp>
        <p:nvSpPr>
          <p:cNvPr id="55" name="p3-summary">
            <a:extLst>
              <a:ext uri="{FF2B5EF4-FFF2-40B4-BE49-F238E27FC236}">
                <a16:creationId xmlns:a16="http://schemas.microsoft.com/office/drawing/2014/main" id="{70E4B4D9-3625-4FD5-B780-78D7DD231D28}"/>
              </a:ext>
            </a:extLst>
          </p:cNvPr>
          <p:cNvSpPr>
            <a:spLocks noGrp="1"/>
          </p:cNvSpPr>
          <p:nvPr/>
        </p:nvSpPr>
        <p:spPr>
          <a:xfrm>
            <a:off x="2381250" y="595312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三個問題同時發生，解法必須從 canonical state 開始。</a:t>
            </a:r>
          </a:p>
        </p:txBody>
      </p:sp>
    </p:spTree>
    <p:extLst>
      <p:ext uri="{BB962C8B-B14F-4D97-AF65-F5344CB8AC3E}">
        <p14:creationId xmlns:p14="http://schemas.microsoft.com/office/powerpoint/2010/main" val="596370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-BUSINESS EXTENSION">
            <a:extLst>
              <a:ext uri="{FF2B5EF4-FFF2-40B4-BE49-F238E27FC236}">
                <a16:creationId xmlns:a16="http://schemas.microsoft.com/office/drawing/2014/main" id="{B4B5AC1E-3EBD-482A-B66D-99778B0DF73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BUSINESS EXTENSION</a:t>
            </a:r>
          </a:p>
        </p:txBody>
      </p:sp>
      <p:sp>
        <p:nvSpPr>
          <p:cNvPr id="2" name="t-BUSINESS EXTENSION">
            <a:extLst>
              <a:ext uri="{FF2B5EF4-FFF2-40B4-BE49-F238E27FC236}">
                <a16:creationId xmlns:a16="http://schemas.microsoft.com/office/drawing/2014/main" id="{AD8D743B-0002-431E-A54F-70DDBC5A3400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同一個多人協作核心，可以換成不同場景</a:t>
            </a:r>
          </a:p>
        </p:txBody>
      </p:sp>
      <p:sp>
        <p:nvSpPr>
          <p:cNvPr id="3" name="r-BUSINESS EXTENSION">
            <a:extLst>
              <a:ext uri="{FF2B5EF4-FFF2-40B4-BE49-F238E27FC236}">
                <a16:creationId xmlns:a16="http://schemas.microsoft.com/office/drawing/2014/main" id="{B2FB8F87-E761-409B-93E6-61918871928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page-mask-4">
            <a:extLst>
              <a:ext uri="{FF2B5EF4-FFF2-40B4-BE49-F238E27FC236}">
                <a16:creationId xmlns:a16="http://schemas.microsoft.com/office/drawing/2014/main" id="{9429F4BC-4BAC-4AF3-9B67-16188F2535D3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page-new-4">
            <a:extLst>
              <a:ext uri="{FF2B5EF4-FFF2-40B4-BE49-F238E27FC236}">
                <a16:creationId xmlns:a16="http://schemas.microsoft.com/office/drawing/2014/main" id="{A0194F30-F632-454C-B43F-48E4809C6407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BUSINESS EXTENSION-kicker-mask">
            <a:extLst>
              <a:ext uri="{FF2B5EF4-FFF2-40B4-BE49-F238E27FC236}">
                <a16:creationId xmlns:a16="http://schemas.microsoft.com/office/drawing/2014/main" id="{5FE4DA1A-CA09-4D18-9FFB-FD6C80F5DEE1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BUSINESS EXTENSION-kicker-new">
            <a:extLst>
              <a:ext uri="{FF2B5EF4-FFF2-40B4-BE49-F238E27FC236}">
                <a16:creationId xmlns:a16="http://schemas.microsoft.com/office/drawing/2014/main" id="{EB7A47EF-1434-4078-AB41-FA07728D8F9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BUSINESS EXTENSION</a:t>
            </a:r>
          </a:p>
        </p:txBody>
      </p:sp>
      <p:sp>
        <p:nvSpPr>
          <p:cNvPr id="26" name="page-mask-v2-4">
            <a:extLst>
              <a:ext uri="{FF2B5EF4-FFF2-40B4-BE49-F238E27FC236}">
                <a16:creationId xmlns:a16="http://schemas.microsoft.com/office/drawing/2014/main" id="{C26A4061-FE9F-42E7-8305-4CE198E8394F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page-v2-4">
            <a:extLst>
              <a:ext uri="{FF2B5EF4-FFF2-40B4-BE49-F238E27FC236}">
                <a16:creationId xmlns:a16="http://schemas.microsoft.com/office/drawing/2014/main" id="{4FFD4AF4-AE83-44D1-A1F0-EE098D5BD3AC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p4-field-0">
            <a:extLst>
              <a:ext uri="{FF2B5EF4-FFF2-40B4-BE49-F238E27FC236}">
                <a16:creationId xmlns:a16="http://schemas.microsoft.com/office/drawing/2014/main" id="{0D8FE4FA-C45E-4E2D-91E5-0588E9DDA2C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3238500" cy="3810000"/>
          </a:xfrm>
          <a:prstGeom prst="roundRect">
            <a:avLst>
              <a:gd name="adj" fmla="val 6471"/>
            </a:avLst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p4-no-0">
            <a:extLst>
              <a:ext uri="{FF2B5EF4-FFF2-40B4-BE49-F238E27FC236}">
                <a16:creationId xmlns:a16="http://schemas.microsoft.com/office/drawing/2014/main" id="{1AC8CF48-699F-490E-8F20-3E4F9862807B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30" name="p4-tag-bg-0">
            <a:extLst>
              <a:ext uri="{FF2B5EF4-FFF2-40B4-BE49-F238E27FC236}">
                <a16:creationId xmlns:a16="http://schemas.microsoft.com/office/drawing/2014/main" id="{944885AF-DA19-4163-946D-F0D7976FD5B8}"/>
              </a:ext>
            </a:extLst>
          </p:cNvPr>
          <p:cNvSpPr>
            <a:spLocks noGrp="1"/>
          </p:cNvSpPr>
          <p:nvPr/>
        </p:nvSpPr>
        <p:spPr>
          <a:xfrm>
            <a:off x="2971800" y="1790700"/>
            <a:ext cx="628650" cy="323850"/>
          </a:xfrm>
          <a:prstGeom prst="roundRect">
            <a:avLst>
              <a:gd name="adj" fmla="val 50000"/>
            </a:avLst>
          </a:prstGeom>
          <a:solidFill>
            <a:srgbClr val="1F73B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p4-tag-0">
            <a:extLst>
              <a:ext uri="{FF2B5EF4-FFF2-40B4-BE49-F238E27FC236}">
                <a16:creationId xmlns:a16="http://schemas.microsoft.com/office/drawing/2014/main" id="{F5A1F948-6DE5-4FD6-9B77-C55E29C09549}"/>
              </a:ext>
            </a:extLst>
          </p:cNvPr>
          <p:cNvSpPr>
            <a:spLocks noGrp="1"/>
          </p:cNvSpPr>
          <p:nvPr/>
        </p:nvSpPr>
        <p:spPr>
          <a:xfrm>
            <a:off x="2990850" y="1819275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遊戲</a:t>
            </a:r>
          </a:p>
        </p:txBody>
      </p:sp>
      <p:sp>
        <p:nvSpPr>
          <p:cNvPr id="32" name="p4-title-0">
            <a:extLst>
              <a:ext uri="{FF2B5EF4-FFF2-40B4-BE49-F238E27FC236}">
                <a16:creationId xmlns:a16="http://schemas.microsoft.com/office/drawing/2014/main" id="{8375B514-C5A2-4C6B-A428-96359843A2DF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 AI 文字 RPG</a:t>
            </a:r>
          </a:p>
        </p:txBody>
      </p:sp>
      <p:sp>
        <p:nvSpPr>
          <p:cNvPr id="33" name="p4-sep-0">
            <a:extLst>
              <a:ext uri="{FF2B5EF4-FFF2-40B4-BE49-F238E27FC236}">
                <a16:creationId xmlns:a16="http://schemas.microsoft.com/office/drawing/2014/main" id="{389DBAE8-A3BD-4439-9B1D-B3609542EEB1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743200" cy="0"/>
          </a:xfrm>
          <a:prstGeom prst="line">
            <a:avLst/>
          </a:prstGeom>
          <a:noFill/>
          <a:ln w="28575">
            <a:solidFill>
              <a:srgbClr val="1F73B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p4-flow-0">
            <a:extLst>
              <a:ext uri="{FF2B5EF4-FFF2-40B4-BE49-F238E27FC236}">
                <a16:creationId xmlns:a16="http://schemas.microsoft.com/office/drawing/2014/main" id="{8BFAEFA6-080F-46D2-9935-0ADD01965087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2743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共同輸入</a:t>
            </a:r>
          </a:p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規則結算</a:t>
            </a:r>
          </a:p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同步敘事</a:t>
            </a:r>
          </a:p>
        </p:txBody>
      </p:sp>
      <p:sp>
        <p:nvSpPr>
          <p:cNvPr id="35" name="p4-value-label-0">
            <a:extLst>
              <a:ext uri="{FF2B5EF4-FFF2-40B4-BE49-F238E27FC236}">
                <a16:creationId xmlns:a16="http://schemas.microsoft.com/office/drawing/2014/main" id="{760FC770-82C5-4381-BD19-3478C281CA2E}"/>
              </a:ext>
            </a:extLst>
          </p:cNvPr>
          <p:cNvSpPr>
            <a:spLocks noGrp="1"/>
          </p:cNvSpPr>
          <p:nvPr/>
        </p:nvSpPr>
        <p:spPr>
          <a:xfrm>
            <a:off x="857250" y="4476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商業價值</a:t>
            </a:r>
          </a:p>
        </p:txBody>
      </p:sp>
      <p:sp>
        <p:nvSpPr>
          <p:cNvPr id="36" name="p4-value-0">
            <a:extLst>
              <a:ext uri="{FF2B5EF4-FFF2-40B4-BE49-F238E27FC236}">
                <a16:creationId xmlns:a16="http://schemas.microsoft.com/office/drawing/2014/main" id="{26C62EAD-2B3C-4117-972B-8A6B29B00920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娛樂與互動內容</a:t>
            </a:r>
          </a:p>
        </p:txBody>
      </p:sp>
      <p:sp>
        <p:nvSpPr>
          <p:cNvPr id="37" name="p4-field-1">
            <a:extLst>
              <a:ext uri="{FF2B5EF4-FFF2-40B4-BE49-F238E27FC236}">
                <a16:creationId xmlns:a16="http://schemas.microsoft.com/office/drawing/2014/main" id="{9A115D63-7A1E-49AE-956E-B131AE47B625}"/>
              </a:ext>
            </a:extLst>
          </p:cNvPr>
          <p:cNvSpPr>
            <a:spLocks noGrp="1"/>
          </p:cNvSpPr>
          <p:nvPr/>
        </p:nvSpPr>
        <p:spPr>
          <a:xfrm>
            <a:off x="4305300" y="1619250"/>
            <a:ext cx="3238500" cy="3810000"/>
          </a:xfrm>
          <a:prstGeom prst="roundRect">
            <a:avLst>
              <a:gd name="adj" fmla="val 6471"/>
            </a:avLst>
          </a:prstGeom>
          <a:solidFill>
            <a:srgbClr val="EAF7F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p4-no-1">
            <a:extLst>
              <a:ext uri="{FF2B5EF4-FFF2-40B4-BE49-F238E27FC236}">
                <a16:creationId xmlns:a16="http://schemas.microsoft.com/office/drawing/2014/main" id="{2DF6FC1C-1A76-4B68-BB32-A6AB36FA8A71}"/>
              </a:ext>
            </a:extLst>
          </p:cNvPr>
          <p:cNvSpPr>
            <a:spLocks noGrp="1"/>
          </p:cNvSpPr>
          <p:nvPr/>
        </p:nvSpPr>
        <p:spPr>
          <a:xfrm>
            <a:off x="4552950" y="18288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39" name="p4-tag-bg-1">
            <a:extLst>
              <a:ext uri="{FF2B5EF4-FFF2-40B4-BE49-F238E27FC236}">
                <a16:creationId xmlns:a16="http://schemas.microsoft.com/office/drawing/2014/main" id="{174B8552-B943-4355-A6AB-19A37CD94F05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628650" cy="323850"/>
          </a:xfrm>
          <a:prstGeom prst="roundRect">
            <a:avLst>
              <a:gd name="adj" fmla="val 50000"/>
            </a:avLst>
          </a:prstGeom>
          <a:solidFill>
            <a:srgbClr val="16825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p4-tag-1">
            <a:extLst>
              <a:ext uri="{FF2B5EF4-FFF2-40B4-BE49-F238E27FC236}">
                <a16:creationId xmlns:a16="http://schemas.microsoft.com/office/drawing/2014/main" id="{164DEAEF-42FD-4918-8602-71AF1FE14C4B}"/>
              </a:ext>
            </a:extLst>
          </p:cNvPr>
          <p:cNvSpPr>
            <a:spLocks noGrp="1"/>
          </p:cNvSpPr>
          <p:nvPr/>
        </p:nvSpPr>
        <p:spPr>
          <a:xfrm>
            <a:off x="6686550" y="1819275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會議</a:t>
            </a:r>
          </a:p>
        </p:txBody>
      </p:sp>
      <p:sp>
        <p:nvSpPr>
          <p:cNvPr id="41" name="p4-title-1">
            <a:extLst>
              <a:ext uri="{FF2B5EF4-FFF2-40B4-BE49-F238E27FC236}">
                <a16:creationId xmlns:a16="http://schemas.microsoft.com/office/drawing/2014/main" id="{A2055497-61A4-4C38-86B9-75585E1F4CC1}"/>
              </a:ext>
            </a:extLst>
          </p:cNvPr>
          <p:cNvSpPr>
            <a:spLocks noGrp="1"/>
          </p:cNvSpPr>
          <p:nvPr/>
        </p:nvSpPr>
        <p:spPr>
          <a:xfrm>
            <a:off x="4552950" y="226695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AI 輔助會議</a:t>
            </a:r>
          </a:p>
        </p:txBody>
      </p:sp>
      <p:sp>
        <p:nvSpPr>
          <p:cNvPr id="42" name="p4-sep-1">
            <a:extLst>
              <a:ext uri="{FF2B5EF4-FFF2-40B4-BE49-F238E27FC236}">
                <a16:creationId xmlns:a16="http://schemas.microsoft.com/office/drawing/2014/main" id="{0EE0C9C8-98F7-4DD6-B7F5-57EF0A74143D}"/>
              </a:ext>
            </a:extLst>
          </p:cNvPr>
          <p:cNvSpPr>
            <a:spLocks noGrp="1"/>
          </p:cNvSpPr>
          <p:nvPr/>
        </p:nvSpPr>
        <p:spPr>
          <a:xfrm>
            <a:off x="4552950" y="2952750"/>
            <a:ext cx="2743200" cy="0"/>
          </a:xfrm>
          <a:prstGeom prst="line">
            <a:avLst/>
          </a:prstGeom>
          <a:noFill/>
          <a:ln w="28575">
            <a:solidFill>
              <a:srgbClr val="16825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p4-flow-1">
            <a:extLst>
              <a:ext uri="{FF2B5EF4-FFF2-40B4-BE49-F238E27FC236}">
                <a16:creationId xmlns:a16="http://schemas.microsoft.com/office/drawing/2014/main" id="{E3F1FE36-E164-49BD-8344-C5E7DE98EF83}"/>
              </a:ext>
            </a:extLst>
          </p:cNvPr>
          <p:cNvSpPr>
            <a:spLocks noGrp="1"/>
          </p:cNvSpPr>
          <p:nvPr/>
        </p:nvSpPr>
        <p:spPr>
          <a:xfrm>
            <a:off x="4552950" y="3143250"/>
            <a:ext cx="2743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多人發言</a:t>
            </a:r>
          </a:p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主題聚類</a:t>
            </a:r>
          </a:p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摘要與行動項</a:t>
            </a:r>
          </a:p>
        </p:txBody>
      </p:sp>
      <p:sp>
        <p:nvSpPr>
          <p:cNvPr id="44" name="p4-value-label-1">
            <a:extLst>
              <a:ext uri="{FF2B5EF4-FFF2-40B4-BE49-F238E27FC236}">
                <a16:creationId xmlns:a16="http://schemas.microsoft.com/office/drawing/2014/main" id="{26E694B2-9F0D-4357-AE52-F15F72F90924}"/>
              </a:ext>
            </a:extLst>
          </p:cNvPr>
          <p:cNvSpPr>
            <a:spLocks noGrp="1"/>
          </p:cNvSpPr>
          <p:nvPr/>
        </p:nvSpPr>
        <p:spPr>
          <a:xfrm>
            <a:off x="4552950" y="4476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商業價值</a:t>
            </a:r>
          </a:p>
        </p:txBody>
      </p:sp>
      <p:sp>
        <p:nvSpPr>
          <p:cNvPr id="45" name="p4-value-1">
            <a:extLst>
              <a:ext uri="{FF2B5EF4-FFF2-40B4-BE49-F238E27FC236}">
                <a16:creationId xmlns:a16="http://schemas.microsoft.com/office/drawing/2014/main" id="{DC623E96-3361-4AF4-87D9-38AB05BCE0E9}"/>
              </a:ext>
            </a:extLst>
          </p:cNvPr>
          <p:cNvSpPr>
            <a:spLocks noGrp="1"/>
          </p:cNvSpPr>
          <p:nvPr/>
        </p:nvSpPr>
        <p:spPr>
          <a:xfrm>
            <a:off x="4552950" y="47625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縮短整理時間</a:t>
            </a:r>
          </a:p>
          <a:p>
            <a:pPr algn="l">
              <a:def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保留共同脈絡</a:t>
            </a:r>
          </a:p>
        </p:txBody>
      </p:sp>
      <p:sp>
        <p:nvSpPr>
          <p:cNvPr id="46" name="p4-field-2">
            <a:extLst>
              <a:ext uri="{FF2B5EF4-FFF2-40B4-BE49-F238E27FC236}">
                <a16:creationId xmlns:a16="http://schemas.microsoft.com/office/drawing/2014/main" id="{F5AED150-4CFC-4F42-A98F-2FD274EB5634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3238500" cy="3810000"/>
          </a:xfrm>
          <a:prstGeom prst="roundRect">
            <a:avLst>
              <a:gd name="adj" fmla="val 6471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p4-no-2">
            <a:extLst>
              <a:ext uri="{FF2B5EF4-FFF2-40B4-BE49-F238E27FC236}">
                <a16:creationId xmlns:a16="http://schemas.microsoft.com/office/drawing/2014/main" id="{579D810D-1AE6-4D6A-BC89-2A0A61D1CD9E}"/>
              </a:ext>
            </a:extLst>
          </p:cNvPr>
          <p:cNvSpPr>
            <a:spLocks noGrp="1"/>
          </p:cNvSpPr>
          <p:nvPr/>
        </p:nvSpPr>
        <p:spPr>
          <a:xfrm>
            <a:off x="8248650" y="18288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8" name="p4-tag-bg-2">
            <a:extLst>
              <a:ext uri="{FF2B5EF4-FFF2-40B4-BE49-F238E27FC236}">
                <a16:creationId xmlns:a16="http://schemas.microsoft.com/office/drawing/2014/main" id="{EE572313-0243-4317-9307-361987955FF3}"/>
              </a:ext>
            </a:extLst>
          </p:cNvPr>
          <p:cNvSpPr>
            <a:spLocks noGrp="1"/>
          </p:cNvSpPr>
          <p:nvPr/>
        </p:nvSpPr>
        <p:spPr>
          <a:xfrm>
            <a:off x="10363200" y="1790700"/>
            <a:ext cx="628650" cy="32385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p4-tag-2">
            <a:extLst>
              <a:ext uri="{FF2B5EF4-FFF2-40B4-BE49-F238E27FC236}">
                <a16:creationId xmlns:a16="http://schemas.microsoft.com/office/drawing/2014/main" id="{0312CBD6-0D4A-48D7-9839-0D37066E223A}"/>
              </a:ext>
            </a:extLst>
          </p:cNvPr>
          <p:cNvSpPr>
            <a:spLocks noGrp="1"/>
          </p:cNvSpPr>
          <p:nvPr/>
        </p:nvSpPr>
        <p:spPr>
          <a:xfrm>
            <a:off x="10382250" y="1819275"/>
            <a:ext cx="590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培訓</a:t>
            </a:r>
          </a:p>
        </p:txBody>
      </p:sp>
      <p:sp>
        <p:nvSpPr>
          <p:cNvPr id="50" name="p4-title-2">
            <a:extLst>
              <a:ext uri="{FF2B5EF4-FFF2-40B4-BE49-F238E27FC236}">
                <a16:creationId xmlns:a16="http://schemas.microsoft.com/office/drawing/2014/main" id="{F10E5812-CAC4-4AFC-BF35-1795B49244A1}"/>
              </a:ext>
            </a:extLst>
          </p:cNvPr>
          <p:cNvSpPr>
            <a:spLocks noGrp="1"/>
          </p:cNvSpPr>
          <p:nvPr/>
        </p:nvSpPr>
        <p:spPr>
          <a:xfrm>
            <a:off x="8248650" y="226695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培訓與工作坊</a:t>
            </a:r>
          </a:p>
        </p:txBody>
      </p:sp>
      <p:sp>
        <p:nvSpPr>
          <p:cNvPr id="51" name="p4-sep-2">
            <a:extLst>
              <a:ext uri="{FF2B5EF4-FFF2-40B4-BE49-F238E27FC236}">
                <a16:creationId xmlns:a16="http://schemas.microsoft.com/office/drawing/2014/main" id="{91DA3C81-9CD1-4BA1-9694-6531CFA343C8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743200" cy="0"/>
          </a:xfrm>
          <a:prstGeom prst="line">
            <a:avLst/>
          </a:prstGeom>
          <a:noFill/>
          <a:ln w="2857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p4-flow-2">
            <a:extLst>
              <a:ext uri="{FF2B5EF4-FFF2-40B4-BE49-F238E27FC236}">
                <a16:creationId xmlns:a16="http://schemas.microsoft.com/office/drawing/2014/main" id="{50E8BB43-4C54-4ED2-9F23-003A68BCFBAA}"/>
              </a:ext>
            </a:extLst>
          </p:cNvPr>
          <p:cNvSpPr>
            <a:spLocks noGrp="1"/>
          </p:cNvSpPr>
          <p:nvPr/>
        </p:nvSpPr>
        <p:spPr>
          <a:xfrm>
            <a:off x="8248650" y="3143250"/>
            <a:ext cx="27432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角色任務</a:t>
            </a:r>
          </a:p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情境評估</a:t>
            </a:r>
          </a:p>
          <a:p>
            <a:pPr algn="l"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回饋與復盤</a:t>
            </a:r>
          </a:p>
        </p:txBody>
      </p:sp>
      <p:sp>
        <p:nvSpPr>
          <p:cNvPr id="53" name="p4-value-label-2">
            <a:extLst>
              <a:ext uri="{FF2B5EF4-FFF2-40B4-BE49-F238E27FC236}">
                <a16:creationId xmlns:a16="http://schemas.microsoft.com/office/drawing/2014/main" id="{8C709F87-0A2F-45DA-926F-53C446E1196E}"/>
              </a:ext>
            </a:extLst>
          </p:cNvPr>
          <p:cNvSpPr>
            <a:spLocks noGrp="1"/>
          </p:cNvSpPr>
          <p:nvPr/>
        </p:nvSpPr>
        <p:spPr>
          <a:xfrm>
            <a:off x="8248650" y="44767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商業價值</a:t>
            </a:r>
          </a:p>
        </p:txBody>
      </p:sp>
      <p:sp>
        <p:nvSpPr>
          <p:cNvPr id="54" name="p4-value-2">
            <a:extLst>
              <a:ext uri="{FF2B5EF4-FFF2-40B4-BE49-F238E27FC236}">
                <a16:creationId xmlns:a16="http://schemas.microsoft.com/office/drawing/2014/main" id="{4DDB795D-9D34-4ED8-936B-031A876513A1}"/>
              </a:ext>
            </a:extLst>
          </p:cNvPr>
          <p:cNvSpPr>
            <a:spLocks noGrp="1"/>
          </p:cNvSpPr>
          <p:nvPr/>
        </p:nvSpPr>
        <p:spPr>
          <a:xfrm>
            <a:off x="8248650" y="4762500"/>
            <a:ext cx="2743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可重複演練</a:t>
            </a:r>
          </a:p>
          <a:p>
            <a:pPr algn="l">
              <a:def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可量化觀察</a:t>
            </a:r>
          </a:p>
        </p:txBody>
      </p:sp>
      <p:sp>
        <p:nvSpPr>
          <p:cNvPr id="55" name="p4-note">
            <a:extLst>
              <a:ext uri="{FF2B5EF4-FFF2-40B4-BE49-F238E27FC236}">
                <a16:creationId xmlns:a16="http://schemas.microsoft.com/office/drawing/2014/main" id="{EF954AC0-18DE-4A37-9903-D0A2CDA915DD}"/>
              </a:ext>
            </a:extLst>
          </p:cNvPr>
          <p:cNvSpPr>
            <a:spLocks noGrp="1"/>
          </p:cNvSpPr>
          <p:nvPr/>
        </p:nvSpPr>
        <p:spPr>
          <a:xfrm>
            <a:off x="1619250" y="5715000"/>
            <a:ext cx="8953500" cy="495300"/>
          </a:xfrm>
          <a:prstGeom prst="roundRect">
            <a:avLst>
              <a:gd name="adj" fmla="val 23077"/>
            </a:avLst>
          </a:prstGeom>
          <a:solidFill>
            <a:srgbClr val="F4F7FA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p4-note-text">
            <a:extLst>
              <a:ext uri="{FF2B5EF4-FFF2-40B4-BE49-F238E27FC236}">
                <a16:creationId xmlns:a16="http://schemas.microsoft.com/office/drawing/2014/main" id="{C4777A15-FF10-4E30-A45C-FF05E9D292D8}"/>
              </a:ext>
            </a:extLst>
          </p:cNvPr>
          <p:cNvSpPr>
            <a:spLocks noGrp="1"/>
          </p:cNvSpPr>
          <p:nvPr/>
        </p:nvSpPr>
        <p:spPr>
          <a:xfrm>
            <a:off x="1857375" y="5810250"/>
            <a:ext cx="847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共同核心：參與者、回合／議程、canonical state、AI 受約束輸出；後兩項為延伸方向。</a:t>
            </a:r>
          </a:p>
        </p:txBody>
      </p:sp>
    </p:spTree>
    <p:extLst>
      <p:ext uri="{BB962C8B-B14F-4D97-AF65-F5344CB8AC3E}">
        <p14:creationId xmlns:p14="http://schemas.microsoft.com/office/powerpoint/2010/main" val="107016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3">
            <a:extLst>
              <a:ext uri="{FF2B5EF4-FFF2-40B4-BE49-F238E27FC236}">
                <a16:creationId xmlns:a16="http://schemas.microsoft.com/office/drawing/2014/main" id="{5E38F992-E110-4417-89C7-4DC6A6E8123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02  EXPERIENCE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7ED6E4ED-CA66-49B2-AB67-81865A56EE4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玩家只做決策，平台完成其餘閉環</a:t>
            </a:r>
          </a:p>
        </p:txBody>
      </p:sp>
      <p:sp>
        <p:nvSpPr>
          <p:cNvPr id="3" name="title-line-3">
            <a:extLst>
              <a:ext uri="{FF2B5EF4-FFF2-40B4-BE49-F238E27FC236}">
                <a16:creationId xmlns:a16="http://schemas.microsoft.com/office/drawing/2014/main" id="{1AD0DDDC-AD72-406E-9515-D1CCA55E193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662DB084-1D0F-4AF0-8608-FCE29D6416F9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loop-0">
            <a:extLst>
              <a:ext uri="{FF2B5EF4-FFF2-40B4-BE49-F238E27FC236}">
                <a16:creationId xmlns:a16="http://schemas.microsoft.com/office/drawing/2014/main" id="{99EDB4D7-F95C-4EB4-94F8-EB44CC3822F2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1809750" cy="1809750"/>
          </a:xfrm>
          <a:prstGeom prst="roundRect">
            <a:avLst>
              <a:gd name="adj" fmla="val 50000"/>
            </a:avLst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oop-1">
            <a:extLst>
              <a:ext uri="{FF2B5EF4-FFF2-40B4-BE49-F238E27FC236}">
                <a16:creationId xmlns:a16="http://schemas.microsoft.com/office/drawing/2014/main" id="{EAC23EB4-DD25-4F42-B77C-799970A83322}"/>
              </a:ext>
            </a:extLst>
          </p:cNvPr>
          <p:cNvSpPr>
            <a:spLocks noGrp="1"/>
          </p:cNvSpPr>
          <p:nvPr/>
        </p:nvSpPr>
        <p:spPr>
          <a:xfrm>
            <a:off x="3524250" y="2381250"/>
            <a:ext cx="1809750" cy="1809750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loop-2">
            <a:extLst>
              <a:ext uri="{FF2B5EF4-FFF2-40B4-BE49-F238E27FC236}">
                <a16:creationId xmlns:a16="http://schemas.microsoft.com/office/drawing/2014/main" id="{2624FC9E-F8BA-42AF-ADC0-3678AAF24737}"/>
              </a:ext>
            </a:extLst>
          </p:cNvPr>
          <p:cNvSpPr>
            <a:spLocks noGrp="1"/>
          </p:cNvSpPr>
          <p:nvPr/>
        </p:nvSpPr>
        <p:spPr>
          <a:xfrm>
            <a:off x="6134100" y="2381250"/>
            <a:ext cx="1809750" cy="1809750"/>
          </a:xfrm>
          <a:prstGeom prst="roundRect">
            <a:avLst>
              <a:gd name="adj" fmla="val 50000"/>
            </a:avLst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loop-3">
            <a:extLst>
              <a:ext uri="{FF2B5EF4-FFF2-40B4-BE49-F238E27FC236}">
                <a16:creationId xmlns:a16="http://schemas.microsoft.com/office/drawing/2014/main" id="{1AC7B721-78E2-4AF2-A42B-2748BA76E371}"/>
              </a:ext>
            </a:extLst>
          </p:cNvPr>
          <p:cNvSpPr>
            <a:spLocks noGrp="1"/>
          </p:cNvSpPr>
          <p:nvPr/>
        </p:nvSpPr>
        <p:spPr>
          <a:xfrm>
            <a:off x="8743950" y="2381250"/>
            <a:ext cx="1809750" cy="1809750"/>
          </a:xfrm>
          <a:prstGeom prst="roundRect">
            <a:avLst>
              <a:gd name="adj" fmla="val 50000"/>
            </a:avLst>
          </a:prstGeom>
          <a:solidFill>
            <a:srgbClr val="EAF7F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105" name="直線箭頭接點 104"/>
          <p:cNvCxnSpPr>
            <a:stCxn id="5" idx="3"/>
            <a:endCxn id="6" idx="1"/>
          </p:cNvCxnSpPr>
          <p:nvPr/>
        </p:nvCxnSpPr>
        <p:spPr>
          <a:xfrm>
            <a:off x="2724150" y="3286125"/>
            <a:ext cx="800100" cy="0"/>
          </a:xfrm>
          <a:prstGeom prst="straightConnector1">
            <a:avLst/>
          </a:prstGeom>
          <a:ln w="19050">
            <a:solidFill>
              <a:srgbClr val="1F73B7"/>
            </a:solidFill>
            <a:prstDash val="solid"/>
            <a:tailEnd type="triangle" w="sm" len="sm"/>
          </a:ln>
        </p:spPr>
      </p:cxnSp>
      <p:cxnSp>
        <p:nvCxnSpPr>
          <p:cNvPr id="106" name="直線箭頭接點 105"/>
          <p:cNvCxnSpPr>
            <a:stCxn id="6" idx="3"/>
            <a:endCxn id="7" idx="1"/>
          </p:cNvCxnSpPr>
          <p:nvPr/>
        </p:nvCxnSpPr>
        <p:spPr>
          <a:xfrm>
            <a:off x="5334000" y="3286125"/>
            <a:ext cx="800100" cy="0"/>
          </a:xfrm>
          <a:prstGeom prst="straightConnector1">
            <a:avLst/>
          </a:prstGeom>
          <a:ln w="19050">
            <a:solidFill>
              <a:srgbClr val="16825D"/>
            </a:solidFill>
            <a:prstDash val="solid"/>
            <a:tailEnd type="triangle" w="sm" len="sm"/>
          </a:ln>
        </p:spPr>
      </p:cxnSp>
      <p:cxnSp>
        <p:nvCxnSpPr>
          <p:cNvPr id="107" name="直線箭頭接點 106"/>
          <p:cNvCxnSpPr>
            <a:stCxn id="7" idx="3"/>
            <a:endCxn id="8" idx="1"/>
          </p:cNvCxnSpPr>
          <p:nvPr/>
        </p:nvCxnSpPr>
        <p:spPr>
          <a:xfrm>
            <a:off x="7943850" y="3286125"/>
            <a:ext cx="800100" cy="0"/>
          </a:xfrm>
          <a:prstGeom prst="straightConnector1">
            <a:avLst/>
          </a:prstGeom>
          <a:ln w="19050">
            <a:solidFill>
              <a:srgbClr val="1F73B7"/>
            </a:solidFill>
            <a:prstDash val="solid"/>
            <a:tailEnd type="triangle" w="sm" len="sm"/>
          </a:ln>
        </p:spPr>
      </p:cxnSp>
      <p:sp>
        <p:nvSpPr>
          <p:cNvPr id="12" name="loop-no-0">
            <a:extLst>
              <a:ext uri="{FF2B5EF4-FFF2-40B4-BE49-F238E27FC236}">
                <a16:creationId xmlns:a16="http://schemas.microsoft.com/office/drawing/2014/main" id="{869CD38C-03A7-4B6D-B382-1E09A1631572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3" name="loop-title-0">
            <a:extLst>
              <a:ext uri="{FF2B5EF4-FFF2-40B4-BE49-F238E27FC236}">
                <a16:creationId xmlns:a16="http://schemas.microsoft.com/office/drawing/2014/main" id="{70AB09FC-79CA-45BC-A97C-FE61955CB797}"/>
              </a:ext>
            </a:extLst>
          </p:cNvPr>
          <p:cNvSpPr>
            <a:spLocks noGrp="1"/>
          </p:cNvSpPr>
          <p:nvPr/>
        </p:nvSpPr>
        <p:spPr>
          <a:xfrm>
            <a:off x="1009650" y="3028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加入房間</a:t>
            </a:r>
          </a:p>
        </p:txBody>
      </p:sp>
      <p:sp>
        <p:nvSpPr>
          <p:cNvPr id="14" name="loop-sub-0">
            <a:extLst>
              <a:ext uri="{FF2B5EF4-FFF2-40B4-BE49-F238E27FC236}">
                <a16:creationId xmlns:a16="http://schemas.microsoft.com/office/drawing/2014/main" id="{3D296C5B-EB16-4FD7-B291-5570F246D9AF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3–5 位玩家</a:t>
            </a:r>
          </a:p>
        </p:txBody>
      </p:sp>
      <p:sp>
        <p:nvSpPr>
          <p:cNvPr id="15" name="loop-no-1">
            <a:extLst>
              <a:ext uri="{FF2B5EF4-FFF2-40B4-BE49-F238E27FC236}">
                <a16:creationId xmlns:a16="http://schemas.microsoft.com/office/drawing/2014/main" id="{56CE029D-B774-47A0-AB46-91DFCD5AB36D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loop-title-1">
            <a:extLst>
              <a:ext uri="{FF2B5EF4-FFF2-40B4-BE49-F238E27FC236}">
                <a16:creationId xmlns:a16="http://schemas.microsoft.com/office/drawing/2014/main" id="{FEBD13C1-F644-480A-A7B1-4C04FD5597A9}"/>
              </a:ext>
            </a:extLst>
          </p:cNvPr>
          <p:cNvSpPr>
            <a:spLocks noGrp="1"/>
          </p:cNvSpPr>
          <p:nvPr/>
        </p:nvSpPr>
        <p:spPr>
          <a:xfrm>
            <a:off x="3619500" y="3028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共同決策</a:t>
            </a:r>
          </a:p>
        </p:txBody>
      </p:sp>
      <p:sp>
        <p:nvSpPr>
          <p:cNvPr id="17" name="loop-sub-1">
            <a:extLst>
              <a:ext uri="{FF2B5EF4-FFF2-40B4-BE49-F238E27FC236}">
                <a16:creationId xmlns:a16="http://schemas.microsoft.com/office/drawing/2014/main" id="{8DE9543E-9867-4165-98C8-E3759C0A869C}"/>
              </a:ext>
            </a:extLst>
          </p:cNvPr>
          <p:cNvSpPr>
            <a:spLocks noGrp="1"/>
          </p:cNvSpPr>
          <p:nvPr/>
        </p:nvSpPr>
        <p:spPr>
          <a:xfrm>
            <a:off x="3657600" y="35433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行動 · 骰子</a:t>
            </a:r>
          </a:p>
        </p:txBody>
      </p:sp>
      <p:sp>
        <p:nvSpPr>
          <p:cNvPr id="18" name="loop-no-2">
            <a:extLst>
              <a:ext uri="{FF2B5EF4-FFF2-40B4-BE49-F238E27FC236}">
                <a16:creationId xmlns:a16="http://schemas.microsoft.com/office/drawing/2014/main" id="{785B1877-47F5-42D2-95BF-8C7A413D67B0}"/>
              </a:ext>
            </a:extLst>
          </p:cNvPr>
          <p:cNvSpPr>
            <a:spLocks noGrp="1"/>
          </p:cNvSpPr>
          <p:nvPr/>
        </p:nvSpPr>
        <p:spPr>
          <a:xfrm>
            <a:off x="6134100" y="25717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loop-title-2">
            <a:extLst>
              <a:ext uri="{FF2B5EF4-FFF2-40B4-BE49-F238E27FC236}">
                <a16:creationId xmlns:a16="http://schemas.microsoft.com/office/drawing/2014/main" id="{750A07DF-16D9-4BB5-A9BB-A5879777C872}"/>
              </a:ext>
            </a:extLst>
          </p:cNvPr>
          <p:cNvSpPr>
            <a:spLocks noGrp="1"/>
          </p:cNvSpPr>
          <p:nvPr/>
        </p:nvSpPr>
        <p:spPr>
          <a:xfrm>
            <a:off x="6229350" y="3028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規則結算</a:t>
            </a:r>
          </a:p>
        </p:txBody>
      </p:sp>
      <p:sp>
        <p:nvSpPr>
          <p:cNvPr id="20" name="loop-sub-2">
            <a:extLst>
              <a:ext uri="{FF2B5EF4-FFF2-40B4-BE49-F238E27FC236}">
                <a16:creationId xmlns:a16="http://schemas.microsoft.com/office/drawing/2014/main" id="{859A2220-E832-446A-85B8-B6CA6F6F5249}"/>
              </a:ext>
            </a:extLst>
          </p:cNvPr>
          <p:cNvSpPr>
            <a:spLocks noGrp="1"/>
          </p:cNvSpPr>
          <p:nvPr/>
        </p:nvSpPr>
        <p:spPr>
          <a:xfrm>
            <a:off x="6267450" y="35433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進度 · 危機 · 結局</a:t>
            </a:r>
          </a:p>
        </p:txBody>
      </p:sp>
      <p:sp>
        <p:nvSpPr>
          <p:cNvPr id="21" name="loop-no-3">
            <a:extLst>
              <a:ext uri="{FF2B5EF4-FFF2-40B4-BE49-F238E27FC236}">
                <a16:creationId xmlns:a16="http://schemas.microsoft.com/office/drawing/2014/main" id="{BDC3EFFC-3A01-4CF9-8A3A-149672866BB0}"/>
              </a:ext>
            </a:extLst>
          </p:cNvPr>
          <p:cNvSpPr>
            <a:spLocks noGrp="1"/>
          </p:cNvSpPr>
          <p:nvPr/>
        </p:nvSpPr>
        <p:spPr>
          <a:xfrm>
            <a:off x="8743950" y="25717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2" name="loop-title-3">
            <a:extLst>
              <a:ext uri="{FF2B5EF4-FFF2-40B4-BE49-F238E27FC236}">
                <a16:creationId xmlns:a16="http://schemas.microsoft.com/office/drawing/2014/main" id="{C06F0DDD-0657-4F84-8D61-F22BB887C314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同步敘事</a:t>
            </a:r>
          </a:p>
        </p:txBody>
      </p:sp>
      <p:sp>
        <p:nvSpPr>
          <p:cNvPr id="23" name="loop-sub-3">
            <a:extLst>
              <a:ext uri="{FF2B5EF4-FFF2-40B4-BE49-F238E27FC236}">
                <a16:creationId xmlns:a16="http://schemas.microsoft.com/office/drawing/2014/main" id="{35D96379-60FA-41AB-B6D1-C141B387E83F}"/>
              </a:ext>
            </a:extLst>
          </p:cNvPr>
          <p:cNvSpPr>
            <a:spLocks noGrp="1"/>
          </p:cNvSpPr>
          <p:nvPr/>
        </p:nvSpPr>
        <p:spPr>
          <a:xfrm>
            <a:off x="8877300" y="35433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所有人看到同一結果</a:t>
            </a:r>
          </a:p>
        </p:txBody>
      </p:sp>
      <p:sp>
        <p:nvSpPr>
          <p:cNvPr id="24" name="loop-boundary">
            <a:extLst>
              <a:ext uri="{FF2B5EF4-FFF2-40B4-BE49-F238E27FC236}">
                <a16:creationId xmlns:a16="http://schemas.microsoft.com/office/drawing/2014/main" id="{2383A8E6-0EDF-44D0-9013-4DF4C1C142B0}"/>
              </a:ext>
            </a:extLst>
          </p:cNvPr>
          <p:cNvSpPr>
            <a:spLocks noGrp="1"/>
          </p:cNvSpPr>
          <p:nvPr/>
        </p:nvSpPr>
        <p:spPr>
          <a:xfrm>
            <a:off x="1047750" y="521970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瀏覽器不持有 AWS credential  ·  canonical state 由 server 判定  ·  LLM 不直接改寫規則</a:t>
            </a:r>
          </a:p>
        </p:txBody>
      </p:sp>
      <p:sp>
        <p:nvSpPr>
          <p:cNvPr id="47" name="page-mask-5">
            <a:extLst>
              <a:ext uri="{FF2B5EF4-FFF2-40B4-BE49-F238E27FC236}">
                <a16:creationId xmlns:a16="http://schemas.microsoft.com/office/drawing/2014/main" id="{31E1E2C1-5C40-4DC9-B90F-C3182C91AE38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page-new-5">
            <a:extLst>
              <a:ext uri="{FF2B5EF4-FFF2-40B4-BE49-F238E27FC236}">
                <a16:creationId xmlns:a16="http://schemas.microsoft.com/office/drawing/2014/main" id="{FA14EDD2-2D6D-4798-A220-B8D45E4ABC4D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60" name="EXPERIENCE-kicker-mask">
            <a:extLst>
              <a:ext uri="{FF2B5EF4-FFF2-40B4-BE49-F238E27FC236}">
                <a16:creationId xmlns:a16="http://schemas.microsoft.com/office/drawing/2014/main" id="{BECAA193-7654-4C3C-8F08-14016EE62F6A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EXPERIENCE-kicker-new">
            <a:extLst>
              <a:ext uri="{FF2B5EF4-FFF2-40B4-BE49-F238E27FC236}">
                <a16:creationId xmlns:a16="http://schemas.microsoft.com/office/drawing/2014/main" id="{4F805631-BEDC-4DC9-85C6-9229041C38D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EXPERIENCE</a:t>
            </a:r>
          </a:p>
        </p:txBody>
      </p:sp>
      <p:sp>
        <p:nvSpPr>
          <p:cNvPr id="62" name="page-mask-v2-5">
            <a:extLst>
              <a:ext uri="{FF2B5EF4-FFF2-40B4-BE49-F238E27FC236}">
                <a16:creationId xmlns:a16="http://schemas.microsoft.com/office/drawing/2014/main" id="{C0A6C230-E5AC-4404-85A9-649E3BB02074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page-v2-5">
            <a:extLst>
              <a:ext uri="{FF2B5EF4-FFF2-40B4-BE49-F238E27FC236}">
                <a16:creationId xmlns:a16="http://schemas.microsoft.com/office/drawing/2014/main" id="{CC9AC5CD-6266-407A-9E6C-D477CF2D87CB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7228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icker-4">
            <a:extLst>
              <a:ext uri="{FF2B5EF4-FFF2-40B4-BE49-F238E27FC236}">
                <a16:creationId xmlns:a16="http://schemas.microsoft.com/office/drawing/2014/main" id="{83AA0740-14EC-42FB-AD3D-1620DF715F7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  PROOF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8EA9CCED-DA9C-44A6-811C-E1707BFEED77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四位玩家已在 AWS 完成四回合與結局</a:t>
            </a:r>
          </a:p>
        </p:txBody>
      </p:sp>
      <p:sp>
        <p:nvSpPr>
          <p:cNvPr id="3" name="title-line-4">
            <a:extLst>
              <a:ext uri="{FF2B5EF4-FFF2-40B4-BE49-F238E27FC236}">
                <a16:creationId xmlns:a16="http://schemas.microsoft.com/office/drawing/2014/main" id="{BC21AF1C-D83F-4580-88CD-6152B59BFF0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895FB3EF-23C3-4BDC-B3A5-28E98FDF5B0B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3"/>
          <a:srcRect t="12306" b="12306"/>
          <a:stretch>
            <a:fillRect/>
          </a:stretch>
        </p:blipFill>
        <p:spPr>
          <a:xfrm>
            <a:off x="609600" y="1409700"/>
            <a:ext cx="8096250" cy="4762500"/>
          </a:xfrm>
          <a:prstGeom prst="rect">
            <a:avLst/>
          </a:prstGeom>
        </p:spPr>
      </p:pic>
      <p:sp>
        <p:nvSpPr>
          <p:cNvPr id="6" name="proof-border">
            <a:extLst>
              <a:ext uri="{FF2B5EF4-FFF2-40B4-BE49-F238E27FC236}">
                <a16:creationId xmlns:a16="http://schemas.microsoft.com/office/drawing/2014/main" id="{0B7ABACA-CBD8-4369-99AB-FE3320D1650B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8096250" cy="4762500"/>
          </a:xfrm>
          <a:prstGeom prst="roundRect">
            <a:avLst>
              <a:gd name="adj" fmla="val 1200"/>
            </a:avLst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proof-4">
            <a:extLst>
              <a:ext uri="{FF2B5EF4-FFF2-40B4-BE49-F238E27FC236}">
                <a16:creationId xmlns:a16="http://schemas.microsoft.com/office/drawing/2014/main" id="{6140D164-A542-459C-95A7-B391E63E821C}"/>
              </a:ext>
            </a:extLst>
          </p:cNvPr>
          <p:cNvSpPr>
            <a:spLocks noGrp="1"/>
          </p:cNvSpPr>
          <p:nvPr/>
        </p:nvSpPr>
        <p:spPr>
          <a:xfrm>
            <a:off x="9239250" y="17145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8" name="proof-4-label">
            <a:extLst>
              <a:ext uri="{FF2B5EF4-FFF2-40B4-BE49-F238E27FC236}">
                <a16:creationId xmlns:a16="http://schemas.microsoft.com/office/drawing/2014/main" id="{DBE31D07-41D0-454E-AC57-0589FB05E149}"/>
              </a:ext>
            </a:extLst>
          </p:cNvPr>
          <p:cNvSpPr>
            <a:spLocks noGrp="1"/>
          </p:cNvSpPr>
          <p:nvPr/>
        </p:nvSpPr>
        <p:spPr>
          <a:xfrm>
            <a:off x="9239250" y="25336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位真實玩家</a:t>
            </a:r>
          </a:p>
        </p:txBody>
      </p:sp>
      <p:sp>
        <p:nvSpPr>
          <p:cNvPr id="9" name="proof-divider-1">
            <a:extLst>
              <a:ext uri="{FF2B5EF4-FFF2-40B4-BE49-F238E27FC236}">
                <a16:creationId xmlns:a16="http://schemas.microsoft.com/office/drawing/2014/main" id="{F8063A82-1F0D-46D8-B51D-B2171C54FC9A}"/>
              </a:ext>
            </a:extLst>
          </p:cNvPr>
          <p:cNvSpPr>
            <a:spLocks noGrp="1"/>
          </p:cNvSpPr>
          <p:nvPr/>
        </p:nvSpPr>
        <p:spPr>
          <a:xfrm>
            <a:off x="9353550" y="3105150"/>
            <a:ext cx="158115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proof-rounds">
            <a:extLst>
              <a:ext uri="{FF2B5EF4-FFF2-40B4-BE49-F238E27FC236}">
                <a16:creationId xmlns:a16="http://schemas.microsoft.com/office/drawing/2014/main" id="{ADBC221F-84E9-4226-815E-E7512FD8E55C}"/>
              </a:ext>
            </a:extLst>
          </p:cNvPr>
          <p:cNvSpPr>
            <a:spLocks noGrp="1"/>
          </p:cNvSpPr>
          <p:nvPr/>
        </p:nvSpPr>
        <p:spPr>
          <a:xfrm>
            <a:off x="9239250" y="333375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4 回合</a:t>
            </a:r>
          </a:p>
        </p:txBody>
      </p:sp>
      <p:sp>
        <p:nvSpPr>
          <p:cNvPr id="11" name="proof-result">
            <a:extLst>
              <a:ext uri="{FF2B5EF4-FFF2-40B4-BE49-F238E27FC236}">
                <a16:creationId xmlns:a16="http://schemas.microsoft.com/office/drawing/2014/main" id="{A56F136F-79D6-4512-882F-82BDDCD4CEA7}"/>
              </a:ext>
            </a:extLst>
          </p:cNvPr>
          <p:cNvSpPr>
            <a:spLocks noGrp="1"/>
          </p:cNvSpPr>
          <p:nvPr/>
        </p:nvSpPr>
        <p:spPr>
          <a:xfrm>
            <a:off x="9239250" y="3924300"/>
            <a:ext cx="1809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結局完成</a:t>
            </a:r>
          </a:p>
        </p:txBody>
      </p:sp>
      <p:sp>
        <p:nvSpPr>
          <p:cNvPr id="12" name="proof-divider-2">
            <a:extLst>
              <a:ext uri="{FF2B5EF4-FFF2-40B4-BE49-F238E27FC236}">
                <a16:creationId xmlns:a16="http://schemas.microsoft.com/office/drawing/2014/main" id="{6E6973DA-63EB-48AC-A5BB-51CBBF20D87B}"/>
              </a:ext>
            </a:extLst>
          </p:cNvPr>
          <p:cNvSpPr>
            <a:spLocks noGrp="1"/>
          </p:cNvSpPr>
          <p:nvPr/>
        </p:nvSpPr>
        <p:spPr>
          <a:xfrm>
            <a:off x="9353550" y="4629150"/>
            <a:ext cx="158115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proof-pass">
            <a:extLst>
              <a:ext uri="{FF2B5EF4-FFF2-40B4-BE49-F238E27FC236}">
                <a16:creationId xmlns:a16="http://schemas.microsoft.com/office/drawing/2014/main" id="{72426F0C-9B23-4709-A2FE-5B47B68AF53B}"/>
              </a:ext>
            </a:extLst>
          </p:cNvPr>
          <p:cNvSpPr>
            <a:spLocks noGrp="1"/>
          </p:cNvSpPr>
          <p:nvPr/>
        </p:nvSpPr>
        <p:spPr>
          <a:xfrm>
            <a:off x="9239250" y="49339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14" name="proof-platforms">
            <a:extLst>
              <a:ext uri="{FF2B5EF4-FFF2-40B4-BE49-F238E27FC236}">
                <a16:creationId xmlns:a16="http://schemas.microsoft.com/office/drawing/2014/main" id="{315E6B1E-53BE-4EFB-8A57-CAEF0442B5C5}"/>
              </a:ext>
            </a:extLst>
          </p:cNvPr>
          <p:cNvSpPr>
            <a:spLocks noGrp="1"/>
          </p:cNvSpPr>
          <p:nvPr/>
        </p:nvSpPr>
        <p:spPr>
          <a:xfrm>
            <a:off x="9048750" y="55626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iPhone · macOS · Windows</a:t>
            </a:r>
          </a:p>
        </p:txBody>
      </p:sp>
      <p:sp>
        <p:nvSpPr>
          <p:cNvPr id="17" name="page-mask-6">
            <a:extLst>
              <a:ext uri="{FF2B5EF4-FFF2-40B4-BE49-F238E27FC236}">
                <a16:creationId xmlns:a16="http://schemas.microsoft.com/office/drawing/2014/main" id="{755C7CD0-16D1-499B-A74A-DE9BD01D9204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page-new-6">
            <a:extLst>
              <a:ext uri="{FF2B5EF4-FFF2-40B4-BE49-F238E27FC236}">
                <a16:creationId xmlns:a16="http://schemas.microsoft.com/office/drawing/2014/main" id="{E13395A8-97C1-4F04-A2AF-80E215642283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20" name="PROOF-kicker-mask">
            <a:extLst>
              <a:ext uri="{FF2B5EF4-FFF2-40B4-BE49-F238E27FC236}">
                <a16:creationId xmlns:a16="http://schemas.microsoft.com/office/drawing/2014/main" id="{C2FC59B5-4D0F-4912-9980-D68B882D658C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PROOF-kicker-new">
            <a:extLst>
              <a:ext uri="{FF2B5EF4-FFF2-40B4-BE49-F238E27FC236}">
                <a16:creationId xmlns:a16="http://schemas.microsoft.com/office/drawing/2014/main" id="{57221059-2144-4834-B03B-3F12EB1B9ED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PROOF</a:t>
            </a:r>
          </a:p>
        </p:txBody>
      </p:sp>
      <p:sp>
        <p:nvSpPr>
          <p:cNvPr id="22" name="page-mask-v2-6">
            <a:extLst>
              <a:ext uri="{FF2B5EF4-FFF2-40B4-BE49-F238E27FC236}">
                <a16:creationId xmlns:a16="http://schemas.microsoft.com/office/drawing/2014/main" id="{EC3DD205-F759-43D7-ACCE-654789FC42AB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page-v2-6">
            <a:extLst>
              <a:ext uri="{FF2B5EF4-FFF2-40B4-BE49-F238E27FC236}">
                <a16:creationId xmlns:a16="http://schemas.microsoft.com/office/drawing/2014/main" id="{6CC212B6-5AA7-4031-A8D1-DF47ACB8AB26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3152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-no-02">
            <a:extLst>
              <a:ext uri="{FF2B5EF4-FFF2-40B4-BE49-F238E27FC236}">
                <a16:creationId xmlns:a16="http://schemas.microsoft.com/office/drawing/2014/main" id="{BF854A61-0142-4966-BD4E-5F30F7CB13C7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2" name="chapter-label-02">
            <a:extLst>
              <a:ext uri="{FF2B5EF4-FFF2-40B4-BE49-F238E27FC236}">
                <a16:creationId xmlns:a16="http://schemas.microsoft.com/office/drawing/2014/main" id="{7DF3C4F1-5921-4A79-A64B-021DC6860A7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71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DESIGN</a:t>
            </a:r>
          </a:p>
        </p:txBody>
      </p:sp>
      <p:sp>
        <p:nvSpPr>
          <p:cNvPr id="3" name="chapter-rule-02">
            <a:extLst>
              <a:ext uri="{FF2B5EF4-FFF2-40B4-BE49-F238E27FC236}">
                <a16:creationId xmlns:a16="http://schemas.microsoft.com/office/drawing/2014/main" id="{4B382A4B-BB32-4850-A902-AF10B0288B0E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524000" cy="0"/>
          </a:xfrm>
          <a:prstGeom prst="line">
            <a:avLst/>
          </a:prstGeom>
          <a:noFill/>
          <a:ln w="476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hapter-title-02">
            <a:extLst>
              <a:ext uri="{FF2B5EF4-FFF2-40B4-BE49-F238E27FC236}">
                <a16:creationId xmlns:a16="http://schemas.microsoft.com/office/drawing/2014/main" id="{4D9A9824-91A8-436F-B2E6-2C7A9A22A2C6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9525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每個 AWS 服務都要回答一個產品問題。</a:t>
            </a:r>
          </a:p>
        </p:txBody>
      </p:sp>
      <p:sp>
        <p:nvSpPr>
          <p:cNvPr id="6" name="chapter-mark-02">
            <a:extLst>
              <a:ext uri="{FF2B5EF4-FFF2-40B4-BE49-F238E27FC236}">
                <a16:creationId xmlns:a16="http://schemas.microsoft.com/office/drawing/2014/main" id="{BEF25CBD-A1FB-4BB3-80D2-E493EF6DF43C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7">
            <a:extLst>
              <a:ext uri="{FF2B5EF4-FFF2-40B4-BE49-F238E27FC236}">
                <a16:creationId xmlns:a16="http://schemas.microsoft.com/office/drawing/2014/main" id="{1C7FD291-78D6-4BEF-8BCB-EFA641E1E6CC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age-new-7">
            <a:extLst>
              <a:ext uri="{FF2B5EF4-FFF2-40B4-BE49-F238E27FC236}">
                <a16:creationId xmlns:a16="http://schemas.microsoft.com/office/drawing/2014/main" id="{B8AED0F6-3606-4E55-8A81-A71E747C4AE4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10" name="chapter-prompt-mask-v2-7">
            <a:extLst>
              <a:ext uri="{FF2B5EF4-FFF2-40B4-BE49-F238E27FC236}">
                <a16:creationId xmlns:a16="http://schemas.microsoft.com/office/drawing/2014/main" id="{4805B64B-C890-4217-BF6C-8021C3C10443}"/>
              </a:ext>
            </a:extLst>
          </p:cNvPr>
          <p:cNvSpPr>
            <a:spLocks noGrp="1"/>
          </p:cNvSpPr>
          <p:nvPr/>
        </p:nvSpPr>
        <p:spPr>
          <a:xfrm>
            <a:off x="590550" y="4400550"/>
            <a:ext cx="9620250" cy="87630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hapter-prompt-v2-7">
            <a:extLst>
              <a:ext uri="{FF2B5EF4-FFF2-40B4-BE49-F238E27FC236}">
                <a16:creationId xmlns:a16="http://schemas.microsoft.com/office/drawing/2014/main" id="{63F0AA50-2734-49CC-94D0-6CE8DB5855EC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914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從產品限制回推服務，並同時衡量成本、資料一致性、模型演進與維運方式。</a:t>
            </a:r>
          </a:p>
        </p:txBody>
      </p:sp>
      <p:sp>
        <p:nvSpPr>
          <p:cNvPr id="12" name="page-mask-v2-7">
            <a:extLst>
              <a:ext uri="{FF2B5EF4-FFF2-40B4-BE49-F238E27FC236}">
                <a16:creationId xmlns:a16="http://schemas.microsoft.com/office/drawing/2014/main" id="{65179958-8508-4AAB-BDD1-D370E2A5EEC6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page-v2-7">
            <a:extLst>
              <a:ext uri="{FF2B5EF4-FFF2-40B4-BE49-F238E27FC236}">
                <a16:creationId xmlns:a16="http://schemas.microsoft.com/office/drawing/2014/main" id="{2883ABD0-5403-4DAC-94AF-7E7774A5070D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802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-SERVICE DECISIONS">
            <a:extLst>
              <a:ext uri="{FF2B5EF4-FFF2-40B4-BE49-F238E27FC236}">
                <a16:creationId xmlns:a16="http://schemas.microsoft.com/office/drawing/2014/main" id="{56098100-9795-419E-97F7-4B928D70730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SERVICE DECISIONS</a:t>
            </a:r>
          </a:p>
        </p:txBody>
      </p:sp>
      <p:sp>
        <p:nvSpPr>
          <p:cNvPr id="4" name="choice-problem-0">
            <a:extLst>
              <a:ext uri="{FF2B5EF4-FFF2-40B4-BE49-F238E27FC236}">
                <a16:creationId xmlns:a16="http://schemas.microsoft.com/office/drawing/2014/main" id="{4989176D-650E-466B-A13A-6E1944566EEE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單一 MVP 需要直接控制 runtime</a:t>
            </a:r>
          </a:p>
        </p:txBody>
      </p:sp>
      <p:sp>
        <p:nvSpPr>
          <p:cNvPr id="5" name="choice-arrow-0">
            <a:extLst>
              <a:ext uri="{FF2B5EF4-FFF2-40B4-BE49-F238E27FC236}">
                <a16:creationId xmlns:a16="http://schemas.microsoft.com/office/drawing/2014/main" id="{34468438-51B0-4ACE-86A3-5225DFA0AD93}"/>
              </a:ext>
            </a:extLst>
          </p:cNvPr>
          <p:cNvSpPr>
            <a:spLocks noGrp="1"/>
          </p:cNvSpPr>
          <p:nvPr/>
        </p:nvSpPr>
        <p:spPr>
          <a:xfrm>
            <a:off x="4762500" y="1524000"/>
            <a:ext cx="495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57" name="圖形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91150" y="1543050"/>
            <a:ext cx="552450" cy="552450"/>
          </a:xfrm>
          <a:prstGeom prst="rect">
            <a:avLst/>
          </a:prstGeom>
        </p:spPr>
      </p:pic>
      <p:sp>
        <p:nvSpPr>
          <p:cNvPr id="7" name="choice-service-0">
            <a:extLst>
              <a:ext uri="{FF2B5EF4-FFF2-40B4-BE49-F238E27FC236}">
                <a16:creationId xmlns:a16="http://schemas.microsoft.com/office/drawing/2014/main" id="{B134942C-26C4-44BD-80C8-AE2D2DC4911C}"/>
              </a:ext>
            </a:extLst>
          </p:cNvPr>
          <p:cNvSpPr>
            <a:spLocks noGrp="1"/>
          </p:cNvSpPr>
          <p:nvPr/>
        </p:nvSpPr>
        <p:spPr>
          <a:xfrm>
            <a:off x="6134100" y="1524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EC2</a:t>
            </a:r>
          </a:p>
        </p:txBody>
      </p:sp>
      <p:sp>
        <p:nvSpPr>
          <p:cNvPr id="8" name="choice-reason-0">
            <a:extLst>
              <a:ext uri="{FF2B5EF4-FFF2-40B4-BE49-F238E27FC236}">
                <a16:creationId xmlns:a16="http://schemas.microsoft.com/office/drawing/2014/main" id="{E5258B00-AAEB-45AF-A16F-D8BCCAE495B2}"/>
              </a:ext>
            </a:extLst>
          </p:cNvPr>
          <p:cNvSpPr>
            <a:spLocks noGrp="1"/>
          </p:cNvSpPr>
          <p:nvPr/>
        </p:nvSpPr>
        <p:spPr>
          <a:xfrm>
            <a:off x="6134100" y="18478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Nginx + FastAPI；先避免容器與負載平衡複雜度</a:t>
            </a:r>
          </a:p>
        </p:txBody>
      </p:sp>
      <p:sp>
        <p:nvSpPr>
          <p:cNvPr id="9" name="choice-divider-1">
            <a:extLst>
              <a:ext uri="{FF2B5EF4-FFF2-40B4-BE49-F238E27FC236}">
                <a16:creationId xmlns:a16="http://schemas.microsoft.com/office/drawing/2014/main" id="{16E374EA-2F8F-4F64-A918-A33CFA498C0E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8204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hoice-problem-1">
            <a:extLst>
              <a:ext uri="{FF2B5EF4-FFF2-40B4-BE49-F238E27FC236}">
                <a16:creationId xmlns:a16="http://schemas.microsoft.com/office/drawing/2014/main" id="{3A2BFD42-A4B7-40A9-AC42-5F6A0FA115AF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多人狀態必須一致且能跨重啟</a:t>
            </a:r>
          </a:p>
        </p:txBody>
      </p:sp>
      <p:sp>
        <p:nvSpPr>
          <p:cNvPr id="11" name="choice-arrow-1">
            <a:extLst>
              <a:ext uri="{FF2B5EF4-FFF2-40B4-BE49-F238E27FC236}">
                <a16:creationId xmlns:a16="http://schemas.microsoft.com/office/drawing/2014/main" id="{A52CBEBF-D539-45A8-9A1A-C04581B5984C}"/>
              </a:ext>
            </a:extLst>
          </p:cNvPr>
          <p:cNvSpPr>
            <a:spLocks noGrp="1"/>
          </p:cNvSpPr>
          <p:nvPr/>
        </p:nvSpPr>
        <p:spPr>
          <a:xfrm>
            <a:off x="4762500" y="2419350"/>
            <a:ext cx="495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63" name="圖形 6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391150" y="2438400"/>
            <a:ext cx="552450" cy="552450"/>
          </a:xfrm>
          <a:prstGeom prst="rect">
            <a:avLst/>
          </a:prstGeom>
        </p:spPr>
      </p:pic>
      <p:sp>
        <p:nvSpPr>
          <p:cNvPr id="13" name="choice-service-1">
            <a:extLst>
              <a:ext uri="{FF2B5EF4-FFF2-40B4-BE49-F238E27FC236}">
                <a16:creationId xmlns:a16="http://schemas.microsoft.com/office/drawing/2014/main" id="{5AC20F74-D97C-4DED-9E7D-81BD2327933C}"/>
              </a:ext>
            </a:extLst>
          </p:cNvPr>
          <p:cNvSpPr>
            <a:spLocks noGrp="1"/>
          </p:cNvSpPr>
          <p:nvPr/>
        </p:nvSpPr>
        <p:spPr>
          <a:xfrm>
            <a:off x="6134100" y="24193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RDS</a:t>
            </a:r>
          </a:p>
        </p:txBody>
      </p:sp>
      <p:sp>
        <p:nvSpPr>
          <p:cNvPr id="14" name="choice-reason-1">
            <a:extLst>
              <a:ext uri="{FF2B5EF4-FFF2-40B4-BE49-F238E27FC236}">
                <a16:creationId xmlns:a16="http://schemas.microsoft.com/office/drawing/2014/main" id="{F8E0BE4B-2615-40D3-ABB0-6C2254D0AA44}"/>
              </a:ext>
            </a:extLst>
          </p:cNvPr>
          <p:cNvSpPr>
            <a:spLocks noGrp="1"/>
          </p:cNvSpPr>
          <p:nvPr/>
        </p:nvSpPr>
        <p:spPr>
          <a:xfrm>
            <a:off x="6134100" y="27432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PostgreSQL transaction、private subnet、持久化</a:t>
            </a:r>
          </a:p>
        </p:txBody>
      </p:sp>
      <p:sp>
        <p:nvSpPr>
          <p:cNvPr id="15" name="choice-divider-2">
            <a:extLst>
              <a:ext uri="{FF2B5EF4-FFF2-40B4-BE49-F238E27FC236}">
                <a16:creationId xmlns:a16="http://schemas.microsoft.com/office/drawing/2014/main" id="{7300D017-0758-4F98-BD04-F9B3DABF86A7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108204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choice-problem-2">
            <a:extLst>
              <a:ext uri="{FF2B5EF4-FFF2-40B4-BE49-F238E27FC236}">
                <a16:creationId xmlns:a16="http://schemas.microsoft.com/office/drawing/2014/main" id="{9EB6CB2D-D97B-4C14-95BE-EC61BFFCB2FE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需要受治理、可替換的模型入口</a:t>
            </a:r>
          </a:p>
        </p:txBody>
      </p:sp>
      <p:sp>
        <p:nvSpPr>
          <p:cNvPr id="17" name="choice-arrow-2">
            <a:extLst>
              <a:ext uri="{FF2B5EF4-FFF2-40B4-BE49-F238E27FC236}">
                <a16:creationId xmlns:a16="http://schemas.microsoft.com/office/drawing/2014/main" id="{15B567B0-D10B-429E-A366-6745200937C3}"/>
              </a:ext>
            </a:extLst>
          </p:cNvPr>
          <p:cNvSpPr>
            <a:spLocks noGrp="1"/>
          </p:cNvSpPr>
          <p:nvPr/>
        </p:nvSpPr>
        <p:spPr>
          <a:xfrm>
            <a:off x="4762500" y="3314700"/>
            <a:ext cx="495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69" name="圖形 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391150" y="3333750"/>
            <a:ext cx="552450" cy="552450"/>
          </a:xfrm>
          <a:prstGeom prst="rect">
            <a:avLst/>
          </a:prstGeom>
        </p:spPr>
      </p:pic>
      <p:sp>
        <p:nvSpPr>
          <p:cNvPr id="19" name="choice-service-2">
            <a:extLst>
              <a:ext uri="{FF2B5EF4-FFF2-40B4-BE49-F238E27FC236}">
                <a16:creationId xmlns:a16="http://schemas.microsoft.com/office/drawing/2014/main" id="{1B03D315-4533-46C7-B911-3646345A6D30}"/>
              </a:ext>
            </a:extLst>
          </p:cNvPr>
          <p:cNvSpPr>
            <a:spLocks noGrp="1"/>
          </p:cNvSpPr>
          <p:nvPr/>
        </p:nvSpPr>
        <p:spPr>
          <a:xfrm>
            <a:off x="6134100" y="33147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Bedrock</a:t>
            </a:r>
          </a:p>
        </p:txBody>
      </p:sp>
      <p:sp>
        <p:nvSpPr>
          <p:cNvPr id="20" name="choice-reason-2">
            <a:extLst>
              <a:ext uri="{FF2B5EF4-FFF2-40B4-BE49-F238E27FC236}">
                <a16:creationId xmlns:a16="http://schemas.microsoft.com/office/drawing/2014/main" id="{CA849E2B-EC06-4A58-9A00-40E013B51BEA}"/>
              </a:ext>
            </a:extLst>
          </p:cNvPr>
          <p:cNvSpPr>
            <a:spLocks noGrp="1"/>
          </p:cNvSpPr>
          <p:nvPr/>
        </p:nvSpPr>
        <p:spPr>
          <a:xfrm>
            <a:off x="6134100" y="36385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Converse 統一介面、IAM、模型 ID 外部設定</a:t>
            </a:r>
          </a:p>
        </p:txBody>
      </p:sp>
      <p:sp>
        <p:nvSpPr>
          <p:cNvPr id="21" name="choice-divider-3">
            <a:extLst>
              <a:ext uri="{FF2B5EF4-FFF2-40B4-BE49-F238E27FC236}">
                <a16:creationId xmlns:a16="http://schemas.microsoft.com/office/drawing/2014/main" id="{3E2D5DCA-C2AE-4F0F-B20D-CD930D68C402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08204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choice-problem-3">
            <a:extLst>
              <a:ext uri="{FF2B5EF4-FFF2-40B4-BE49-F238E27FC236}">
                <a16:creationId xmlns:a16="http://schemas.microsoft.com/office/drawing/2014/main" id="{7201F65B-D77F-4840-BC85-32DDCEB11944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維運不能依賴 public SSH</a:t>
            </a:r>
          </a:p>
        </p:txBody>
      </p:sp>
      <p:sp>
        <p:nvSpPr>
          <p:cNvPr id="23" name="choice-arrow-3">
            <a:extLst>
              <a:ext uri="{FF2B5EF4-FFF2-40B4-BE49-F238E27FC236}">
                <a16:creationId xmlns:a16="http://schemas.microsoft.com/office/drawing/2014/main" id="{4DCB769E-3C4E-4A97-9D90-979260651B48}"/>
              </a:ext>
            </a:extLst>
          </p:cNvPr>
          <p:cNvSpPr>
            <a:spLocks noGrp="1"/>
          </p:cNvSpPr>
          <p:nvPr/>
        </p:nvSpPr>
        <p:spPr>
          <a:xfrm>
            <a:off x="4762500" y="4210050"/>
            <a:ext cx="495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75" name="圖形 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391150" y="4229100"/>
            <a:ext cx="552450" cy="552450"/>
          </a:xfrm>
          <a:prstGeom prst="rect">
            <a:avLst/>
          </a:prstGeom>
        </p:spPr>
      </p:pic>
      <p:sp>
        <p:nvSpPr>
          <p:cNvPr id="25" name="choice-service-3">
            <a:extLst>
              <a:ext uri="{FF2B5EF4-FFF2-40B4-BE49-F238E27FC236}">
                <a16:creationId xmlns:a16="http://schemas.microsoft.com/office/drawing/2014/main" id="{BE53AFD8-8DA8-4B18-8E8B-1F34AC244924}"/>
              </a:ext>
            </a:extLst>
          </p:cNvPr>
          <p:cNvSpPr>
            <a:spLocks noGrp="1"/>
          </p:cNvSpPr>
          <p:nvPr/>
        </p:nvSpPr>
        <p:spPr>
          <a:xfrm>
            <a:off x="6134100" y="42100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Systems Manager</a:t>
            </a:r>
          </a:p>
        </p:txBody>
      </p:sp>
      <p:sp>
        <p:nvSpPr>
          <p:cNvPr id="26" name="choice-reason-3">
            <a:extLst>
              <a:ext uri="{FF2B5EF4-FFF2-40B4-BE49-F238E27FC236}">
                <a16:creationId xmlns:a16="http://schemas.microsoft.com/office/drawing/2014/main" id="{69018DC4-F0AA-4ACE-87D6-A41D5B24BBE5}"/>
              </a:ext>
            </a:extLst>
          </p:cNvPr>
          <p:cNvSpPr>
            <a:spLocks noGrp="1"/>
          </p:cNvSpPr>
          <p:nvPr/>
        </p:nvSpPr>
        <p:spPr>
          <a:xfrm>
            <a:off x="6134100" y="45339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Session Manager + 受限 Run Command</a:t>
            </a:r>
          </a:p>
        </p:txBody>
      </p:sp>
      <p:sp>
        <p:nvSpPr>
          <p:cNvPr id="27" name="choice-divider-4">
            <a:extLst>
              <a:ext uri="{FF2B5EF4-FFF2-40B4-BE49-F238E27FC236}">
                <a16:creationId xmlns:a16="http://schemas.microsoft.com/office/drawing/2014/main" id="{35CA7248-99CC-4C44-994D-60B446650AA1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08204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choice-problem-4">
            <a:extLst>
              <a:ext uri="{FF2B5EF4-FFF2-40B4-BE49-F238E27FC236}">
                <a16:creationId xmlns:a16="http://schemas.microsoft.com/office/drawing/2014/main" id="{9BBE7C1B-C15F-41BE-90F8-E6D18A615F82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發生問題時要有時間線與告警</a:t>
            </a:r>
          </a:p>
        </p:txBody>
      </p:sp>
      <p:sp>
        <p:nvSpPr>
          <p:cNvPr id="29" name="choice-arrow-4">
            <a:extLst>
              <a:ext uri="{FF2B5EF4-FFF2-40B4-BE49-F238E27FC236}">
                <a16:creationId xmlns:a16="http://schemas.microsoft.com/office/drawing/2014/main" id="{A619E9C5-1EDE-45B4-B771-D7B24F07F73B}"/>
              </a:ext>
            </a:extLst>
          </p:cNvPr>
          <p:cNvSpPr>
            <a:spLocks noGrp="1"/>
          </p:cNvSpPr>
          <p:nvPr/>
        </p:nvSpPr>
        <p:spPr>
          <a:xfrm>
            <a:off x="4762500" y="5105400"/>
            <a:ext cx="4953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81" name="圖形 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5391150" y="5124450"/>
            <a:ext cx="552450" cy="552450"/>
          </a:xfrm>
          <a:prstGeom prst="rect">
            <a:avLst/>
          </a:prstGeom>
        </p:spPr>
      </p:pic>
      <p:sp>
        <p:nvSpPr>
          <p:cNvPr id="31" name="choice-service-4">
            <a:extLst>
              <a:ext uri="{FF2B5EF4-FFF2-40B4-BE49-F238E27FC236}">
                <a16:creationId xmlns:a16="http://schemas.microsoft.com/office/drawing/2014/main" id="{88FB5195-152F-45F0-BB01-E8C664B6602A}"/>
              </a:ext>
            </a:extLst>
          </p:cNvPr>
          <p:cNvSpPr>
            <a:spLocks noGrp="1"/>
          </p:cNvSpPr>
          <p:nvPr/>
        </p:nvSpPr>
        <p:spPr>
          <a:xfrm>
            <a:off x="6134100" y="51054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CloudWatch</a:t>
            </a:r>
          </a:p>
        </p:txBody>
      </p:sp>
      <p:sp>
        <p:nvSpPr>
          <p:cNvPr id="32" name="choice-reason-4">
            <a:extLst>
              <a:ext uri="{FF2B5EF4-FFF2-40B4-BE49-F238E27FC236}">
                <a16:creationId xmlns:a16="http://schemas.microsoft.com/office/drawing/2014/main" id="{9BF42C5C-0532-481A-880D-4464AA79288D}"/>
              </a:ext>
            </a:extLst>
          </p:cNvPr>
          <p:cNvSpPr>
            <a:spLocks noGrp="1"/>
          </p:cNvSpPr>
          <p:nvPr/>
        </p:nvSpPr>
        <p:spPr>
          <a:xfrm>
            <a:off x="6134100" y="54292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safe logs、metric filter、alarm</a:t>
            </a:r>
          </a:p>
        </p:txBody>
      </p:sp>
      <p:sp>
        <p:nvSpPr>
          <p:cNvPr id="33" name="page-mask-8">
            <a:extLst>
              <a:ext uri="{FF2B5EF4-FFF2-40B4-BE49-F238E27FC236}">
                <a16:creationId xmlns:a16="http://schemas.microsoft.com/office/drawing/2014/main" id="{5353CAB4-1FE0-4181-B664-9DE4237F6BE7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page-new-8">
            <a:extLst>
              <a:ext uri="{FF2B5EF4-FFF2-40B4-BE49-F238E27FC236}">
                <a16:creationId xmlns:a16="http://schemas.microsoft.com/office/drawing/2014/main" id="{6676EC4B-14E4-4F6C-BD75-0082B2F573E8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1" name="SERVICE DECISIONS-header-mask">
            <a:extLst>
              <a:ext uri="{FF2B5EF4-FFF2-40B4-BE49-F238E27FC236}">
                <a16:creationId xmlns:a16="http://schemas.microsoft.com/office/drawing/2014/main" id="{88C21FB4-D737-4CC1-A391-52D300FCBE94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10287000" cy="11049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ERVICE DECISIONS-kicker">
            <a:extLst>
              <a:ext uri="{FF2B5EF4-FFF2-40B4-BE49-F238E27FC236}">
                <a16:creationId xmlns:a16="http://schemas.microsoft.com/office/drawing/2014/main" id="{EB944799-9594-47CD-878D-F96A7CDCC70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SERVICE DECISIONS</a:t>
            </a:r>
          </a:p>
        </p:txBody>
      </p:sp>
      <p:sp>
        <p:nvSpPr>
          <p:cNvPr id="43" name="SERVICE DECISIONS-title">
            <a:extLst>
              <a:ext uri="{FF2B5EF4-FFF2-40B4-BE49-F238E27FC236}">
                <a16:creationId xmlns:a16="http://schemas.microsoft.com/office/drawing/2014/main" id="{30FCBE2E-3076-475E-A59B-D23F1D04D7AE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產品限制決定 AWS 服務選型</a:t>
            </a:r>
          </a:p>
        </p:txBody>
      </p:sp>
      <p:sp>
        <p:nvSpPr>
          <p:cNvPr id="44" name="SERVICE DECISIONS-rule">
            <a:extLst>
              <a:ext uri="{FF2B5EF4-FFF2-40B4-BE49-F238E27FC236}">
                <a16:creationId xmlns:a16="http://schemas.microsoft.com/office/drawing/2014/main" id="{F468AC52-9BB7-47D4-91D6-E40AF280493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ERVICE DECISIONS-kicker-mask">
            <a:extLst>
              <a:ext uri="{FF2B5EF4-FFF2-40B4-BE49-F238E27FC236}">
                <a16:creationId xmlns:a16="http://schemas.microsoft.com/office/drawing/2014/main" id="{C0276F46-EDEC-4102-89AD-A55E8626DC12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ERVICE DECISIONS-kicker-new">
            <a:extLst>
              <a:ext uri="{FF2B5EF4-FFF2-40B4-BE49-F238E27FC236}">
                <a16:creationId xmlns:a16="http://schemas.microsoft.com/office/drawing/2014/main" id="{47804AC8-3679-4751-82A2-7812DEC1DC2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SERVICE DECISIONS</a:t>
            </a:r>
          </a:p>
        </p:txBody>
      </p:sp>
      <p:sp>
        <p:nvSpPr>
          <p:cNvPr id="47" name="page-mask-v2-8">
            <a:extLst>
              <a:ext uri="{FF2B5EF4-FFF2-40B4-BE49-F238E27FC236}">
                <a16:creationId xmlns:a16="http://schemas.microsoft.com/office/drawing/2014/main" id="{02812B93-DDAB-4A18-A69E-3C6A96F8E4BD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page-v2-8">
            <a:extLst>
              <a:ext uri="{FF2B5EF4-FFF2-40B4-BE49-F238E27FC236}">
                <a16:creationId xmlns:a16="http://schemas.microsoft.com/office/drawing/2014/main" id="{60574A43-9902-43CE-91C2-E887084F350A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995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-MODEL STRATEGY">
            <a:extLst>
              <a:ext uri="{FF2B5EF4-FFF2-40B4-BE49-F238E27FC236}">
                <a16:creationId xmlns:a16="http://schemas.microsoft.com/office/drawing/2014/main" id="{55FA3636-605B-4604-8832-2F4F65126F0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MODEL STRATEGY</a:t>
            </a:r>
          </a:p>
        </p:txBody>
      </p:sp>
      <p:pic>
        <p:nvPicPr>
          <p:cNvPr id="37" name="圖形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95350" y="1752600"/>
            <a:ext cx="914400" cy="914400"/>
          </a:xfrm>
          <a:prstGeom prst="rect">
            <a:avLst/>
          </a:prstGeom>
        </p:spPr>
      </p:pic>
      <p:sp>
        <p:nvSpPr>
          <p:cNvPr id="5" name="model-current">
            <a:extLst>
              <a:ext uri="{FF2B5EF4-FFF2-40B4-BE49-F238E27FC236}">
                <a16:creationId xmlns:a16="http://schemas.microsoft.com/office/drawing/2014/main" id="{359562F5-386E-495D-A52C-DE9B4B44EC29}"/>
              </a:ext>
            </a:extLst>
          </p:cNvPr>
          <p:cNvSpPr>
            <a:spLocks noGrp="1"/>
          </p:cNvSpPr>
          <p:nvPr/>
        </p:nvSpPr>
        <p:spPr>
          <a:xfrm>
            <a:off x="2152650" y="17526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目前：Amazon Nova Lite</a:t>
            </a:r>
          </a:p>
        </p:txBody>
      </p:sp>
      <p:sp>
        <p:nvSpPr>
          <p:cNvPr id="6" name="model-why">
            <a:extLst>
              <a:ext uri="{FF2B5EF4-FFF2-40B4-BE49-F238E27FC236}">
                <a16:creationId xmlns:a16="http://schemas.microsoft.com/office/drawing/2014/main" id="{DCFEA481-E225-47C5-A77F-8106AA0B55A6}"/>
              </a:ext>
            </a:extLst>
          </p:cNvPr>
          <p:cNvSpPr>
            <a:spLocks noGrp="1"/>
          </p:cNvSpPr>
          <p:nvPr/>
        </p:nvSpPr>
        <p:spPr>
          <a:xfrm>
            <a:off x="2152650" y="2343150"/>
            <a:ext cx="4191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低成本、快速、支援文字輸入</a:t>
            </a:r>
          </a:p>
          <a:p>
            <a:pPr algn="l">
              <a:buNone/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適合每回合都要等待結果的互動敘事</a:t>
            </a:r>
          </a:p>
          <a:p>
            <a:pPr algn="l">
              <a:buNone/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目前輸出上限只設 800 tokens</a:t>
            </a:r>
          </a:p>
        </p:txBody>
      </p:sp>
      <p:sp>
        <p:nvSpPr>
          <p:cNvPr id="7" name="model-boundary">
            <a:extLst>
              <a:ext uri="{FF2B5EF4-FFF2-40B4-BE49-F238E27FC236}">
                <a16:creationId xmlns:a16="http://schemas.microsoft.com/office/drawing/2014/main" id="{1193724C-94A1-4535-B041-A42A3DBD8776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5334000" cy="1200150"/>
          </a:xfrm>
          <a:prstGeom prst="roundRect">
            <a:avLst>
              <a:gd name="adj" fmla="val 12698"/>
            </a:avLst>
          </a:prstGeom>
          <a:solidFill>
            <a:srgbClr val="EAF7F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model-boundary-title">
            <a:extLst>
              <a:ext uri="{FF2B5EF4-FFF2-40B4-BE49-F238E27FC236}">
                <a16:creationId xmlns:a16="http://schemas.microsoft.com/office/drawing/2014/main" id="{4647F260-A340-4F4F-9B6C-4086422166EB}"/>
              </a:ext>
            </a:extLst>
          </p:cNvPr>
          <p:cNvSpPr>
            <a:spLocks noGrp="1"/>
          </p:cNvSpPr>
          <p:nvPr/>
        </p:nvSpPr>
        <p:spPr>
          <a:xfrm>
            <a:off x="933450" y="4038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選型原則</a:t>
            </a:r>
          </a:p>
        </p:txBody>
      </p:sp>
      <p:sp>
        <p:nvSpPr>
          <p:cNvPr id="9" name="model-boundary-copy">
            <a:extLst>
              <a:ext uri="{FF2B5EF4-FFF2-40B4-BE49-F238E27FC236}">
                <a16:creationId xmlns:a16="http://schemas.microsoft.com/office/drawing/2014/main" id="{24050C9A-0D03-4F86-B02F-B7D03B794382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互動延遲 × 敘事品質 × token 成本 × Region 可用性</a:t>
            </a:r>
          </a:p>
        </p:txBody>
      </p:sp>
      <p:sp>
        <p:nvSpPr>
          <p:cNvPr id="10" name="swap-title">
            <a:extLst>
              <a:ext uri="{FF2B5EF4-FFF2-40B4-BE49-F238E27FC236}">
                <a16:creationId xmlns:a16="http://schemas.microsoft.com/office/drawing/2014/main" id="{336789E2-3060-4601-9D14-0D1844F99F78}"/>
              </a:ext>
            </a:extLst>
          </p:cNvPr>
          <p:cNvSpPr>
            <a:spLocks noGrp="1"/>
          </p:cNvSpPr>
          <p:nvPr/>
        </p:nvSpPr>
        <p:spPr>
          <a:xfrm>
            <a:off x="6953250" y="16573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快速抽換的設計</a:t>
            </a:r>
          </a:p>
        </p:txBody>
      </p:sp>
      <p:sp>
        <p:nvSpPr>
          <p:cNvPr id="11" name="swap-0">
            <a:extLst>
              <a:ext uri="{FF2B5EF4-FFF2-40B4-BE49-F238E27FC236}">
                <a16:creationId xmlns:a16="http://schemas.microsoft.com/office/drawing/2014/main" id="{0D7204B7-3A31-4579-80CC-EB294FE2D94F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4095750" cy="533400"/>
          </a:xfrm>
          <a:prstGeom prst="roundRect">
            <a:avLst>
              <a:gd name="adj" fmla="val 21429"/>
            </a:avLst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wap-text-0">
            <a:extLst>
              <a:ext uri="{FF2B5EF4-FFF2-40B4-BE49-F238E27FC236}">
                <a16:creationId xmlns:a16="http://schemas.microsoft.com/office/drawing/2014/main" id="{A2C3DE77-0523-41D9-8B53-3D36B71BB9CA}"/>
              </a:ext>
            </a:extLst>
          </p:cNvPr>
          <p:cNvSpPr>
            <a:spLocks noGrp="1"/>
          </p:cNvSpPr>
          <p:nvPr/>
        </p:nvSpPr>
        <p:spPr>
          <a:xfrm>
            <a:off x="7086600" y="238125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RoomService</a:t>
            </a:r>
          </a:p>
        </p:txBody>
      </p:sp>
      <p:sp>
        <p:nvSpPr>
          <p:cNvPr id="13" name="swap-arrow-0">
            <a:extLst>
              <a:ext uri="{FF2B5EF4-FFF2-40B4-BE49-F238E27FC236}">
                <a16:creationId xmlns:a16="http://schemas.microsoft.com/office/drawing/2014/main" id="{BF8C2277-4444-4F08-9915-86D5C711B33B}"/>
              </a:ext>
            </a:extLst>
          </p:cNvPr>
          <p:cNvSpPr>
            <a:spLocks noGrp="1"/>
          </p:cNvSpPr>
          <p:nvPr/>
        </p:nvSpPr>
        <p:spPr>
          <a:xfrm>
            <a:off x="8620125" y="2895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14" name="swap-1">
            <a:extLst>
              <a:ext uri="{FF2B5EF4-FFF2-40B4-BE49-F238E27FC236}">
                <a16:creationId xmlns:a16="http://schemas.microsoft.com/office/drawing/2014/main" id="{DD3AB711-B099-4C2A-80FB-CDD217E2EEFA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4095750" cy="533400"/>
          </a:xfrm>
          <a:prstGeom prst="roundRect">
            <a:avLst>
              <a:gd name="adj" fmla="val 21429"/>
            </a:avLst>
          </a:prstGeom>
          <a:solidFill>
            <a:srgbClr val="EAF7F1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wap-text-1">
            <a:extLst>
              <a:ext uri="{FF2B5EF4-FFF2-40B4-BE49-F238E27FC236}">
                <a16:creationId xmlns:a16="http://schemas.microsoft.com/office/drawing/2014/main" id="{CEF73EF7-4E9F-4111-8258-54F278B39850}"/>
              </a:ext>
            </a:extLst>
          </p:cNvPr>
          <p:cNvSpPr>
            <a:spLocks noGrp="1"/>
          </p:cNvSpPr>
          <p:nvPr/>
        </p:nvSpPr>
        <p:spPr>
          <a:xfrm>
            <a:off x="7086600" y="314325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Storyteller port</a:t>
            </a:r>
          </a:p>
        </p:txBody>
      </p:sp>
      <p:sp>
        <p:nvSpPr>
          <p:cNvPr id="16" name="swap-arrow-1">
            <a:extLst>
              <a:ext uri="{FF2B5EF4-FFF2-40B4-BE49-F238E27FC236}">
                <a16:creationId xmlns:a16="http://schemas.microsoft.com/office/drawing/2014/main" id="{0E6D78B4-7723-4AD0-BC00-4D0A306F314D}"/>
              </a:ext>
            </a:extLst>
          </p:cNvPr>
          <p:cNvSpPr>
            <a:spLocks noGrp="1"/>
          </p:cNvSpPr>
          <p:nvPr/>
        </p:nvSpPr>
        <p:spPr>
          <a:xfrm>
            <a:off x="8620125" y="3657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17" name="swap-2">
            <a:extLst>
              <a:ext uri="{FF2B5EF4-FFF2-40B4-BE49-F238E27FC236}">
                <a16:creationId xmlns:a16="http://schemas.microsoft.com/office/drawing/2014/main" id="{6AD51BAF-64C8-4D58-B48D-A1CA0878FE40}"/>
              </a:ext>
            </a:extLst>
          </p:cNvPr>
          <p:cNvSpPr>
            <a:spLocks noGrp="1"/>
          </p:cNvSpPr>
          <p:nvPr/>
        </p:nvSpPr>
        <p:spPr>
          <a:xfrm>
            <a:off x="6858000" y="3905250"/>
            <a:ext cx="4095750" cy="533400"/>
          </a:xfrm>
          <a:prstGeom prst="roundRect">
            <a:avLst>
              <a:gd name="adj" fmla="val 21429"/>
            </a:avLst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wap-text-2">
            <a:extLst>
              <a:ext uri="{FF2B5EF4-FFF2-40B4-BE49-F238E27FC236}">
                <a16:creationId xmlns:a16="http://schemas.microsoft.com/office/drawing/2014/main" id="{9575B350-8C3F-4EEA-B4F9-DC45DB30F7B6}"/>
              </a:ext>
            </a:extLst>
          </p:cNvPr>
          <p:cNvSpPr>
            <a:spLocks noGrp="1"/>
          </p:cNvSpPr>
          <p:nvPr/>
        </p:nvSpPr>
        <p:spPr>
          <a:xfrm>
            <a:off x="7086600" y="390525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BedrockStoryteller</a:t>
            </a:r>
          </a:p>
        </p:txBody>
      </p:sp>
      <p:sp>
        <p:nvSpPr>
          <p:cNvPr id="19" name="swap-arrow-2">
            <a:extLst>
              <a:ext uri="{FF2B5EF4-FFF2-40B4-BE49-F238E27FC236}">
                <a16:creationId xmlns:a16="http://schemas.microsoft.com/office/drawing/2014/main" id="{F91C464F-71EA-462A-92FA-237166419903}"/>
              </a:ext>
            </a:extLst>
          </p:cNvPr>
          <p:cNvSpPr>
            <a:spLocks noGrp="1"/>
          </p:cNvSpPr>
          <p:nvPr/>
        </p:nvSpPr>
        <p:spPr>
          <a:xfrm>
            <a:off x="8620125" y="44196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20" name="swap-3">
            <a:extLst>
              <a:ext uri="{FF2B5EF4-FFF2-40B4-BE49-F238E27FC236}">
                <a16:creationId xmlns:a16="http://schemas.microsoft.com/office/drawing/2014/main" id="{2B017383-AC88-449B-AFF9-23BBCB370FC1}"/>
              </a:ext>
            </a:extLst>
          </p:cNvPr>
          <p:cNvSpPr>
            <a:spLocks noGrp="1"/>
          </p:cNvSpPr>
          <p:nvPr/>
        </p:nvSpPr>
        <p:spPr>
          <a:xfrm>
            <a:off x="6858000" y="4667250"/>
            <a:ext cx="4095750" cy="533400"/>
          </a:xfrm>
          <a:prstGeom prst="roundRect">
            <a:avLst>
              <a:gd name="adj" fmla="val 21429"/>
            </a:avLst>
          </a:prstGeom>
          <a:solidFill>
            <a:srgbClr val="EAF4FB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wap-text-3">
            <a:extLst>
              <a:ext uri="{FF2B5EF4-FFF2-40B4-BE49-F238E27FC236}">
                <a16:creationId xmlns:a16="http://schemas.microsoft.com/office/drawing/2014/main" id="{9F41BB1C-7514-43D4-B3F9-CB809334D6E0}"/>
              </a:ext>
            </a:extLst>
          </p:cNvPr>
          <p:cNvSpPr>
            <a:spLocks noGrp="1"/>
          </p:cNvSpPr>
          <p:nvPr/>
        </p:nvSpPr>
        <p:spPr>
          <a:xfrm>
            <a:off x="7086600" y="466725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CO_STORY_BEDROCK_MODEL_ID</a:t>
            </a:r>
          </a:p>
        </p:txBody>
      </p:sp>
      <p:sp>
        <p:nvSpPr>
          <p:cNvPr id="22" name="swap-gate">
            <a:extLst>
              <a:ext uri="{FF2B5EF4-FFF2-40B4-BE49-F238E27FC236}">
                <a16:creationId xmlns:a16="http://schemas.microsoft.com/office/drawing/2014/main" id="{EFAD5AC4-A0A6-4DB8-91B1-9B0694227832}"/>
              </a:ext>
            </a:extLst>
          </p:cNvPr>
          <p:cNvSpPr>
            <a:spLocks noGrp="1"/>
          </p:cNvSpPr>
          <p:nvPr/>
        </p:nvSpPr>
        <p:spPr>
          <a:xfrm>
            <a:off x="6572250" y="55816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換 model ID 很快；上線前仍須重跑 schema、品質、延遲、成本、Region 與 IAM gate。</a:t>
            </a:r>
          </a:p>
        </p:txBody>
      </p:sp>
      <p:sp>
        <p:nvSpPr>
          <p:cNvPr id="23" name="page-mask-9">
            <a:extLst>
              <a:ext uri="{FF2B5EF4-FFF2-40B4-BE49-F238E27FC236}">
                <a16:creationId xmlns:a16="http://schemas.microsoft.com/office/drawing/2014/main" id="{2156CF34-7C38-4334-82FF-E2620A713801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page-new-9">
            <a:extLst>
              <a:ext uri="{FF2B5EF4-FFF2-40B4-BE49-F238E27FC236}">
                <a16:creationId xmlns:a16="http://schemas.microsoft.com/office/drawing/2014/main" id="{B07711F8-DD34-473A-A86E-C8846B4C4A05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27" name="MODEL STRATEGY-header-mask">
            <a:extLst>
              <a:ext uri="{FF2B5EF4-FFF2-40B4-BE49-F238E27FC236}">
                <a16:creationId xmlns:a16="http://schemas.microsoft.com/office/drawing/2014/main" id="{58BB3058-A52D-40D0-B919-353F98F56A82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10287000" cy="11049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MODEL STRATEGY-kicker">
            <a:extLst>
              <a:ext uri="{FF2B5EF4-FFF2-40B4-BE49-F238E27FC236}">
                <a16:creationId xmlns:a16="http://schemas.microsoft.com/office/drawing/2014/main" id="{D8CC5EA8-B91E-418B-8FEA-AA3395A1602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MODEL STRATEGY</a:t>
            </a:r>
          </a:p>
        </p:txBody>
      </p:sp>
      <p:sp>
        <p:nvSpPr>
          <p:cNvPr id="29" name="MODEL STRATEGY-title">
            <a:extLst>
              <a:ext uri="{FF2B5EF4-FFF2-40B4-BE49-F238E27FC236}">
                <a16:creationId xmlns:a16="http://schemas.microsoft.com/office/drawing/2014/main" id="{46B1E854-1288-44C9-B6DA-DBC0E17B10D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Nova Lite 提供現階段的成本與互動延遲平衡</a:t>
            </a:r>
          </a:p>
        </p:txBody>
      </p:sp>
      <p:sp>
        <p:nvSpPr>
          <p:cNvPr id="30" name="MODEL STRATEGY-rule">
            <a:extLst>
              <a:ext uri="{FF2B5EF4-FFF2-40B4-BE49-F238E27FC236}">
                <a16:creationId xmlns:a16="http://schemas.microsoft.com/office/drawing/2014/main" id="{41BC3D68-E8B0-4D14-B67B-DA6BCCFB766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MODEL STRATEGY-kicker-mask">
            <a:extLst>
              <a:ext uri="{FF2B5EF4-FFF2-40B4-BE49-F238E27FC236}">
                <a16:creationId xmlns:a16="http://schemas.microsoft.com/office/drawing/2014/main" id="{8A60DBD4-DEED-42CE-B334-CBFE7487BF66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MODEL STRATEGY-kicker-new">
            <a:extLst>
              <a:ext uri="{FF2B5EF4-FFF2-40B4-BE49-F238E27FC236}">
                <a16:creationId xmlns:a16="http://schemas.microsoft.com/office/drawing/2014/main" id="{998490C6-194E-4F18-AB7F-BF3CB291BC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 dirty="0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MODEL STRATEGY</a:t>
            </a:r>
          </a:p>
        </p:txBody>
      </p:sp>
      <p:sp>
        <p:nvSpPr>
          <p:cNvPr id="33" name="page-mask-v2-9">
            <a:extLst>
              <a:ext uri="{FF2B5EF4-FFF2-40B4-BE49-F238E27FC236}">
                <a16:creationId xmlns:a16="http://schemas.microsoft.com/office/drawing/2014/main" id="{0CF10BA7-F3F5-4BD4-9500-60D705D79076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page-v2-9">
            <a:extLst>
              <a:ext uri="{FF2B5EF4-FFF2-40B4-BE49-F238E27FC236}">
                <a16:creationId xmlns:a16="http://schemas.microsoft.com/office/drawing/2014/main" id="{91AD8F9B-6E66-408C-A9E3-2B74792E0FB3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7136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ge-mask-10">
            <a:extLst>
              <a:ext uri="{FF2B5EF4-FFF2-40B4-BE49-F238E27FC236}">
                <a16:creationId xmlns:a16="http://schemas.microsoft.com/office/drawing/2014/main" id="{3D5A9390-C5F6-48A0-B8A0-F6E310606B19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ge-new-10">
            <a:extLst>
              <a:ext uri="{FF2B5EF4-FFF2-40B4-BE49-F238E27FC236}">
                <a16:creationId xmlns:a16="http://schemas.microsoft.com/office/drawing/2014/main" id="{38C93921-1F4F-45B8-B23B-4C0C60F47ACA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APPLICATION ARCHITECTURE-kicker-mask">
            <a:extLst>
              <a:ext uri="{FF2B5EF4-FFF2-40B4-BE49-F238E27FC236}">
                <a16:creationId xmlns:a16="http://schemas.microsoft.com/office/drawing/2014/main" id="{CB53A9B9-B669-4824-86A2-1189E36AD182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PPLICATION ARCHITECTURE-kicker-new">
            <a:extLst>
              <a:ext uri="{FF2B5EF4-FFF2-40B4-BE49-F238E27FC236}">
                <a16:creationId xmlns:a16="http://schemas.microsoft.com/office/drawing/2014/main" id="{F355994F-7E58-478D-8C94-7383E88FCAB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 dirty="0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APPLICATION ARCHITECTURE</a:t>
            </a:r>
          </a:p>
        </p:txBody>
      </p:sp>
      <p:sp>
        <p:nvSpPr>
          <p:cNvPr id="7" name="page-mask-v2-10">
            <a:extLst>
              <a:ext uri="{FF2B5EF4-FFF2-40B4-BE49-F238E27FC236}">
                <a16:creationId xmlns:a16="http://schemas.microsoft.com/office/drawing/2014/main" id="{1ED503BD-03DF-453B-9162-D0AAEA8A9D53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age-v2-10">
            <a:extLst>
              <a:ext uri="{FF2B5EF4-FFF2-40B4-BE49-F238E27FC236}">
                <a16:creationId xmlns:a16="http://schemas.microsoft.com/office/drawing/2014/main" id="{4EC4FE6F-053C-4F9E-9300-44DBD76485CD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796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>
            <a:extLst>
              <a:ext uri="{FF2B5EF4-FFF2-40B4-BE49-F238E27FC236}">
                <a16:creationId xmlns:a16="http://schemas.microsoft.com/office/drawing/2014/main" id="{9084B99A-3FF7-FD8A-7B1C-3CA38BEE6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ODEL STRATEGY-kicker-mask">
            <a:extLst>
              <a:ext uri="{FF2B5EF4-FFF2-40B4-BE49-F238E27FC236}">
                <a16:creationId xmlns:a16="http://schemas.microsoft.com/office/drawing/2014/main" id="{9BD0FBAD-505A-2B19-99FD-5FA33D16AC69}"/>
              </a:ext>
            </a:extLst>
          </p:cNvPr>
          <p:cNvSpPr>
            <a:spLocks noGrp="1"/>
          </p:cNvSpPr>
          <p:nvPr/>
        </p:nvSpPr>
        <p:spPr>
          <a:xfrm>
            <a:off x="476250" y="160564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PPLICATION ARCHITECTURE-kicker-new">
            <a:extLst>
              <a:ext uri="{FF2B5EF4-FFF2-40B4-BE49-F238E27FC236}">
                <a16:creationId xmlns:a16="http://schemas.microsoft.com/office/drawing/2014/main" id="{9A5F38F1-C518-189E-7B8C-D038973DE2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975" b="1" dirty="0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CLEAN ARCHITECTURE HLD</a:t>
            </a:r>
            <a:endParaRPr sz="975" b="1" dirty="0">
              <a:solidFill>
                <a:srgbClr val="1F73B7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782318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>
            <a:extLst>
              <a:ext uri="{FF2B5EF4-FFF2-40B4-BE49-F238E27FC236}">
                <a16:creationId xmlns:a16="http://schemas.microsoft.com/office/drawing/2014/main" id="{0029AD24-758E-0C91-158C-9EFCE0BA5A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ODEL STRATEGY-kicker-mask">
            <a:extLst>
              <a:ext uri="{FF2B5EF4-FFF2-40B4-BE49-F238E27FC236}">
                <a16:creationId xmlns:a16="http://schemas.microsoft.com/office/drawing/2014/main" id="{8B0DB0CE-F125-64AD-E8F4-F39CBDF6D9A6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APPLICATION ARCHITECTURE-kicker-new">
            <a:extLst>
              <a:ext uri="{FF2B5EF4-FFF2-40B4-BE49-F238E27FC236}">
                <a16:creationId xmlns:a16="http://schemas.microsoft.com/office/drawing/2014/main" id="{160CE8BB-95A9-E498-6B29-9BA30DEB5FF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975" b="1" dirty="0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AWS RUNTIME</a:t>
            </a:r>
            <a:endParaRPr sz="975" b="1" dirty="0">
              <a:solidFill>
                <a:srgbClr val="1F73B7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475309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pter-no-03">
            <a:extLst>
              <a:ext uri="{FF2B5EF4-FFF2-40B4-BE49-F238E27FC236}">
                <a16:creationId xmlns:a16="http://schemas.microsoft.com/office/drawing/2014/main" id="{09863383-420D-4182-BB77-DAFCE8FB981F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" name="chapter-label-03">
            <a:extLst>
              <a:ext uri="{FF2B5EF4-FFF2-40B4-BE49-F238E27FC236}">
                <a16:creationId xmlns:a16="http://schemas.microsoft.com/office/drawing/2014/main" id="{A5654BC9-62CA-47EC-A3EF-3CBD95707EE3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715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OPERATE</a:t>
            </a:r>
          </a:p>
        </p:txBody>
      </p:sp>
      <p:sp>
        <p:nvSpPr>
          <p:cNvPr id="3" name="chapter-rule-03">
            <a:extLst>
              <a:ext uri="{FF2B5EF4-FFF2-40B4-BE49-F238E27FC236}">
                <a16:creationId xmlns:a16="http://schemas.microsoft.com/office/drawing/2014/main" id="{13466292-2271-4D20-95C7-BEEDC446BA05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524000" cy="0"/>
          </a:xfrm>
          <a:prstGeom prst="line">
            <a:avLst/>
          </a:prstGeom>
          <a:noFill/>
          <a:ln w="476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hapter-title-03">
            <a:extLst>
              <a:ext uri="{FF2B5EF4-FFF2-40B4-BE49-F238E27FC236}">
                <a16:creationId xmlns:a16="http://schemas.microsoft.com/office/drawing/2014/main" id="{C62F4E45-381B-4170-B3A9-C840A7BD9EE2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9525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能被觀測與安全維運，才是雲端產品。</a:t>
            </a:r>
          </a:p>
        </p:txBody>
      </p:sp>
      <p:sp>
        <p:nvSpPr>
          <p:cNvPr id="5" name="chapter-prompt-03">
            <a:extLst>
              <a:ext uri="{FF2B5EF4-FFF2-40B4-BE49-F238E27FC236}">
                <a16:creationId xmlns:a16="http://schemas.microsoft.com/office/drawing/2014/main" id="{54CFC55A-F975-45FE-88FF-76BC8F23D1AD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876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正向健康檢查、safe logs 與 alarm 只是起點；下一步是完整 incident 閉環。</a:t>
            </a:r>
          </a:p>
        </p:txBody>
      </p:sp>
      <p:sp>
        <p:nvSpPr>
          <p:cNvPr id="6" name="chapter-mark-03">
            <a:extLst>
              <a:ext uri="{FF2B5EF4-FFF2-40B4-BE49-F238E27FC236}">
                <a16:creationId xmlns:a16="http://schemas.microsoft.com/office/drawing/2014/main" id="{6567ACA0-83C5-4FFC-8328-6F2B7CA4FF66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12">
            <a:extLst>
              <a:ext uri="{FF2B5EF4-FFF2-40B4-BE49-F238E27FC236}">
                <a16:creationId xmlns:a16="http://schemas.microsoft.com/office/drawing/2014/main" id="{486893FA-01B1-416E-B103-A806D77BF670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age-new-12">
            <a:extLst>
              <a:ext uri="{FF2B5EF4-FFF2-40B4-BE49-F238E27FC236}">
                <a16:creationId xmlns:a16="http://schemas.microsoft.com/office/drawing/2014/main" id="{689BB81A-1606-4BFC-BEC8-1685577C99AC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10" name="page-mask-v2-13">
            <a:extLst>
              <a:ext uri="{FF2B5EF4-FFF2-40B4-BE49-F238E27FC236}">
                <a16:creationId xmlns:a16="http://schemas.microsoft.com/office/drawing/2014/main" id="{22FEC8B8-CEDE-41EF-8B61-DA3D53608649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071C2C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page-v2-13">
            <a:extLst>
              <a:ext uri="{FF2B5EF4-FFF2-40B4-BE49-F238E27FC236}">
                <a16:creationId xmlns:a16="http://schemas.microsoft.com/office/drawing/2014/main" id="{7B2B9AA0-4748-4A8F-8748-0ECDEAC35452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2149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kicker-7">
            <a:extLst>
              <a:ext uri="{FF2B5EF4-FFF2-40B4-BE49-F238E27FC236}">
                <a16:creationId xmlns:a16="http://schemas.microsoft.com/office/drawing/2014/main" id="{C9FD122B-67AE-45E4-91A7-3D188F97D8B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06  GOVERNANCE</a:t>
            </a:r>
          </a:p>
        </p:txBody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B3BEE4B7-7103-47DC-BE85-EF1A4BD3F87D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pic>
        <p:nvPicPr>
          <p:cNvPr id="39" name="圖形 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43000" y="2095500"/>
            <a:ext cx="876300" cy="876300"/>
          </a:xfrm>
          <a:prstGeom prst="rect">
            <a:avLst/>
          </a:prstGeom>
        </p:spPr>
      </p:pic>
      <p:sp>
        <p:nvSpPr>
          <p:cNvPr id="6" name="gov-title-0">
            <a:extLst>
              <a:ext uri="{FF2B5EF4-FFF2-40B4-BE49-F238E27FC236}">
                <a16:creationId xmlns:a16="http://schemas.microsoft.com/office/drawing/2014/main" id="{0535D859-D452-4AD1-BFC5-9BB7A215E371}"/>
              </a:ext>
            </a:extLst>
          </p:cNvPr>
          <p:cNvSpPr>
            <a:spLocks noGrp="1"/>
          </p:cNvSpPr>
          <p:nvPr/>
        </p:nvSpPr>
        <p:spPr>
          <a:xfrm>
            <a:off x="523875" y="316230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免 SSH</a:t>
            </a:r>
          </a:p>
        </p:txBody>
      </p:sp>
      <p:sp>
        <p:nvSpPr>
          <p:cNvPr id="7" name="gov-sub-0">
            <a:extLst>
              <a:ext uri="{FF2B5EF4-FFF2-40B4-BE49-F238E27FC236}">
                <a16:creationId xmlns:a16="http://schemas.microsoft.com/office/drawing/2014/main" id="{6BFB0BFB-1B62-4F89-A411-8B6497C238CB}"/>
              </a:ext>
            </a:extLst>
          </p:cNvPr>
          <p:cNvSpPr>
            <a:spLocks noGrp="1"/>
          </p:cNvSpPr>
          <p:nvPr/>
        </p:nvSpPr>
        <p:spPr>
          <a:xfrm>
            <a:off x="400050" y="3695700"/>
            <a:ext cx="2362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Session Manager</a:t>
            </a:r>
          </a:p>
          <a:p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取代 public port 22</a:t>
            </a:r>
          </a:p>
        </p:txBody>
      </p:sp>
      <p:pic>
        <p:nvPicPr>
          <p:cNvPr id="42" name="圖形 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76750" y="2095500"/>
            <a:ext cx="876300" cy="876300"/>
          </a:xfrm>
          <a:prstGeom prst="rect">
            <a:avLst/>
          </a:prstGeom>
        </p:spPr>
      </p:pic>
      <p:sp>
        <p:nvSpPr>
          <p:cNvPr id="9" name="gov-title-1">
            <a:extLst>
              <a:ext uri="{FF2B5EF4-FFF2-40B4-BE49-F238E27FC236}">
                <a16:creationId xmlns:a16="http://schemas.microsoft.com/office/drawing/2014/main" id="{211BCD90-AA83-4545-98C5-2136A4181080}"/>
              </a:ext>
            </a:extLst>
          </p:cNvPr>
          <p:cNvSpPr>
            <a:spLocks noGrp="1"/>
          </p:cNvSpPr>
          <p:nvPr/>
        </p:nvSpPr>
        <p:spPr>
          <a:xfrm>
            <a:off x="3857625" y="316230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最小權限</a:t>
            </a:r>
          </a:p>
        </p:txBody>
      </p:sp>
      <p:sp>
        <p:nvSpPr>
          <p:cNvPr id="10" name="gov-sub-1">
            <a:extLst>
              <a:ext uri="{FF2B5EF4-FFF2-40B4-BE49-F238E27FC236}">
                <a16:creationId xmlns:a16="http://schemas.microsoft.com/office/drawing/2014/main" id="{6213BD4B-DBF3-4A22-AA04-C10CF246B6A4}"/>
              </a:ext>
            </a:extLst>
          </p:cNvPr>
          <p:cNvSpPr>
            <a:spLocks noGrp="1"/>
          </p:cNvSpPr>
          <p:nvPr/>
        </p:nvSpPr>
        <p:spPr>
          <a:xfrm>
            <a:off x="3733800" y="3695700"/>
            <a:ext cx="2362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private RDS</a:t>
            </a:r>
          </a:p>
          <a:p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AppRole 限定資源</a:t>
            </a:r>
          </a:p>
        </p:txBody>
      </p:sp>
      <p:pic>
        <p:nvPicPr>
          <p:cNvPr id="45" name="圖形 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810500" y="2095500"/>
            <a:ext cx="876300" cy="876300"/>
          </a:xfrm>
          <a:prstGeom prst="rect">
            <a:avLst/>
          </a:prstGeom>
        </p:spPr>
      </p:pic>
      <p:sp>
        <p:nvSpPr>
          <p:cNvPr id="12" name="gov-title-2">
            <a:extLst>
              <a:ext uri="{FF2B5EF4-FFF2-40B4-BE49-F238E27FC236}">
                <a16:creationId xmlns:a16="http://schemas.microsoft.com/office/drawing/2014/main" id="{C8A51C00-482B-49BB-8B8C-39A330C5630E}"/>
              </a:ext>
            </a:extLst>
          </p:cNvPr>
          <p:cNvSpPr>
            <a:spLocks noGrp="1"/>
          </p:cNvSpPr>
          <p:nvPr/>
        </p:nvSpPr>
        <p:spPr>
          <a:xfrm>
            <a:off x="7191375" y="316230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US$1 Budget</a:t>
            </a:r>
          </a:p>
        </p:txBody>
      </p:sp>
      <p:sp>
        <p:nvSpPr>
          <p:cNvPr id="13" name="gov-sub-2">
            <a:extLst>
              <a:ext uri="{FF2B5EF4-FFF2-40B4-BE49-F238E27FC236}">
                <a16:creationId xmlns:a16="http://schemas.microsoft.com/office/drawing/2014/main" id="{A873C049-692A-4605-BFE6-2143118B52F2}"/>
              </a:ext>
            </a:extLst>
          </p:cNvPr>
          <p:cNvSpPr>
            <a:spLocks noGrp="1"/>
          </p:cNvSpPr>
          <p:nvPr/>
        </p:nvSpPr>
        <p:spPr>
          <a:xfrm>
            <a:off x="7067550" y="3695700"/>
            <a:ext cx="2362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EC2／RDS 為主計費面</a:t>
            </a:r>
          </a:p>
          <a:p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Logs retention 7 天</a:t>
            </a:r>
          </a:p>
        </p:txBody>
      </p:sp>
      <p:sp>
        <p:nvSpPr>
          <p:cNvPr id="14" name="gov-rule">
            <a:extLst>
              <a:ext uri="{FF2B5EF4-FFF2-40B4-BE49-F238E27FC236}">
                <a16:creationId xmlns:a16="http://schemas.microsoft.com/office/drawing/2014/main" id="{B7478EE8-F499-47FA-AC2E-97171B1EAC29}"/>
              </a:ext>
            </a:extLst>
          </p:cNvPr>
          <p:cNvSpPr>
            <a:spLocks noGrp="1"/>
          </p:cNvSpPr>
          <p:nvPr/>
        </p:nvSpPr>
        <p:spPr>
          <a:xfrm>
            <a:off x="1047750" y="4953000"/>
            <a:ext cx="100965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gov-prompt">
            <a:extLst>
              <a:ext uri="{FF2B5EF4-FFF2-40B4-BE49-F238E27FC236}">
                <a16:creationId xmlns:a16="http://schemas.microsoft.com/office/drawing/2014/main" id="{C35490CD-F593-4E64-9DFC-CEE40F0A0914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Prompt Injection：前置拒絕 + schema validation</a:t>
            </a:r>
          </a:p>
        </p:txBody>
      </p:sp>
      <p:sp>
        <p:nvSpPr>
          <p:cNvPr id="16" name="gov-omit">
            <a:extLst>
              <a:ext uri="{FF2B5EF4-FFF2-40B4-BE49-F238E27FC236}">
                <a16:creationId xmlns:a16="http://schemas.microsoft.com/office/drawing/2014/main" id="{6468BD15-5F25-4E39-9BB1-4615EECC8D61}"/>
              </a:ext>
            </a:extLst>
          </p:cNvPr>
          <p:cNvSpPr>
            <a:spLocks noGrp="1"/>
          </p:cNvSpPr>
          <p:nvPr/>
        </p:nvSpPr>
        <p:spPr>
          <a:xfrm>
            <a:off x="6286500" y="52387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未採用：NAT · ALB · CloudFront · Route 53</a:t>
            </a:r>
          </a:p>
        </p:txBody>
      </p:sp>
      <p:sp>
        <p:nvSpPr>
          <p:cNvPr id="21" name="page-mask-13">
            <a:extLst>
              <a:ext uri="{FF2B5EF4-FFF2-40B4-BE49-F238E27FC236}">
                <a16:creationId xmlns:a16="http://schemas.microsoft.com/office/drawing/2014/main" id="{5B06F8BF-1F64-43C7-B958-256F0EFCA159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page-new-13">
            <a:extLst>
              <a:ext uri="{FF2B5EF4-FFF2-40B4-BE49-F238E27FC236}">
                <a16:creationId xmlns:a16="http://schemas.microsoft.com/office/drawing/2014/main" id="{5FC68AC2-D7AB-4964-81FC-2180CF92E052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26" name="GOVERNANCE-header-mask">
            <a:extLst>
              <a:ext uri="{FF2B5EF4-FFF2-40B4-BE49-F238E27FC236}">
                <a16:creationId xmlns:a16="http://schemas.microsoft.com/office/drawing/2014/main" id="{EC107BF1-7ACF-428A-9D35-11FDFB8CF07B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10287000" cy="11049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GOVERNANCE-kicker">
            <a:extLst>
              <a:ext uri="{FF2B5EF4-FFF2-40B4-BE49-F238E27FC236}">
                <a16:creationId xmlns:a16="http://schemas.microsoft.com/office/drawing/2014/main" id="{054A9A69-6080-40FE-861B-E34ECEC93E0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GOVERNANCE</a:t>
            </a:r>
          </a:p>
        </p:txBody>
      </p:sp>
      <p:sp>
        <p:nvSpPr>
          <p:cNvPr id="28" name="GOVERNANCE-title">
            <a:extLst>
              <a:ext uri="{FF2B5EF4-FFF2-40B4-BE49-F238E27FC236}">
                <a16:creationId xmlns:a16="http://schemas.microsoft.com/office/drawing/2014/main" id="{38BC1CE8-8982-42D8-A349-D9E2C524EA2D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安全與成本從一開始就是架構輸入</a:t>
            </a:r>
          </a:p>
        </p:txBody>
      </p:sp>
      <p:sp>
        <p:nvSpPr>
          <p:cNvPr id="29" name="GOVERNANCE-rule">
            <a:extLst>
              <a:ext uri="{FF2B5EF4-FFF2-40B4-BE49-F238E27FC236}">
                <a16:creationId xmlns:a16="http://schemas.microsoft.com/office/drawing/2014/main" id="{E23D5313-F098-4512-8247-CBCDF0C82A6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GOVERNANCE-kicker-mask">
            <a:extLst>
              <a:ext uri="{FF2B5EF4-FFF2-40B4-BE49-F238E27FC236}">
                <a16:creationId xmlns:a16="http://schemas.microsoft.com/office/drawing/2014/main" id="{AF25C5CD-5323-4BA4-B079-991FD40D0741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GOVERNANCE-kicker-new">
            <a:extLst>
              <a:ext uri="{FF2B5EF4-FFF2-40B4-BE49-F238E27FC236}">
                <a16:creationId xmlns:a16="http://schemas.microsoft.com/office/drawing/2014/main" id="{BB191A7E-58D3-4867-BE51-5D5DACA2882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GOVERNANCE</a:t>
            </a:r>
          </a:p>
        </p:txBody>
      </p:sp>
      <p:sp>
        <p:nvSpPr>
          <p:cNvPr id="32" name="page-mask-v2-14">
            <a:extLst>
              <a:ext uri="{FF2B5EF4-FFF2-40B4-BE49-F238E27FC236}">
                <a16:creationId xmlns:a16="http://schemas.microsoft.com/office/drawing/2014/main" id="{A6636DC6-D2F7-4C2B-9F5D-00ECFB3DE824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page-v2-14">
            <a:extLst>
              <a:ext uri="{FF2B5EF4-FFF2-40B4-BE49-F238E27FC236}">
                <a16:creationId xmlns:a16="http://schemas.microsoft.com/office/drawing/2014/main" id="{C302E698-6F26-4715-B6A1-F2DC2D5DB663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181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age-mask-14">
            <a:extLst>
              <a:ext uri="{FF2B5EF4-FFF2-40B4-BE49-F238E27FC236}">
                <a16:creationId xmlns:a16="http://schemas.microsoft.com/office/drawing/2014/main" id="{3CF39B02-C283-4547-936E-C03281F0BD65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page-new-14">
            <a:extLst>
              <a:ext uri="{FF2B5EF4-FFF2-40B4-BE49-F238E27FC236}">
                <a16:creationId xmlns:a16="http://schemas.microsoft.com/office/drawing/2014/main" id="{176CFCF1-09F2-4748-B447-1B718447D825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5" name="TIER 1 OBSERVABILITY-kicker-mask">
            <a:extLst>
              <a:ext uri="{FF2B5EF4-FFF2-40B4-BE49-F238E27FC236}">
                <a16:creationId xmlns:a16="http://schemas.microsoft.com/office/drawing/2014/main" id="{64320DBC-CBAA-4BA3-818E-DDB3610F710D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IER 1 OBSERVABILITY-kicker-new">
            <a:extLst>
              <a:ext uri="{FF2B5EF4-FFF2-40B4-BE49-F238E27FC236}">
                <a16:creationId xmlns:a16="http://schemas.microsoft.com/office/drawing/2014/main" id="{809CFDF7-5569-47F9-A341-03193FF8271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TIER 1 OBSERVABILITY</a:t>
            </a:r>
          </a:p>
        </p:txBody>
      </p:sp>
      <p:sp>
        <p:nvSpPr>
          <p:cNvPr id="7" name="page-mask-v2-15">
            <a:extLst>
              <a:ext uri="{FF2B5EF4-FFF2-40B4-BE49-F238E27FC236}">
                <a16:creationId xmlns:a16="http://schemas.microsoft.com/office/drawing/2014/main" id="{1151F7C6-498C-4AB6-BE92-86D33AEE933D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page-v2-15">
            <a:extLst>
              <a:ext uri="{FF2B5EF4-FFF2-40B4-BE49-F238E27FC236}">
                <a16:creationId xmlns:a16="http://schemas.microsoft.com/office/drawing/2014/main" id="{B614A0B4-56EF-4760-86B1-73F84446AA31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561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kicker-9">
            <a:extLst>
              <a:ext uri="{FF2B5EF4-FFF2-40B4-BE49-F238E27FC236}">
                <a16:creationId xmlns:a16="http://schemas.microsoft.com/office/drawing/2014/main" id="{5A79BDC0-C42A-4918-9CF8-87313D3309E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08  EVOLUTION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923E3288-2983-490E-BCE5-B32412CEB117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763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同一產品，沿 Tier 0–5 累積企業能力</a:t>
            </a:r>
          </a:p>
        </p:txBody>
      </p:sp>
      <p:sp>
        <p:nvSpPr>
          <p:cNvPr id="3" name="title-line-9">
            <a:extLst>
              <a:ext uri="{FF2B5EF4-FFF2-40B4-BE49-F238E27FC236}">
                <a16:creationId xmlns:a16="http://schemas.microsoft.com/office/drawing/2014/main" id="{ECE965BB-9391-4B9B-BB2F-6EF36802896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age-9">
            <a:extLst>
              <a:ext uri="{FF2B5EF4-FFF2-40B4-BE49-F238E27FC236}">
                <a16:creationId xmlns:a16="http://schemas.microsoft.com/office/drawing/2014/main" id="{0E61A1F0-9E8A-48DB-9CD5-5A0F000BD741}"/>
              </a:ext>
            </a:extLst>
          </p:cNvPr>
          <p:cNvSpPr>
            <a:spLocks noGrp="1"/>
          </p:cNvSpPr>
          <p:nvPr/>
        </p:nvSpPr>
        <p:spPr>
          <a:xfrm>
            <a:off x="11049000" y="285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road">
            <a:extLst>
              <a:ext uri="{FF2B5EF4-FFF2-40B4-BE49-F238E27FC236}">
                <a16:creationId xmlns:a16="http://schemas.microsoft.com/office/drawing/2014/main" id="{132B5598-E2EA-427E-A623-17A2F0D09BED}"/>
              </a:ext>
            </a:extLst>
          </p:cNvPr>
          <p:cNvSpPr>
            <a:spLocks noGrp="1"/>
          </p:cNvSpPr>
          <p:nvPr/>
        </p:nvSpPr>
        <p:spPr>
          <a:xfrm>
            <a:off x="1257300" y="3238500"/>
            <a:ext cx="9286875" cy="0"/>
          </a:xfrm>
          <a:prstGeom prst="line">
            <a:avLst/>
          </a:prstGeom>
          <a:noFill/>
          <a:ln w="476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ier-0">
            <a:extLst>
              <a:ext uri="{FF2B5EF4-FFF2-40B4-BE49-F238E27FC236}">
                <a16:creationId xmlns:a16="http://schemas.microsoft.com/office/drawing/2014/main" id="{E0D023CE-D07D-47BE-8D47-640F831A32A1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1F73B7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ier-no-0">
            <a:extLst>
              <a:ext uri="{FF2B5EF4-FFF2-40B4-BE49-F238E27FC236}">
                <a16:creationId xmlns:a16="http://schemas.microsoft.com/office/drawing/2014/main" id="{40C2A4D9-531C-4BF7-9EDD-380FE0431DAF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8" name="tier-label-0">
            <a:extLst>
              <a:ext uri="{FF2B5EF4-FFF2-40B4-BE49-F238E27FC236}">
                <a16:creationId xmlns:a16="http://schemas.microsoft.com/office/drawing/2014/main" id="{16FCDAFD-6769-474B-A787-74909AFDB942}"/>
              </a:ext>
            </a:extLst>
          </p:cNvPr>
          <p:cNvSpPr>
            <a:spLocks noGrp="1"/>
          </p:cNvSpPr>
          <p:nvPr/>
        </p:nvSpPr>
        <p:spPr>
          <a:xfrm>
            <a:off x="428625" y="3829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可玩雲端</a:t>
            </a:r>
          </a:p>
        </p:txBody>
      </p:sp>
      <p:sp>
        <p:nvSpPr>
          <p:cNvPr id="9" name="tier-1">
            <a:extLst>
              <a:ext uri="{FF2B5EF4-FFF2-40B4-BE49-F238E27FC236}">
                <a16:creationId xmlns:a16="http://schemas.microsoft.com/office/drawing/2014/main" id="{03B6A0CF-5183-4262-B433-A495FF4E7A29}"/>
              </a:ext>
            </a:extLst>
          </p:cNvPr>
          <p:cNvSpPr>
            <a:spLocks noGrp="1"/>
          </p:cNvSpPr>
          <p:nvPr/>
        </p:nvSpPr>
        <p:spPr>
          <a:xfrm>
            <a:off x="2809875" y="2905125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16825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ier-no-1">
            <a:extLst>
              <a:ext uri="{FF2B5EF4-FFF2-40B4-BE49-F238E27FC236}">
                <a16:creationId xmlns:a16="http://schemas.microsoft.com/office/drawing/2014/main" id="{A0FD7C30-B694-4BD1-A8CE-A7C622878C16}"/>
              </a:ext>
            </a:extLst>
          </p:cNvPr>
          <p:cNvSpPr>
            <a:spLocks noGrp="1"/>
          </p:cNvSpPr>
          <p:nvPr/>
        </p:nvSpPr>
        <p:spPr>
          <a:xfrm>
            <a:off x="2809875" y="29051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1" name="tier-label-1">
            <a:extLst>
              <a:ext uri="{FF2B5EF4-FFF2-40B4-BE49-F238E27FC236}">
                <a16:creationId xmlns:a16="http://schemas.microsoft.com/office/drawing/2014/main" id="{56C82D9C-3285-4C4A-B957-69F1D55C4B2C}"/>
              </a:ext>
            </a:extLst>
          </p:cNvPr>
          <p:cNvSpPr>
            <a:spLocks noGrp="1"/>
          </p:cNvSpPr>
          <p:nvPr/>
        </p:nvSpPr>
        <p:spPr>
          <a:xfrm>
            <a:off x="2286000" y="3829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可觀測維運</a:t>
            </a:r>
          </a:p>
        </p:txBody>
      </p:sp>
      <p:sp>
        <p:nvSpPr>
          <p:cNvPr id="12" name="tier-2">
            <a:extLst>
              <a:ext uri="{FF2B5EF4-FFF2-40B4-BE49-F238E27FC236}">
                <a16:creationId xmlns:a16="http://schemas.microsoft.com/office/drawing/2014/main" id="{ACE38B72-A6CF-4003-AC7D-12E2631D889A}"/>
              </a:ext>
            </a:extLst>
          </p:cNvPr>
          <p:cNvSpPr>
            <a:spLocks noGrp="1"/>
          </p:cNvSpPr>
          <p:nvPr/>
        </p:nvSpPr>
        <p:spPr>
          <a:xfrm>
            <a:off x="4667250" y="2905125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ier-no-2">
            <a:extLst>
              <a:ext uri="{FF2B5EF4-FFF2-40B4-BE49-F238E27FC236}">
                <a16:creationId xmlns:a16="http://schemas.microsoft.com/office/drawing/2014/main" id="{D6C4B5A1-2382-4815-9505-8531D072FD68}"/>
              </a:ext>
            </a:extLst>
          </p:cNvPr>
          <p:cNvSpPr>
            <a:spLocks noGrp="1"/>
          </p:cNvSpPr>
          <p:nvPr/>
        </p:nvSpPr>
        <p:spPr>
          <a:xfrm>
            <a:off x="4667250" y="29051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4" name="tier-label-2">
            <a:extLst>
              <a:ext uri="{FF2B5EF4-FFF2-40B4-BE49-F238E27FC236}">
                <a16:creationId xmlns:a16="http://schemas.microsoft.com/office/drawing/2014/main" id="{A0B7D662-43B8-4325-AFF0-5CC4D7FAE9B5}"/>
              </a:ext>
            </a:extLst>
          </p:cNvPr>
          <p:cNvSpPr>
            <a:spLocks noGrp="1"/>
          </p:cNvSpPr>
          <p:nvPr/>
        </p:nvSpPr>
        <p:spPr>
          <a:xfrm>
            <a:off x="4143375" y="3829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元件隔離</a:t>
            </a:r>
          </a:p>
        </p:txBody>
      </p:sp>
      <p:sp>
        <p:nvSpPr>
          <p:cNvPr id="15" name="tier-3">
            <a:extLst>
              <a:ext uri="{FF2B5EF4-FFF2-40B4-BE49-F238E27FC236}">
                <a16:creationId xmlns:a16="http://schemas.microsoft.com/office/drawing/2014/main" id="{C48111BE-6CAB-4FAE-B163-F582CBA2D01D}"/>
              </a:ext>
            </a:extLst>
          </p:cNvPr>
          <p:cNvSpPr>
            <a:spLocks noGrp="1"/>
          </p:cNvSpPr>
          <p:nvPr/>
        </p:nvSpPr>
        <p:spPr>
          <a:xfrm>
            <a:off x="6524625" y="2905125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ier-no-3">
            <a:extLst>
              <a:ext uri="{FF2B5EF4-FFF2-40B4-BE49-F238E27FC236}">
                <a16:creationId xmlns:a16="http://schemas.microsoft.com/office/drawing/2014/main" id="{F4A09240-5D9A-410B-A74E-9979FFFC423E}"/>
              </a:ext>
            </a:extLst>
          </p:cNvPr>
          <p:cNvSpPr>
            <a:spLocks noGrp="1"/>
          </p:cNvSpPr>
          <p:nvPr/>
        </p:nvSpPr>
        <p:spPr>
          <a:xfrm>
            <a:off x="6524625" y="29051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tier-label-3">
            <a:extLst>
              <a:ext uri="{FF2B5EF4-FFF2-40B4-BE49-F238E27FC236}">
                <a16:creationId xmlns:a16="http://schemas.microsoft.com/office/drawing/2014/main" id="{42998EDC-A92C-4859-8592-8EFCEB6D7969}"/>
              </a:ext>
            </a:extLst>
          </p:cNvPr>
          <p:cNvSpPr>
            <a:spLocks noGrp="1"/>
          </p:cNvSpPr>
          <p:nvPr/>
        </p:nvSpPr>
        <p:spPr>
          <a:xfrm>
            <a:off x="6000750" y="3829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自動交付</a:t>
            </a:r>
          </a:p>
        </p:txBody>
      </p:sp>
      <p:sp>
        <p:nvSpPr>
          <p:cNvPr id="18" name="tier-4">
            <a:extLst>
              <a:ext uri="{FF2B5EF4-FFF2-40B4-BE49-F238E27FC236}">
                <a16:creationId xmlns:a16="http://schemas.microsoft.com/office/drawing/2014/main" id="{CAAF064C-ABDA-45C2-8B79-33211513AE55}"/>
              </a:ext>
            </a:extLst>
          </p:cNvPr>
          <p:cNvSpPr>
            <a:spLocks noGrp="1"/>
          </p:cNvSpPr>
          <p:nvPr/>
        </p:nvSpPr>
        <p:spPr>
          <a:xfrm>
            <a:off x="8382000" y="2905125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ier-no-4">
            <a:extLst>
              <a:ext uri="{FF2B5EF4-FFF2-40B4-BE49-F238E27FC236}">
                <a16:creationId xmlns:a16="http://schemas.microsoft.com/office/drawing/2014/main" id="{1C5DADB8-F733-440F-AF69-C410354915CE}"/>
              </a:ext>
            </a:extLst>
          </p:cNvPr>
          <p:cNvSpPr>
            <a:spLocks noGrp="1"/>
          </p:cNvSpPr>
          <p:nvPr/>
        </p:nvSpPr>
        <p:spPr>
          <a:xfrm>
            <a:off x="8382000" y="29051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0" name="tier-label-4">
            <a:extLst>
              <a:ext uri="{FF2B5EF4-FFF2-40B4-BE49-F238E27FC236}">
                <a16:creationId xmlns:a16="http://schemas.microsoft.com/office/drawing/2014/main" id="{D94A00C6-AC7A-4969-B1A6-A1D670E58930}"/>
              </a:ext>
            </a:extLst>
          </p:cNvPr>
          <p:cNvSpPr>
            <a:spLocks noGrp="1"/>
          </p:cNvSpPr>
          <p:nvPr/>
        </p:nvSpPr>
        <p:spPr>
          <a:xfrm>
            <a:off x="7858125" y="3829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微服務</a:t>
            </a:r>
          </a:p>
        </p:txBody>
      </p:sp>
      <p:sp>
        <p:nvSpPr>
          <p:cNvPr id="21" name="tier-5">
            <a:extLst>
              <a:ext uri="{FF2B5EF4-FFF2-40B4-BE49-F238E27FC236}">
                <a16:creationId xmlns:a16="http://schemas.microsoft.com/office/drawing/2014/main" id="{7981DFDE-A1FE-4448-9BB0-AA6CD01B38DE}"/>
              </a:ext>
            </a:extLst>
          </p:cNvPr>
          <p:cNvSpPr>
            <a:spLocks noGrp="1"/>
          </p:cNvSpPr>
          <p:nvPr/>
        </p:nvSpPr>
        <p:spPr>
          <a:xfrm>
            <a:off x="10239375" y="2905125"/>
            <a:ext cx="666750" cy="666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ier-no-5">
            <a:extLst>
              <a:ext uri="{FF2B5EF4-FFF2-40B4-BE49-F238E27FC236}">
                <a16:creationId xmlns:a16="http://schemas.microsoft.com/office/drawing/2014/main" id="{BA342E5A-C79D-4DA5-B33D-D998234D5201}"/>
              </a:ext>
            </a:extLst>
          </p:cNvPr>
          <p:cNvSpPr>
            <a:spLocks noGrp="1"/>
          </p:cNvSpPr>
          <p:nvPr/>
        </p:nvSpPr>
        <p:spPr>
          <a:xfrm>
            <a:off x="10239375" y="2905125"/>
            <a:ext cx="66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3" name="tier-label-5">
            <a:extLst>
              <a:ext uri="{FF2B5EF4-FFF2-40B4-BE49-F238E27FC236}">
                <a16:creationId xmlns:a16="http://schemas.microsoft.com/office/drawing/2014/main" id="{2D32E78E-58C1-4F7D-AD07-3621D350D211}"/>
              </a:ext>
            </a:extLst>
          </p:cNvPr>
          <p:cNvSpPr>
            <a:spLocks noGrp="1"/>
          </p:cNvSpPr>
          <p:nvPr/>
        </p:nvSpPr>
        <p:spPr>
          <a:xfrm>
            <a:off x="9715500" y="38290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Agentic AI</a:t>
            </a:r>
          </a:p>
        </p:txBody>
      </p:sp>
      <p:sp>
        <p:nvSpPr>
          <p:cNvPr id="24" name="road-now">
            <a:extLst>
              <a:ext uri="{FF2B5EF4-FFF2-40B4-BE49-F238E27FC236}">
                <a16:creationId xmlns:a16="http://schemas.microsoft.com/office/drawing/2014/main" id="{7546A327-6E73-4E7D-98AA-04120E97C65E}"/>
              </a:ext>
            </a:extLst>
          </p:cNvPr>
          <p:cNvSpPr>
            <a:spLocks noGrp="1"/>
          </p:cNvSpPr>
          <p:nvPr/>
        </p:nvSpPr>
        <p:spPr>
          <a:xfrm>
            <a:off x="1809750" y="17145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現在：Tier 0 已完成，Tier 1 正向可觀測路徑已通過</a:t>
            </a:r>
          </a:p>
        </p:txBody>
      </p:sp>
      <p:sp>
        <p:nvSpPr>
          <p:cNvPr id="25" name="road-rule">
            <a:extLst>
              <a:ext uri="{FF2B5EF4-FFF2-40B4-BE49-F238E27FC236}">
                <a16:creationId xmlns:a16="http://schemas.microsoft.com/office/drawing/2014/main" id="{3155E7B4-F45A-40BF-B29A-120C89BF2212}"/>
              </a:ext>
            </a:extLst>
          </p:cNvPr>
          <p:cNvSpPr>
            <a:spLocks noGrp="1"/>
          </p:cNvSpPr>
          <p:nvPr/>
        </p:nvSpPr>
        <p:spPr>
          <a:xfrm>
            <a:off x="2381250" y="5048250"/>
            <a:ext cx="7429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每一層都保留可運作成果、架構理由與 AWS 驗證。</a:t>
            </a:r>
          </a:p>
        </p:txBody>
      </p:sp>
      <p:sp>
        <p:nvSpPr>
          <p:cNvPr id="26" name="road-gate">
            <a:extLst>
              <a:ext uri="{FF2B5EF4-FFF2-40B4-BE49-F238E27FC236}">
                <a16:creationId xmlns:a16="http://schemas.microsoft.com/office/drawing/2014/main" id="{3931BF37-D280-42F8-ABE2-E2F836FBFB69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不為堆服務而擴張；只在價值、成本與證據成立時前進。</a:t>
            </a:r>
          </a:p>
        </p:txBody>
      </p:sp>
      <p:sp>
        <p:nvSpPr>
          <p:cNvPr id="28" name="page-mask-15">
            <a:extLst>
              <a:ext uri="{FF2B5EF4-FFF2-40B4-BE49-F238E27FC236}">
                <a16:creationId xmlns:a16="http://schemas.microsoft.com/office/drawing/2014/main" id="{4C540D19-4BC6-4CA5-8324-EC27734F4E3A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page-new-15">
            <a:extLst>
              <a:ext uri="{FF2B5EF4-FFF2-40B4-BE49-F238E27FC236}">
                <a16:creationId xmlns:a16="http://schemas.microsoft.com/office/drawing/2014/main" id="{CCA7FBB1-EF99-43BC-8276-A48BDBFCBAAD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30" name="EVOLUTION-kicker-mask">
            <a:extLst>
              <a:ext uri="{FF2B5EF4-FFF2-40B4-BE49-F238E27FC236}">
                <a16:creationId xmlns:a16="http://schemas.microsoft.com/office/drawing/2014/main" id="{D9D1BB7A-6A54-43A4-AEB9-372B36736FFB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EVOLUTION-kicker-new">
            <a:extLst>
              <a:ext uri="{FF2B5EF4-FFF2-40B4-BE49-F238E27FC236}">
                <a16:creationId xmlns:a16="http://schemas.microsoft.com/office/drawing/2014/main" id="{72D5F70F-AB60-455C-B889-ABB4C884CA5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EVOLUTION</a:t>
            </a:r>
          </a:p>
        </p:txBody>
      </p:sp>
      <p:sp>
        <p:nvSpPr>
          <p:cNvPr id="32" name="page-mask-v2-16">
            <a:extLst>
              <a:ext uri="{FF2B5EF4-FFF2-40B4-BE49-F238E27FC236}">
                <a16:creationId xmlns:a16="http://schemas.microsoft.com/office/drawing/2014/main" id="{9013A00D-2EFD-437F-AC93-A6F0EFEF4556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page-v2-16">
            <a:extLst>
              <a:ext uri="{FF2B5EF4-FFF2-40B4-BE49-F238E27FC236}">
                <a16:creationId xmlns:a16="http://schemas.microsoft.com/office/drawing/2014/main" id="{3CC31214-8A95-4557-9C85-7D6C1254B4FB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8556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se-big-0">
            <a:extLst>
              <a:ext uri="{FF2B5EF4-FFF2-40B4-BE49-F238E27FC236}">
                <a16:creationId xmlns:a16="http://schemas.microsoft.com/office/drawing/2014/main" id="{7AEE70F0-9000-488A-BAE4-BC23853452F5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5" name="close-sub-0">
            <a:extLst>
              <a:ext uri="{FF2B5EF4-FFF2-40B4-BE49-F238E27FC236}">
                <a16:creationId xmlns:a16="http://schemas.microsoft.com/office/drawing/2014/main" id="{BA1387AD-161C-4D0B-8C29-50CBA4E6DDF9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多人共同決策</a:t>
            </a:r>
          </a:p>
          <a:p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可玩閉環與真實驗證</a:t>
            </a:r>
          </a:p>
        </p:txBody>
      </p:sp>
      <p:sp>
        <p:nvSpPr>
          <p:cNvPr id="6" name="close-big-1">
            <a:extLst>
              <a:ext uri="{FF2B5EF4-FFF2-40B4-BE49-F238E27FC236}">
                <a16:creationId xmlns:a16="http://schemas.microsoft.com/office/drawing/2014/main" id="{99982D59-8AD2-43C1-B3E1-3084B7DCD9CC}"/>
              </a:ext>
            </a:extLst>
          </p:cNvPr>
          <p:cNvSpPr>
            <a:spLocks noGrp="1"/>
          </p:cNvSpPr>
          <p:nvPr/>
        </p:nvSpPr>
        <p:spPr>
          <a:xfrm>
            <a:off x="4000500" y="3143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雲端工程</a:t>
            </a:r>
          </a:p>
        </p:txBody>
      </p:sp>
      <p:sp>
        <p:nvSpPr>
          <p:cNvPr id="7" name="close-sub-1">
            <a:extLst>
              <a:ext uri="{FF2B5EF4-FFF2-40B4-BE49-F238E27FC236}">
                <a16:creationId xmlns:a16="http://schemas.microsoft.com/office/drawing/2014/main" id="{FC4DFF54-5AF0-4999-852E-3E2E32747F42}"/>
              </a:ext>
            </a:extLst>
          </p:cNvPr>
          <p:cNvSpPr>
            <a:spLocks noGrp="1"/>
          </p:cNvSpPr>
          <p:nvPr/>
        </p:nvSpPr>
        <p:spPr>
          <a:xfrm>
            <a:off x="4000500" y="37909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IaC · private data</a:t>
            </a:r>
          </a:p>
          <a:p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SSM · CloudWatch</a:t>
            </a:r>
          </a:p>
        </p:txBody>
      </p:sp>
      <p:sp>
        <p:nvSpPr>
          <p:cNvPr id="8" name="close-big-2">
            <a:extLst>
              <a:ext uri="{FF2B5EF4-FFF2-40B4-BE49-F238E27FC236}">
                <a16:creationId xmlns:a16="http://schemas.microsoft.com/office/drawing/2014/main" id="{67B4C4DF-2437-41A8-88BF-DBBFC4D1F753}"/>
              </a:ext>
            </a:extLst>
          </p:cNvPr>
          <p:cNvSpPr>
            <a:spLocks noGrp="1"/>
          </p:cNvSpPr>
          <p:nvPr/>
        </p:nvSpPr>
        <p:spPr>
          <a:xfrm>
            <a:off x="7334250" y="31432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持續演進</a:t>
            </a:r>
          </a:p>
        </p:txBody>
      </p:sp>
      <p:sp>
        <p:nvSpPr>
          <p:cNvPr id="9" name="close-sub-2">
            <a:extLst>
              <a:ext uri="{FF2B5EF4-FFF2-40B4-BE49-F238E27FC236}">
                <a16:creationId xmlns:a16="http://schemas.microsoft.com/office/drawing/2014/main" id="{595C4C21-46A1-4140-81FD-FD77FF8F7487}"/>
              </a:ext>
            </a:extLst>
          </p:cNvPr>
          <p:cNvSpPr>
            <a:spLocks noGrp="1"/>
          </p:cNvSpPr>
          <p:nvPr/>
        </p:nvSpPr>
        <p:spPr>
          <a:xfrm>
            <a:off x="7334250" y="3790950"/>
            <a:ext cx="285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CI/CD · 微服務</a:t>
            </a:r>
          </a:p>
          <a:p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RAG · Agentic AI</a:t>
            </a:r>
          </a:p>
        </p:txBody>
      </p:sp>
      <p:sp>
        <p:nvSpPr>
          <p:cNvPr id="10" name="close-next">
            <a:extLst>
              <a:ext uri="{FF2B5EF4-FFF2-40B4-BE49-F238E27FC236}">
                <a16:creationId xmlns:a16="http://schemas.microsoft.com/office/drawing/2014/main" id="{4DB4BA11-B8AC-4141-AB93-1E4C0C2F189F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762000"/>
          </a:xfrm>
          <a:prstGeom prst="roundRect">
            <a:avLst>
              <a:gd name="adj" fmla="val 15000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lose-next-copy">
            <a:extLst>
              <a:ext uri="{FF2B5EF4-FFF2-40B4-BE49-F238E27FC236}">
                <a16:creationId xmlns:a16="http://schemas.microsoft.com/office/drawing/2014/main" id="{41F6E969-5EEB-4ADE-AA6D-ADA031A634BE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10363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下一步：5xx alarm → recovery → AIOps incident</a:t>
            </a:r>
          </a:p>
        </p:txBody>
      </p:sp>
      <p:sp>
        <p:nvSpPr>
          <p:cNvPr id="13" name="page-mask-16">
            <a:extLst>
              <a:ext uri="{FF2B5EF4-FFF2-40B4-BE49-F238E27FC236}">
                <a16:creationId xmlns:a16="http://schemas.microsoft.com/office/drawing/2014/main" id="{715A9C8C-CFA1-40FA-891C-B89B0B49C8CE}"/>
              </a:ext>
            </a:extLst>
          </p:cNvPr>
          <p:cNvSpPr>
            <a:spLocks noGrp="1"/>
          </p:cNvSpPr>
          <p:nvPr/>
        </p:nvSpPr>
        <p:spPr>
          <a:xfrm>
            <a:off x="10934700" y="171450"/>
            <a:ext cx="76200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page-new-16">
            <a:extLst>
              <a:ext uri="{FF2B5EF4-FFF2-40B4-BE49-F238E27FC236}">
                <a16:creationId xmlns:a16="http://schemas.microsoft.com/office/drawing/2014/main" id="{217726B0-E135-4C6C-9E0A-D9E512DBFE7E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15" name="closing-title-mask-v2">
            <a:extLst>
              <a:ext uri="{FF2B5EF4-FFF2-40B4-BE49-F238E27FC236}">
                <a16:creationId xmlns:a16="http://schemas.microsoft.com/office/drawing/2014/main" id="{08FB3250-B490-4FD8-B890-20B484866433}"/>
              </a:ext>
            </a:extLst>
          </p:cNvPr>
          <p:cNvSpPr>
            <a:spLocks noGrp="1"/>
          </p:cNvSpPr>
          <p:nvPr/>
        </p:nvSpPr>
        <p:spPr>
          <a:xfrm>
            <a:off x="495300" y="1162050"/>
            <a:ext cx="11049000" cy="1638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closing-title-v2">
            <a:extLst>
              <a:ext uri="{FF2B5EF4-FFF2-40B4-BE49-F238E27FC236}">
                <a16:creationId xmlns:a16="http://schemas.microsoft.com/office/drawing/2014/main" id="{C5B5FDAA-7FD8-4F36-8F7A-E036DABE52C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477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8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 dirty="0" err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把產品、風險與維運設計成</a:t>
            </a:r>
            <a:endParaRPr sz="2850" b="1" dirty="0">
              <a:solidFill>
                <a:srgbClr val="0B1F33"/>
              </a:solidFill>
              <a:latin typeface="PingFang TC"/>
              <a:ea typeface="PingFang TC"/>
              <a:cs typeface="PingFang TC"/>
            </a:endParaRPr>
          </a:p>
          <a:p>
            <a:pPr algn="l">
              <a:buNone/>
              <a:defRPr sz="28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 dirty="0" err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可驗證、可持續演進的雲端服務</a:t>
            </a:r>
            <a:r>
              <a:rPr sz="2850" b="1" dirty="0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7" name="PORTFOLIO VALUE-kicker-mask">
            <a:extLst>
              <a:ext uri="{FF2B5EF4-FFF2-40B4-BE49-F238E27FC236}">
                <a16:creationId xmlns:a16="http://schemas.microsoft.com/office/drawing/2014/main" id="{78F529E7-069D-4730-8423-99A170A4299C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PORTFOLIO VALUE-kicker-new">
            <a:extLst>
              <a:ext uri="{FF2B5EF4-FFF2-40B4-BE49-F238E27FC236}">
                <a16:creationId xmlns:a16="http://schemas.microsoft.com/office/drawing/2014/main" id="{AC6CED10-AB7A-4E9C-851B-35B40E05748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PORTFOLIO VALUE</a:t>
            </a:r>
          </a:p>
        </p:txBody>
      </p:sp>
      <p:sp>
        <p:nvSpPr>
          <p:cNvPr id="19" name="closing-kicker-deep-mask">
            <a:extLst>
              <a:ext uri="{FF2B5EF4-FFF2-40B4-BE49-F238E27FC236}">
                <a16:creationId xmlns:a16="http://schemas.microsoft.com/office/drawing/2014/main" id="{F35A9260-18F4-4D83-A50F-FFC718FDCFDC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5143500" cy="8382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closing-kicker-final">
            <a:extLst>
              <a:ext uri="{FF2B5EF4-FFF2-40B4-BE49-F238E27FC236}">
                <a16:creationId xmlns:a16="http://schemas.microsoft.com/office/drawing/2014/main" id="{F31315A2-7CE0-4BB8-ACCC-FA8BE278EEA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PORTFOLIO VALUE</a:t>
            </a:r>
          </a:p>
        </p:txBody>
      </p:sp>
      <p:sp>
        <p:nvSpPr>
          <p:cNvPr id="21" name="closing-line-remnant-mask">
            <a:extLst>
              <a:ext uri="{FF2B5EF4-FFF2-40B4-BE49-F238E27FC236}">
                <a16:creationId xmlns:a16="http://schemas.microsoft.com/office/drawing/2014/main" id="{0B863255-4ED7-4EF2-89DB-03FEEC4DB283}"/>
              </a:ext>
            </a:extLst>
          </p:cNvPr>
          <p:cNvSpPr>
            <a:spLocks noGrp="1"/>
          </p:cNvSpPr>
          <p:nvPr/>
        </p:nvSpPr>
        <p:spPr>
          <a:xfrm>
            <a:off x="476250" y="2457450"/>
            <a:ext cx="11239500" cy="609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page-mask-v2-17">
            <a:extLst>
              <a:ext uri="{FF2B5EF4-FFF2-40B4-BE49-F238E27FC236}">
                <a16:creationId xmlns:a16="http://schemas.microsoft.com/office/drawing/2014/main" id="{EC85A49E-64E1-4F26-8AC9-7903A2B44898}"/>
              </a:ext>
            </a:extLst>
          </p:cNvPr>
          <p:cNvSpPr>
            <a:spLocks noGrp="1"/>
          </p:cNvSpPr>
          <p:nvPr/>
        </p:nvSpPr>
        <p:spPr>
          <a:xfrm>
            <a:off x="10953750" y="171450"/>
            <a:ext cx="7429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page-v2-17">
            <a:extLst>
              <a:ext uri="{FF2B5EF4-FFF2-40B4-BE49-F238E27FC236}">
                <a16:creationId xmlns:a16="http://schemas.microsoft.com/office/drawing/2014/main" id="{B55848C6-127E-44D5-A283-61BD8BE5A73F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43342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1493</Words>
  <Application>Microsoft Macintosh PowerPoint</Application>
  <DocSecurity>0</DocSecurity>
  <PresentationFormat>寬螢幕</PresentationFormat>
  <Paragraphs>337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0" baseType="lpstr">
      <vt:lpstr>PingFang TC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昭銘 黃</cp:lastModifiedBy>
  <cp:revision>3</cp:revision>
  <dcterms:created xsi:type="dcterms:W3CDTF">2026-08-24T07:10:01Z</dcterms:created>
  <dcterms:modified xsi:type="dcterms:W3CDTF">2026-08-24T11:12:59Z</dcterms:modified>
</cp:coreProperties>
</file>