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aeee8486d34489" /><Relationship Type="http://schemas.openxmlformats.org/officeDocument/2006/relationships/extended-properties" Target="/docProps/app.xml" Id="Rc2206fa6decc4f02" /><Relationship Type="http://schemas.openxmlformats.org/officeDocument/2006/relationships/officeDocument" Target="/ppt/presentation.xml" Id="R97a90a187e38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6d9a0cad1744b0"/>
  </p:sldMasterIdLst>
  <p:notesMasterIdLst>
    <p:notesMasterId xmlns:r="http://schemas.openxmlformats.org/officeDocument/2006/relationships" r:id="R4dd4691770074973"/>
  </p:notesMasterIdLst>
  <p:sldIdLst>
    <p:sldId xmlns:r="http://schemas.openxmlformats.org/officeDocument/2006/relationships" id="256" r:id="R3f13d2c244da483b"/>
    <p:sldId xmlns:r="http://schemas.openxmlformats.org/officeDocument/2006/relationships" id="257" r:id="R115ed947a67a4eef"/>
    <p:sldId xmlns:r="http://schemas.openxmlformats.org/officeDocument/2006/relationships" id="258" r:id="R2355dc8b90874e9f"/>
    <p:sldId xmlns:r="http://schemas.openxmlformats.org/officeDocument/2006/relationships" id="259" r:id="Rd315f4de2b9e4de8"/>
    <p:sldId xmlns:r="http://schemas.openxmlformats.org/officeDocument/2006/relationships" id="260" r:id="R25a33b8cefa347d8"/>
    <p:sldId xmlns:r="http://schemas.openxmlformats.org/officeDocument/2006/relationships" id="261" r:id="Rbf5c871b4565479f"/>
    <p:sldId xmlns:r="http://schemas.openxmlformats.org/officeDocument/2006/relationships" id="262" r:id="R93411f535dba44d3"/>
    <p:sldId xmlns:r="http://schemas.openxmlformats.org/officeDocument/2006/relationships" id="263" r:id="R2b6db11733994263"/>
    <p:sldId xmlns:r="http://schemas.openxmlformats.org/officeDocument/2006/relationships" id="264" r:id="Rb4fea831bba4486f"/>
    <p:sldId xmlns:r="http://schemas.openxmlformats.org/officeDocument/2006/relationships" id="265" r:id="R3652a98b8a6045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0538c7ea904080" /><Relationship Type="http://schemas.openxmlformats.org/officeDocument/2006/relationships/slideMaster" Target="/ppt/slideMasters/slideMaster1.xml" Id="R856d9a0cad1744b0" /><Relationship Type="http://schemas.openxmlformats.org/officeDocument/2006/relationships/notesMaster" Target="/ppt/notesMasters/notesMaster1.xml" Id="R4dd4691770074973" /><Relationship Type="http://schemas.openxmlformats.org/officeDocument/2006/relationships/presProps" Target="/ppt/presProps.xml" Id="Rc34e948a0a344acc" /><Relationship Type="http://schemas.openxmlformats.org/officeDocument/2006/relationships/tableStyles" Target="/ppt/tableStyles.xml" Id="Rf75379db31ec4755" /><Relationship Type="http://schemas.openxmlformats.org/officeDocument/2006/relationships/slide" Target="/ppt/slides/slide1.xml" Id="R3f13d2c244da483b" /><Relationship Type="http://schemas.openxmlformats.org/officeDocument/2006/relationships/slide" Target="/ppt/slides/slide2.xml" Id="R115ed947a67a4eef" /><Relationship Type="http://schemas.openxmlformats.org/officeDocument/2006/relationships/slide" Target="/ppt/slides/slide3.xml" Id="R2355dc8b90874e9f" /><Relationship Type="http://schemas.openxmlformats.org/officeDocument/2006/relationships/slide" Target="/ppt/slides/slide4.xml" Id="Rd315f4de2b9e4de8" /><Relationship Type="http://schemas.openxmlformats.org/officeDocument/2006/relationships/slide" Target="/ppt/slides/slide5.xml" Id="R25a33b8cefa347d8" /><Relationship Type="http://schemas.openxmlformats.org/officeDocument/2006/relationships/slide" Target="/ppt/slides/slide6.xml" Id="Rbf5c871b4565479f" /><Relationship Type="http://schemas.openxmlformats.org/officeDocument/2006/relationships/slide" Target="/ppt/slides/slide7.xml" Id="R93411f535dba44d3" /><Relationship Type="http://schemas.openxmlformats.org/officeDocument/2006/relationships/slide" Target="/ppt/slides/slide8.xml" Id="R2b6db11733994263" /><Relationship Type="http://schemas.openxmlformats.org/officeDocument/2006/relationships/slide" Target="/ppt/slides/slide9.xml" Id="Rb4fea831bba4486f" /><Relationship Type="http://schemas.openxmlformats.org/officeDocument/2006/relationships/slide" Target="/ppt/slides/slide10.xml" Id="R3652a98b8a6045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a78e7792a46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351f285d104777" /><Relationship Type="http://schemas.openxmlformats.org/officeDocument/2006/relationships/notesMaster" Target="/ppt/notesMasters/notesMaster1.xml" Id="Recd7b7e989b040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9809a2575d450f" /><Relationship Type="http://schemas.openxmlformats.org/officeDocument/2006/relationships/notesMaster" Target="/ppt/notesMasters/notesMaster1.xml" Id="Rfdd157ad6dae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94a89ede214ac4" /><Relationship Type="http://schemas.openxmlformats.org/officeDocument/2006/relationships/notesMaster" Target="/ppt/notesMasters/notesMaster1.xml" Id="R18e9bedffb1740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33b5764e294791" /><Relationship Type="http://schemas.openxmlformats.org/officeDocument/2006/relationships/notesMaster" Target="/ppt/notesMasters/notesMaster1.xml" Id="R88c669eb102c4f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782d4fabdc4cb8" /><Relationship Type="http://schemas.openxmlformats.org/officeDocument/2006/relationships/notesMaster" Target="/ppt/notesMasters/notesMaster1.xml" Id="R3b46c2abf7be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6dc90d97354d3d" /><Relationship Type="http://schemas.openxmlformats.org/officeDocument/2006/relationships/notesMaster" Target="/ppt/notesMasters/notesMaster1.xml" Id="R483e0b8cbd094b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aefd82dc364482" /><Relationship Type="http://schemas.openxmlformats.org/officeDocument/2006/relationships/notesMaster" Target="/ppt/notesMasters/notesMaster1.xml" Id="R2fb6a1ded8d64f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04e1dc75774cbd" /><Relationship Type="http://schemas.openxmlformats.org/officeDocument/2006/relationships/notesMaster" Target="/ppt/notesMasters/notesMaster1.xml" Id="R46b3be71580541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fc80b5f7a7445b" /><Relationship Type="http://schemas.openxmlformats.org/officeDocument/2006/relationships/notesMaster" Target="/ppt/notesMasters/notesMaster1.xml" Id="R5fb4f472d67541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9eaba3650d4a4e" /><Relationship Type="http://schemas.openxmlformats.org/officeDocument/2006/relationships/notesMaster" Target="/ppt/notesMasters/notesMaster1.xml" Id="R4109e942c000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今天要展示的不是一份進度清單，而是一個已在 AWS 上被真實玩家使用的多人 AI 產品。共演計劃讓三到五位玩家共同決策，由伺服器維持一致規則，Bedrock 生成受約束的敘事；目前已完成可玩、可部署與第一條可觀測路徑。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多人共創的難點不只是產生文字，而是讓所有人看到同一個狀態、遵守同一套規則，還能共同影響故事。共演計劃把規則交給 deterministic game engine，把敘事交給 AI，因此同一核心也能延伸到教育訓練、情境模擬與工作坊。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工程師培訓期末專題/docs/product/source-of-truth.md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對玩家而言，流程只有建立或加入、提交行動、擲骰與閱讀共同故事。前端只依賴固定 API 契約，不持有 AWS credential；後端負責 session、規則與 canonical state，最後才透過 adapters 存入 RDS 或呼叫 Bedrock。這讓雲端架構演進時不需要牽動整個 UI。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工程師培訓期末專題/docs/architecture/frontend-clean-architecture.md</a:t>
            </a:r>
          </a:p>
          <a:p xmlns:a="http://schemas.openxmlformats.org/drawingml/2006/main">
            <a:r>
              <a:t>- /Users/ming/Documents/AWS 工程師培訓期末專題/docs/decisions/0002-adopt-clean-frontend-architecture.md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這不是設計稿，而是公開 AWS 環境的實際遊玩畫面。四位玩家分別使用 iPhone、macOS 與 Windows，完成世界生成、四個角色、四回合、六次 Nova Lite 呼叫、結局與刪房；HTTP 5xx 為零。這輪結果是 PASS with findings，也讓後續修正能由真實使用行為驅動。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工程師培訓期末專題/docs/evidence/2026-08-20-tier0-four-player-trial/validation.md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後端不是把所有責任塞進 FastAPI。RoomService 管理 session 與房間生命週期，Domain Rules 決定骰子、進度、危機與結局；Repository 與 Storyteller 只透過 ports 接入。Production adapters 分別連接 private PostgreSQL 與 Bedrock，因此資料一致性、遊戲規則和 AI 敘事可以獨立測試與替換。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工程師培訓期末專題/backend/app/application/room_service.py</a:t>
            </a:r>
          </a:p>
          <a:p xmlns:a="http://schemas.openxmlformats.org/drawingml/2006/main">
            <a:r>
              <a:t>- /Users/ming/Documents/AWS 工程師培訓期末專題/docs/decisions/0003-adopt-postgresql-room-aggregate-repository.md</a:t>
            </a:r>
          </a:p>
          <a:p xmlns:a="http://schemas.openxmlformats.org/drawingml/2006/main">
            <a:r>
              <a:t>- /Users/ming/Documents/AWS 工程師培訓期末專題/docs/architecture/llm-integration.md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目前部署在 Tokyo。玩家以 HTTPS 進入 public subnet 的單一 EC2，Nginx 反向代理 FastAPI；資料只寫入 private DB subnets 的 PostgreSQL，5432 僅接受 App Security Group。EC2 以限定 AppRole 呼叫 Bedrock並寫入 CloudWatch；人員維運使用 Systems Manager，不開 public SSH。這張圖只畫已部署元件，不把未使用的 ALB、NAT Gateway 或 CloudFront放進來。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- /Users/ming/Documents/AWS 工程師培訓期末專題/docs/architecture/tier0-aws-change-envelope.md</a:t>
            </a:r>
          </a:p>
          <a:p xmlns:a="http://schemas.openxmlformats.org/drawingml/2006/main">
            <a:r>
              <a:t>- /Users/ming/Documents/AWS 工程師培訓期末專題/infra/cloudformation/tier0-network.yaml</a:t>
            </a:r>
          </a:p>
          <a:p xmlns:a="http://schemas.openxmlformats.org/drawingml/2006/main">
            <a:r>
              <a:t>- /Users/ming/Documents/AWS 工程師培訓期末專題/infra/cloudformation/tier0-compute.yaml</a:t>
            </a:r>
          </a:p>
          <a:p xmlns:a="http://schemas.openxmlformats.org/drawingml/2006/main">
            <a:r>
              <a:t>- /Users/ming/Documents/AWS 工程師培訓期末專題/infra/cloudformation/tier0-rds.yaml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安全不是最後補上的清單。網路層讓資料庫保持 private，操作層以 SSM 取代 SSH，應用角色只取得指定 Bedrock、CloudWatch 與 secret 權限。Prompt Injection 採前置拒絕與 schema validation，但不把代表性測試未證實的 Guardrail intervention 說成成功。成本則以 Budget、最小規格、七天 log retention 與明確清理門檻控制。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- /Users/ming/Documents/AWS 工程師培訓期末專題/docs/architecture/tier0-aws-change-envelope.md</a:t>
            </a:r>
          </a:p>
          <a:p xmlns:a="http://schemas.openxmlformats.org/drawingml/2006/main">
            <a:r>
              <a:t>- /Users/ming/Documents/AWS 工程師培訓期末專題/docs/evidence/2026-08-24-tier1-runtime-observability/validation.md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這一頁是今天新增的 Tier 1 實機證據。CloudFormation 將 Health Document 更新到 version 2；Run Command response code 為零，service、live 與 ready 全部成功。接著以 bounded readiness wait 安全重啟，CloudWatch Agent active，固定 Log Group 收到 allowlist JSON 的 /api/v1/ready 200。這是正向路徑，尚未把 5xx alarm 與 AIOps incident 說成完成。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工程師培訓期末專題/docs/evidence/2026-08-24-tier1-runtime-observability/validation.md</a:t>
            </a:r>
          </a:p>
          <a:p xmlns:a="http://schemas.openxmlformats.org/drawingml/2006/main">
            <a:r>
              <a:t>- /Users/ming/Documents/AWS 工程師培訓期末專題/infra/cloudformation/tier1-observability.yaml</a:t>
            </a:r>
          </a:p>
          <a:p xmlns:a="http://schemas.openxmlformats.org/drawingml/2006/main">
            <a:r>
              <a:t>- /Users/ming/Documents/AWS 工程師培訓期末專題/infra/cloudformation/tier1-ssm-health-check.yaml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0 到 Tier 5 不是六個題目，而是同一產品的能力演進。Tier 0 證明可玩、資料隔離與持久化；Tier 1 加入可觀測與免 SSH 維運。後續才依序做元件隔離、自動交付、微服務與 Agentic AI。每一層都必須留下可運作成果和 AWS 證據，避免為了堆服務而擴張成本。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工程師培訓期末專題/docs/checkpoints.md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共演計劃展示的不只是會用 AWS 服務，而是能把使用者需求轉成產品邊界，把風險轉成安全與 rollback，把部署轉成可以被驗證的證據。下一步會完成 5xx alarm、AIOps incident 與自動交付；但核心標準不變：每次擴張都必須有清楚價值、成本上限和可重現結果。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/Users/ming/Documents/AWS 工程師培訓期末專題/docs/project-plan.md</a:t>
            </a:r>
          </a:p>
          <a:p xmlns:a="http://schemas.openxmlformats.org/drawingml/2006/main">
            <a:r>
              <a:t>- /Users/ming/Documents/AWS 工程師培訓期末專題/docs/handoffs/CURRENT.md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4f4f855b64b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f3af387f2410b" /><Relationship Type="http://schemas.openxmlformats.org/officeDocument/2006/relationships/slideLayout" Target="/ppt/slideLayouts/slideLayout1.xml" Id="R77095560cb1d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95560cb1d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e207641c84c79" /><Relationship Type="http://schemas.openxmlformats.org/officeDocument/2006/relationships/notesSlide" Target="/ppt/notesSlides/notesSlide1.xml" Id="R92280881ca424a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46cd095dd436f" /><Relationship Type="http://schemas.openxmlformats.org/officeDocument/2006/relationships/notesSlide" Target="/ppt/notesSlides/notesSlide2.xml" Id="R6b0e7b7aad424f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fe1b2cd83408d" /><Relationship Type="http://schemas.openxmlformats.org/officeDocument/2006/relationships/notesSlide" Target="/ppt/notesSlides/notesSlide3.xml" Id="R6e02fc1e0cc14f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0d8a200634d71" /><Relationship Type="http://schemas.openxmlformats.org/officeDocument/2006/relationships/image" Target="/ppt/media/image.png" Id="Rfb15e4077aff4c9b" /><Relationship Type="http://schemas.openxmlformats.org/officeDocument/2006/relationships/notesSlide" Target="/ppt/notesSlides/notesSlide4.xml" Id="Rfa52e9eb3d2a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98a2a20494f3a" /><Relationship Type="http://schemas.openxmlformats.org/officeDocument/2006/relationships/notesSlide" Target="/ppt/notesSlides/notesSlide5.xml" Id="R33b7462e2f8a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85aba26774ead" /><Relationship Type="http://schemas.openxmlformats.org/officeDocument/2006/relationships/notesSlide" Target="/ppt/notesSlides/notesSlide6.xml" Id="R366b0e0f4b124c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c67b18a0e41fc" /><Relationship Type="http://schemas.openxmlformats.org/officeDocument/2006/relationships/image" Target="/ppt/media/image2.png" Id="R5faf2ee1721d4be7" /><Relationship Type="http://schemas.openxmlformats.org/officeDocument/2006/relationships/notesSlide" Target="/ppt/notesSlides/notesSlide7.xml" Id="R3d04f0ae360243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855a69fa84678" /><Relationship Type="http://schemas.openxmlformats.org/officeDocument/2006/relationships/notesSlide" Target="/ppt/notesSlides/notesSlide8.xml" Id="R7850b5f0a66d46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0b494682046cb" /><Relationship Type="http://schemas.openxmlformats.org/officeDocument/2006/relationships/notesSlide" Target="/ppt/notesSlides/notesSlide9.xml" Id="Rbf0f8c0efa9445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50b90237d4711" /><Relationship Type="http://schemas.openxmlformats.org/officeDocument/2006/relationships/notesSlide" Target="/ppt/notesSlides/notesSlide10.xml" Id="Rf64c0866d4504c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h9z71ms">
            <a:extLst xmlns:a="http://schemas.openxmlformats.org/drawingml/2006/main">
              <a:ext uri="{FF2B5EF4-FFF2-40B4-BE49-F238E27FC236}">
                <a16:creationId xmlns:a16="http://schemas.microsoft.com/office/drawing/2014/main" id="{22D7EA20-14DD-4F1B-9B4A-4D9B1240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AWS 雲端工程實戰作品</a:t>
            </a:r>
          </a:p>
        </p:txBody>
      </p:sp>
      <p:sp>
        <p:nvSpPr>
          <p:cNvPr id="2" name="text-scibmmo">
            <a:extLst xmlns:a="http://schemas.openxmlformats.org/drawingml/2006/main">
              <a:ext uri="{FF2B5EF4-FFF2-40B4-BE49-F238E27FC236}">
                <a16:creationId xmlns:a16="http://schemas.microsoft.com/office/drawing/2014/main" id="{3377DDC4-BA9A-4754-A9D5-E4740831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3" name="text-v6aszg5">
            <a:extLst xmlns:a="http://schemas.openxmlformats.org/drawingml/2006/main">
              <a:ext uri="{FF2B5EF4-FFF2-40B4-BE49-F238E27FC236}">
                <a16:creationId xmlns:a16="http://schemas.microsoft.com/office/drawing/2014/main" id="{A69062F6-5736-417B-911D-1E21F15B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多人 AI 故事平台的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可部署、可觀測實證</a:t>
            </a:r>
          </a:p>
        </p:txBody>
      </p:sp>
      <p:sp>
        <p:nvSpPr>
          <p:cNvPr id="4" name="text-0h4dg0w">
            <a:extLst xmlns:a="http://schemas.openxmlformats.org/drawingml/2006/main">
              <a:ext uri="{FF2B5EF4-FFF2-40B4-BE49-F238E27FC236}">
                <a16:creationId xmlns:a16="http://schemas.microsoft.com/office/drawing/2014/main" id="{866B1DBE-EA55-4949-AE76-6A41875B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產品展示｜2026.08.24</a:t>
            </a:r>
          </a:p>
        </p:txBody>
      </p:sp>
      <p:sp>
        <p:nvSpPr>
          <p:cNvPr id="5" name="shape-4cr3a2j">
            <a:extLst xmlns:a="http://schemas.openxmlformats.org/drawingml/2006/main">
              <a:ext uri="{FF2B5EF4-FFF2-40B4-BE49-F238E27FC236}">
                <a16:creationId xmlns:a16="http://schemas.microsoft.com/office/drawing/2014/main" id="{15E59B42-4794-4C10-AD47-7EF0C2C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"/>
            <a:ext cx="5391150" cy="5619750"/>
          </a:xfrm>
          <a:prstGeom xmlns:a="http://schemas.openxmlformats.org/drawingml/2006/main" prst="roundRect">
            <a:avLst>
              <a:gd name="adj" fmla="val 141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6" name="text-bch6ccf">
            <a:extLst xmlns:a="http://schemas.openxmlformats.org/drawingml/2006/main">
              <a:ext uri="{FF2B5EF4-FFF2-40B4-BE49-F238E27FC236}">
                <a16:creationId xmlns:a16="http://schemas.microsoft.com/office/drawing/2014/main" id="{2AD67A97-5325-4DBE-B1E7-898DE039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28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PRODUCT</a:t>
            </a:r>
          </a:p>
        </p:txBody>
      </p:sp>
      <p:sp>
        <p:nvSpPr>
          <p:cNvPr id="7" name="text-otx1nwx">
            <a:extLst xmlns:a="http://schemas.openxmlformats.org/drawingml/2006/main">
              <a:ext uri="{FF2B5EF4-FFF2-40B4-BE49-F238E27FC236}">
                <a16:creationId xmlns:a16="http://schemas.microsoft.com/office/drawing/2014/main" id="{B7EDA5B9-A6C4-4F62-925B-EBB1954D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20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AWS</a:t>
            </a:r>
          </a:p>
        </p:txBody>
      </p:sp>
      <p:sp>
        <p:nvSpPr>
          <p:cNvPr id="8" name="text-8hfftqt">
            <a:extLst xmlns:a="http://schemas.openxmlformats.org/drawingml/2006/main">
              <a:ext uri="{FF2B5EF4-FFF2-40B4-BE49-F238E27FC236}">
                <a16:creationId xmlns:a16="http://schemas.microsoft.com/office/drawing/2014/main" id="{0EED0A90-1F39-4B3F-8C40-06E91E2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3–5 人共演 Web App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private data × Bedrock × CloudWatch</a:t>
            </a:r>
          </a:p>
        </p:txBody>
      </p:sp>
      <p:sp>
        <p:nvSpPr>
          <p:cNvPr id="9" name="text-dumoujp">
            <a:extLst xmlns:a="http://schemas.openxmlformats.org/drawingml/2006/main">
              <a:ext uri="{FF2B5EF4-FFF2-40B4-BE49-F238E27FC236}">
                <a16:creationId xmlns:a16="http://schemas.microsoft.com/office/drawing/2014/main" id="{CDE08774-1AB7-438E-81B4-66195F3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可玩 · 可驗證 · 可持續演進</a:t>
            </a:r>
          </a:p>
        </p:txBody>
      </p:sp>
      <p:sp>
        <p:nvSpPr>
          <p:cNvPr id="10" name="text-lrs4115">
            <a:extLst xmlns:a="http://schemas.openxmlformats.org/drawingml/2006/main">
              <a:ext uri="{FF2B5EF4-FFF2-40B4-BE49-F238E27FC236}">
                <a16:creationId xmlns:a16="http://schemas.microsoft.com/office/drawing/2014/main" id="{B769D776-D712-420E-B887-33BEED05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595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A463532-EA30-4DDE-80AD-68738CE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多人共演，把生成式 AI 變成可共同決策的產品</a:t>
            </a:r>
          </a:p>
        </p:txBody>
      </p:sp>
      <p:sp>
        <p:nvSpPr>
          <p:cNvPr id="2" name="shape-hvtep4u">
            <a:extLst xmlns:a="http://schemas.openxmlformats.org/drawingml/2006/main">
              <a:ext uri="{FF2B5EF4-FFF2-40B4-BE49-F238E27FC236}">
                <a16:creationId xmlns:a16="http://schemas.microsoft.com/office/drawing/2014/main" id="{DE81DA5F-7BE7-436C-B113-DD259553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391br5j">
            <a:extLst xmlns:a="http://schemas.openxmlformats.org/drawingml/2006/main">
              <a:ext uri="{FF2B5EF4-FFF2-40B4-BE49-F238E27FC236}">
                <a16:creationId xmlns:a16="http://schemas.microsoft.com/office/drawing/2014/main" id="{91608972-C7E5-4808-B1A8-A28FDE36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enx0gza">
            <a:extLst xmlns:a="http://schemas.openxmlformats.org/drawingml/2006/main">
              <a:ext uri="{FF2B5EF4-FFF2-40B4-BE49-F238E27FC236}">
                <a16:creationId xmlns:a16="http://schemas.microsoft.com/office/drawing/2014/main" id="{4CE345A0-9AFE-490A-80B8-79B1741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5" name="text-putxkuy">
            <a:extLst xmlns:a="http://schemas.openxmlformats.org/drawingml/2006/main">
              <a:ext uri="{FF2B5EF4-FFF2-40B4-BE49-F238E27FC236}">
                <a16:creationId xmlns:a16="http://schemas.microsoft.com/office/drawing/2014/main" id="{5B63C492-CBB0-48FD-9897-F9B1E1E6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text-xhuv9w9">
            <a:extLst xmlns:a="http://schemas.openxmlformats.org/drawingml/2006/main">
              <a:ext uri="{FF2B5EF4-FFF2-40B4-BE49-F238E27FC236}">
                <a16:creationId xmlns:a16="http://schemas.microsoft.com/office/drawing/2014/main" id="{01F3A0B6-29EB-4320-BC7B-433BD529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使用者痛點</a:t>
            </a:r>
          </a:p>
        </p:txBody>
      </p:sp>
      <p:sp>
        <p:nvSpPr>
          <p:cNvPr id="7" name="shape-mgyynfm">
            <a:extLst xmlns:a="http://schemas.openxmlformats.org/drawingml/2006/main">
              <a:ext uri="{FF2B5EF4-FFF2-40B4-BE49-F238E27FC236}">
                <a16:creationId xmlns:a16="http://schemas.microsoft.com/office/drawing/2014/main" id="{917E0CA0-DF61-47FB-8999-B6A21EB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0670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8" name="text-lg4q88g">
            <a:extLst xmlns:a="http://schemas.openxmlformats.org/drawingml/2006/main">
              <a:ext uri="{FF2B5EF4-FFF2-40B4-BE49-F238E27FC236}">
                <a16:creationId xmlns:a16="http://schemas.microsoft.com/office/drawing/2014/main" id="{998F971F-0F6A-4816-949F-85E2425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遠端共創常被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狀態不同步與單人敘事打斷</a:t>
            </a:r>
          </a:p>
        </p:txBody>
      </p:sp>
      <p:sp>
        <p:nvSpPr>
          <p:cNvPr id="9" name="text-rd4qjs0">
            <a:extLst xmlns:a="http://schemas.openxmlformats.org/drawingml/2006/main">
              <a:ext uri="{FF2B5EF4-FFF2-40B4-BE49-F238E27FC236}">
                <a16:creationId xmlns:a16="http://schemas.microsoft.com/office/drawing/2014/main" id="{2388FF01-5EFE-4535-8C0D-AD13A8FB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466850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text-rnvl85d">
            <a:extLst xmlns:a="http://schemas.openxmlformats.org/drawingml/2006/main">
              <a:ext uri="{FF2B5EF4-FFF2-40B4-BE49-F238E27FC236}">
                <a16:creationId xmlns:a16="http://schemas.microsoft.com/office/drawing/2014/main" id="{F8E72AD4-C982-4AEE-87C3-3EE6B91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52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產品解法</a:t>
            </a:r>
          </a:p>
        </p:txBody>
      </p:sp>
      <p:sp>
        <p:nvSpPr>
          <p:cNvPr id="11" name="shape-7mml2gc">
            <a:extLst xmlns:a="http://schemas.openxmlformats.org/drawingml/2006/main">
              <a:ext uri="{FF2B5EF4-FFF2-40B4-BE49-F238E27FC236}">
                <a16:creationId xmlns:a16="http://schemas.microsoft.com/office/drawing/2014/main" id="{14F7872A-BCB3-4238-9017-F399A614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52750"/>
            <a:ext cx="30670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2" name="text-xu0t7ws">
            <a:extLst xmlns:a="http://schemas.openxmlformats.org/drawingml/2006/main">
              <a:ext uri="{FF2B5EF4-FFF2-40B4-BE49-F238E27FC236}">
                <a16:creationId xmlns:a16="http://schemas.microsoft.com/office/drawing/2014/main" id="{43D2CF5F-454C-4587-9923-095F70EF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伺服器統一規則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AI 專注生成受約束的故事</a:t>
            </a:r>
          </a:p>
        </p:txBody>
      </p:sp>
      <p:sp>
        <p:nvSpPr>
          <p:cNvPr id="13" name="text-ab4xew8">
            <a:extLst xmlns:a="http://schemas.openxmlformats.org/drawingml/2006/main">
              <a:ext uri="{FF2B5EF4-FFF2-40B4-BE49-F238E27FC236}">
                <a16:creationId xmlns:a16="http://schemas.microsoft.com/office/drawing/2014/main" id="{9E65DD69-C50E-4637-95F5-1402728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4" name="text-vavvhbi">
            <a:extLst xmlns:a="http://schemas.openxmlformats.org/drawingml/2006/main">
              <a:ext uri="{FF2B5EF4-FFF2-40B4-BE49-F238E27FC236}">
                <a16:creationId xmlns:a16="http://schemas.microsoft.com/office/drawing/2014/main" id="{45E38935-E246-481A-A1EA-9946B98F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52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商業延伸</a:t>
            </a:r>
          </a:p>
        </p:txBody>
      </p:sp>
      <p:sp>
        <p:nvSpPr>
          <p:cNvPr id="15" name="shape-0bbjv59">
            <a:extLst xmlns:a="http://schemas.openxmlformats.org/drawingml/2006/main">
              <a:ext uri="{FF2B5EF4-FFF2-40B4-BE49-F238E27FC236}">
                <a16:creationId xmlns:a16="http://schemas.microsoft.com/office/drawing/2014/main" id="{15AECCA8-9231-493B-8443-DA6F87E2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30670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6" name="text-f0wsens">
            <a:extLst xmlns:a="http://schemas.openxmlformats.org/drawingml/2006/main">
              <a:ext uri="{FF2B5EF4-FFF2-40B4-BE49-F238E27FC236}">
                <a16:creationId xmlns:a16="http://schemas.microsoft.com/office/drawing/2014/main" id="{9F3E15D4-5644-401A-85CE-B76933C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培訓模擬 · 共創工作坊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互動內容與客戶參與</a:t>
            </a:r>
          </a:p>
        </p:txBody>
      </p:sp>
      <p:sp>
        <p:nvSpPr>
          <p:cNvPr id="17" name="text-x3ugnoz">
            <a:extLst xmlns:a="http://schemas.openxmlformats.org/drawingml/2006/main">
              <a:ext uri="{FF2B5EF4-FFF2-40B4-BE49-F238E27FC236}">
                <a16:creationId xmlns:a16="http://schemas.microsoft.com/office/drawing/2014/main" id="{E3602EEE-9D3A-4F50-ACD1-A2547397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同一核心可從娛樂體驗延伸到情境訓練與共創服務</a:t>
            </a:r>
          </a:p>
        </p:txBody>
      </p:sp>
    </p:spTree>
    <p:extLst>
      <p:ext uri="{BB962C8B-B14F-4D97-AF65-F5344CB8AC3E}">
        <p14:creationId xmlns:p14="http://schemas.microsoft.com/office/powerpoint/2010/main" val="101848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04E1453-BD8D-45E9-905A-7C94699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玩家只看見故事流程，複雜度留在服務端</a:t>
            </a:r>
          </a:p>
        </p:txBody>
      </p:sp>
      <p:sp>
        <p:nvSpPr>
          <p:cNvPr id="2" name="shape-f9c3bue">
            <a:extLst xmlns:a="http://schemas.openxmlformats.org/drawingml/2006/main">
              <a:ext uri="{FF2B5EF4-FFF2-40B4-BE49-F238E27FC236}">
                <a16:creationId xmlns:a16="http://schemas.microsoft.com/office/drawing/2014/main" id="{61436E50-F512-4D16-9E70-C88F66D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x2fg7s1">
            <a:extLst xmlns:a="http://schemas.openxmlformats.org/drawingml/2006/main">
              <a:ext uri="{FF2B5EF4-FFF2-40B4-BE49-F238E27FC236}">
                <a16:creationId xmlns:a16="http://schemas.microsoft.com/office/drawing/2014/main" id="{6D3EE7D1-B4B6-419D-AAA7-736E24B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rzq0gtj">
            <a:extLst xmlns:a="http://schemas.openxmlformats.org/drawingml/2006/main">
              <a:ext uri="{FF2B5EF4-FFF2-40B4-BE49-F238E27FC236}">
                <a16:creationId xmlns:a16="http://schemas.microsoft.com/office/drawing/2014/main" id="{0130C6C2-C670-4715-84C4-7771F40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5" name="shape-boiwsjy">
            <a:extLst xmlns:a="http://schemas.openxmlformats.org/drawingml/2006/main">
              <a:ext uri="{FF2B5EF4-FFF2-40B4-BE49-F238E27FC236}">
                <a16:creationId xmlns:a16="http://schemas.microsoft.com/office/drawing/2014/main" id="{6E673CC8-BDE3-4E4B-85D7-5DB6B8FE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248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</p:sp>
      <p:sp>
        <p:nvSpPr>
          <p:cNvPr id="6" name="text-98n577u">
            <a:extLst xmlns:a="http://schemas.openxmlformats.org/drawingml/2006/main">
              <a:ext uri="{FF2B5EF4-FFF2-40B4-BE49-F238E27FC236}">
                <a16:creationId xmlns:a16="http://schemas.microsoft.com/office/drawing/2014/main" id="{2D204F79-2DCD-44A4-A6F8-78E4E7B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38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AWS runtime</a:t>
            </a:r>
          </a:p>
        </p:txBody>
      </p:sp>
      <p:sp>
        <p:nvSpPr>
          <p:cNvPr id="7" name="shape-adtlapr">
            <a:extLst xmlns:a="http://schemas.openxmlformats.org/drawingml/2006/main">
              <a:ext uri="{FF2B5EF4-FFF2-40B4-BE49-F238E27FC236}">
                <a16:creationId xmlns:a16="http://schemas.microsoft.com/office/drawing/2014/main" id="{89160B86-EA96-41D2-941C-F6740F68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5DEE7"/>
            </a:solidFill>
            <a:prstDash val="solid"/>
          </a:ln>
        </p:spPr>
      </p:sp>
      <p:sp>
        <p:nvSpPr>
          <p:cNvPr id="8" name="text-pghhlna">
            <a:extLst xmlns:a="http://schemas.openxmlformats.org/drawingml/2006/main">
              <a:ext uri="{FF2B5EF4-FFF2-40B4-BE49-F238E27FC236}">
                <a16:creationId xmlns:a16="http://schemas.microsoft.com/office/drawing/2014/main" id="{DF03FD94-6D97-4389-913F-730E2F05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玩家介面</a:t>
            </a:r>
          </a:p>
        </p:txBody>
      </p:sp>
      <p:sp>
        <p:nvSpPr>
          <p:cNvPr id="9" name="text-odjcduv">
            <a:extLst xmlns:a="http://schemas.openxmlformats.org/drawingml/2006/main">
              <a:ext uri="{FF2B5EF4-FFF2-40B4-BE49-F238E27FC236}">
                <a16:creationId xmlns:a16="http://schemas.microsoft.com/office/drawing/2014/main" id="{DDC668F0-9ECF-4768-8561-93A24C97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Create／Join</a:t>
            </a:r>
          </a:p>
        </p:txBody>
      </p:sp>
      <p:sp>
        <p:nvSpPr>
          <p:cNvPr id="10" name="shape-e926upu">
            <a:extLst xmlns:a="http://schemas.openxmlformats.org/drawingml/2006/main">
              <a:ext uri="{FF2B5EF4-FFF2-40B4-BE49-F238E27FC236}">
                <a16:creationId xmlns:a16="http://schemas.microsoft.com/office/drawing/2014/main" id="{C4A1F8EE-165C-4FC3-9702-55685FCB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5DEE7"/>
            </a:solidFill>
            <a:prstDash val="solid"/>
          </a:ln>
        </p:spPr>
      </p:sp>
      <p:sp>
        <p:nvSpPr>
          <p:cNvPr id="11" name="text-lusmqv3">
            <a:extLst xmlns:a="http://schemas.openxmlformats.org/drawingml/2006/main">
              <a:ext uri="{FF2B5EF4-FFF2-40B4-BE49-F238E27FC236}">
                <a16:creationId xmlns:a16="http://schemas.microsoft.com/office/drawing/2014/main" id="{B931775E-A322-40E0-A03E-3B9AC199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共同回合</a:t>
            </a:r>
          </a:p>
        </p:txBody>
      </p:sp>
      <p:sp>
        <p:nvSpPr>
          <p:cNvPr id="12" name="text-obvcy81">
            <a:extLst xmlns:a="http://schemas.openxmlformats.org/drawingml/2006/main">
              <a:ext uri="{FF2B5EF4-FFF2-40B4-BE49-F238E27FC236}">
                <a16:creationId xmlns:a16="http://schemas.microsoft.com/office/drawing/2014/main" id="{11F85446-EE0F-49EB-932F-DD0FD791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Action／Dice</a:t>
            </a:r>
          </a:p>
        </p:txBody>
      </p:sp>
      <p:sp>
        <p:nvSpPr>
          <p:cNvPr id="13" name="shape-o67ylnq">
            <a:extLst xmlns:a="http://schemas.openxmlformats.org/drawingml/2006/main">
              <a:ext uri="{FF2B5EF4-FFF2-40B4-BE49-F238E27FC236}">
                <a16:creationId xmlns:a16="http://schemas.microsoft.com/office/drawing/2014/main" id="{75D1EF82-47CD-4417-A7B9-32BD4CEC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4" name="text-ljdh18v">
            <a:extLst xmlns:a="http://schemas.openxmlformats.org/drawingml/2006/main">
              <a:ext uri="{FF2B5EF4-FFF2-40B4-BE49-F238E27FC236}">
                <a16:creationId xmlns:a16="http://schemas.microsoft.com/office/drawing/2014/main" id="{7FC07116-F910-4EA5-A47C-C8D4F43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穩定 API</a:t>
            </a:r>
          </a:p>
        </p:txBody>
      </p:sp>
      <p:sp>
        <p:nvSpPr>
          <p:cNvPr id="15" name="text-w5tw016">
            <a:extLst xmlns:a="http://schemas.openxmlformats.org/drawingml/2006/main">
              <a:ext uri="{FF2B5EF4-FFF2-40B4-BE49-F238E27FC236}">
                <a16:creationId xmlns:a16="http://schemas.microsoft.com/office/drawing/2014/main" id="{05ED0670-8821-4F1D-A2C9-2692588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canonical state</a:t>
            </a:r>
          </a:p>
        </p:txBody>
      </p:sp>
      <p:sp>
        <p:nvSpPr>
          <p:cNvPr id="16" name="shape-6slh706">
            <a:extLst xmlns:a="http://schemas.openxmlformats.org/drawingml/2006/main">
              <a:ext uri="{FF2B5EF4-FFF2-40B4-BE49-F238E27FC236}">
                <a16:creationId xmlns:a16="http://schemas.microsoft.com/office/drawing/2014/main" id="{44CFDA6F-1FE1-4F3A-BC02-2C31AE49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4763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7" name="text-rbnuv5k">
            <a:extLst xmlns:a="http://schemas.openxmlformats.org/drawingml/2006/main">
              <a:ext uri="{FF2B5EF4-FFF2-40B4-BE49-F238E27FC236}">
                <a16:creationId xmlns:a16="http://schemas.microsoft.com/office/drawing/2014/main" id="{D4E07E17-88B8-4CD4-8166-94A1C36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7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HTTPS adapter</a:t>
            </a:r>
          </a:p>
        </p:txBody>
      </p:sp>
      <p:sp>
        <p:nvSpPr>
          <p:cNvPr id="18" name="text-djr0vfr">
            <a:extLst xmlns:a="http://schemas.openxmlformats.org/drawingml/2006/main">
              <a:ext uri="{FF2B5EF4-FFF2-40B4-BE49-F238E27FC236}">
                <a16:creationId xmlns:a16="http://schemas.microsoft.com/office/drawing/2014/main" id="{EF8D8511-83B3-4DF5-8960-88F8CEDA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/api/v1</a:t>
            </a:r>
          </a:p>
        </p:txBody>
      </p:sp>
      <p:sp>
        <p:nvSpPr>
          <p:cNvPr id="19" name="shape-bfr79jb">
            <a:extLst xmlns:a="http://schemas.openxmlformats.org/drawingml/2006/main">
              <a:ext uri="{FF2B5EF4-FFF2-40B4-BE49-F238E27FC236}">
                <a16:creationId xmlns:a16="http://schemas.microsoft.com/office/drawing/2014/main" id="{AD31AFC6-BB41-4602-82C5-1802238B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57425"/>
            <a:ext cx="1238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20" name="text-gbhhljs">
            <a:extLst xmlns:a="http://schemas.openxmlformats.org/drawingml/2006/main">
              <a:ext uri="{FF2B5EF4-FFF2-40B4-BE49-F238E27FC236}">
                <a16:creationId xmlns:a16="http://schemas.microsoft.com/office/drawing/2014/main" id="{606F9242-6240-4CFE-9A61-CDB8D8E2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98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FastAPI</a:t>
            </a:r>
          </a:p>
        </p:txBody>
      </p:sp>
      <p:sp>
        <p:nvSpPr>
          <p:cNvPr id="21" name="text-9yi5ihn">
            <a:extLst xmlns:a="http://schemas.openxmlformats.org/drawingml/2006/main">
              <a:ext uri="{FF2B5EF4-FFF2-40B4-BE49-F238E27FC236}">
                <a16:creationId xmlns:a16="http://schemas.microsoft.com/office/drawing/2014/main" id="{B5E017D3-1570-41E1-AE13-7B71F84D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00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規則與 session</a:t>
            </a:r>
          </a:p>
        </p:txBody>
      </p:sp>
      <p:sp>
        <p:nvSpPr>
          <p:cNvPr id="22" name="shape-i3e1ht5">
            <a:extLst xmlns:a="http://schemas.openxmlformats.org/drawingml/2006/main">
              <a:ext uri="{FF2B5EF4-FFF2-40B4-BE49-F238E27FC236}">
                <a16:creationId xmlns:a16="http://schemas.microsoft.com/office/drawing/2014/main" id="{D99FF1F4-0BA6-4685-9FDE-C16B377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57425"/>
            <a:ext cx="1333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23" name="text-6qydpsu">
            <a:extLst xmlns:a="http://schemas.openxmlformats.org/drawingml/2006/main">
              <a:ext uri="{FF2B5EF4-FFF2-40B4-BE49-F238E27FC236}">
                <a16:creationId xmlns:a16="http://schemas.microsoft.com/office/drawing/2014/main" id="{75B44850-EDC0-4549-BA8E-DBC51C3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3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AWS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adapters</a:t>
            </a:r>
          </a:p>
        </p:txBody>
      </p:sp>
      <p:sp>
        <p:nvSpPr>
          <p:cNvPr id="24" name="text-t8jw0rs">
            <a:extLst xmlns:a="http://schemas.openxmlformats.org/drawingml/2006/main">
              <a:ext uri="{FF2B5EF4-FFF2-40B4-BE49-F238E27FC236}">
                <a16:creationId xmlns:a16="http://schemas.microsoft.com/office/drawing/2014/main" id="{31B2D4BF-DD67-4E13-ABB7-508DAD3D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813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RDS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Bedrock</a:t>
            </a:r>
          </a:p>
        </p:txBody>
      </p:sp>
      <p:cxnSp>
        <p:nvCxnSpPr>
          <p:cNvPr id="11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085975" y="28479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C"/>
            </a:solidFill>
            <a:prstDash val="solid"/>
            <a:tailEnd type="arrow" w="med" len="med"/>
          </a:ln>
        </p:spPr>
      </p:cxnSp>
      <p:cxnSp>
        <p:nvCxnSpPr>
          <p:cNvPr id="12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14775" y="28479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C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743575" y="28479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C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572375" y="284797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5B5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753600" y="28479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5B5"/>
            </a:solidFill>
            <a:prstDash val="solid"/>
            <a:tailEnd type="arrow" w="med" len="med"/>
          </a:ln>
        </p:spPr>
      </p:cxnSp>
      <p:sp>
        <p:nvSpPr>
          <p:cNvPr id="30" name="shape-qgux3cd">
            <a:extLst xmlns:a="http://schemas.openxmlformats.org/drawingml/2006/main">
              <a:ext uri="{FF2B5EF4-FFF2-40B4-BE49-F238E27FC236}">
                <a16:creationId xmlns:a16="http://schemas.microsoft.com/office/drawing/2014/main" id="{24EAB3BD-2D7C-4CAA-991B-708884E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1" name="text-gt78n5e">
            <a:extLst xmlns:a="http://schemas.openxmlformats.org/drawingml/2006/main">
              <a:ext uri="{FF2B5EF4-FFF2-40B4-BE49-F238E27FC236}">
                <a16:creationId xmlns:a16="http://schemas.microsoft.com/office/drawing/2014/main" id="{11B2D5B0-C338-441E-84CD-29151491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瀏覽器不持有 AWS credential</a:t>
            </a:r>
          </a:p>
        </p:txBody>
      </p:sp>
      <p:sp>
        <p:nvSpPr>
          <p:cNvPr id="32" name="shape-z1dpmvz">
            <a:extLst xmlns:a="http://schemas.openxmlformats.org/drawingml/2006/main">
              <a:ext uri="{FF2B5EF4-FFF2-40B4-BE49-F238E27FC236}">
                <a16:creationId xmlns:a16="http://schemas.microsoft.com/office/drawing/2014/main" id="{3F9F7410-A4E8-4367-A570-7560EE0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16"/>
          </a:solidFill>
          <a:ln xmlns:a="http://schemas.openxmlformats.org/drawingml/2006/main" w="0">
            <a:solidFill>
              <a:srgbClr val="ED7D16"/>
            </a:solidFill>
            <a:prstDash val="solid"/>
          </a:ln>
        </p:spPr>
      </p:sp>
      <p:sp>
        <p:nvSpPr>
          <p:cNvPr id="33" name="text-6dccyrl">
            <a:extLst xmlns:a="http://schemas.openxmlformats.org/drawingml/2006/main">
              <a:ext uri="{FF2B5EF4-FFF2-40B4-BE49-F238E27FC236}">
                <a16:creationId xmlns:a16="http://schemas.microsoft.com/office/drawing/2014/main" id="{C099DFD5-F4BC-4FDB-906B-ADD183C7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狀態由 server 判定</a:t>
            </a:r>
          </a:p>
        </p:txBody>
      </p:sp>
      <p:sp>
        <p:nvSpPr>
          <p:cNvPr id="34" name="shape-36wgb1t">
            <a:extLst xmlns:a="http://schemas.openxmlformats.org/drawingml/2006/main">
              <a:ext uri="{FF2B5EF4-FFF2-40B4-BE49-F238E27FC236}">
                <a16:creationId xmlns:a16="http://schemas.microsoft.com/office/drawing/2014/main" id="{B9D455DA-B097-44AD-8D7D-A16D42B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5" name="text-ze3gj6d">
            <a:extLst xmlns:a="http://schemas.openxmlformats.org/drawingml/2006/main">
              <a:ext uri="{FF2B5EF4-FFF2-40B4-BE49-F238E27FC236}">
                <a16:creationId xmlns:a16="http://schemas.microsoft.com/office/drawing/2014/main" id="{0E73856A-D069-4BEC-855D-CC2F9F93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AI 不直接改寫規則</a:t>
            </a:r>
          </a:p>
        </p:txBody>
      </p:sp>
      <p:sp>
        <p:nvSpPr>
          <p:cNvPr id="36" name="text-wkqcf96">
            <a:extLst xmlns:a="http://schemas.openxmlformats.org/drawingml/2006/main">
              <a:ext uri="{FF2B5EF4-FFF2-40B4-BE49-F238E27FC236}">
                <a16:creationId xmlns:a16="http://schemas.microsoft.com/office/drawing/2014/main" id="{65D24CED-A98D-4997-B003-43E812E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玩家共同決策 → 後端結算 → Bedrock 敘事 → 所有人同步看到同一結果</a:t>
            </a:r>
          </a:p>
        </p:txBody>
      </p:sp>
    </p:spTree>
    <p:extLst>
      <p:ext uri="{BB962C8B-B14F-4D97-AF65-F5344CB8AC3E}">
        <p14:creationId xmlns:p14="http://schemas.microsoft.com/office/powerpoint/2010/main" val="396544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E559ED7-C2EF-4824-AF4C-0999A2F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四位真實玩家已在 AWS 完成四回合與結局</a:t>
            </a:r>
          </a:p>
        </p:txBody>
      </p:sp>
      <p:sp>
        <p:nvSpPr>
          <p:cNvPr id="2" name="shape-u7madyb">
            <a:extLst xmlns:a="http://schemas.openxmlformats.org/drawingml/2006/main">
              <a:ext uri="{FF2B5EF4-FFF2-40B4-BE49-F238E27FC236}">
                <a16:creationId xmlns:a16="http://schemas.microsoft.com/office/drawing/2014/main" id="{E92BFE48-5FBC-4E32-BA71-F4B73535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j2kxp9j">
            <a:extLst xmlns:a="http://schemas.openxmlformats.org/drawingml/2006/main">
              <a:ext uri="{FF2B5EF4-FFF2-40B4-BE49-F238E27FC236}">
                <a16:creationId xmlns:a16="http://schemas.microsoft.com/office/drawing/2014/main" id="{9E245B4E-BD14-4F1F-9518-AE5D508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99x1ws9">
            <a:extLst xmlns:a="http://schemas.openxmlformats.org/drawingml/2006/main">
              <a:ext uri="{FF2B5EF4-FFF2-40B4-BE49-F238E27FC236}">
                <a16:creationId xmlns:a16="http://schemas.microsoft.com/office/drawing/2014/main" id="{34329173-A39B-451B-97AD-96A50890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5" name="shape-16g77lw">
            <a:extLst xmlns:a="http://schemas.openxmlformats.org/drawingml/2006/main">
              <a:ext uri="{FF2B5EF4-FFF2-40B4-BE49-F238E27FC236}">
                <a16:creationId xmlns:a16="http://schemas.microsoft.com/office/drawing/2014/main" id="{BE59E270-E98C-440A-8C40-B7AB166E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07442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C1B1B"/>
          </a:solidFill>
          <a:ln xmlns:a="http://schemas.openxmlformats.org/drawingml/2006/main" w="0">
            <a:solidFill>
              <a:srgbClr val="0C1B1B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5e4077aff4c9b"/>
          <a:stretch xmlns:a="http://schemas.openxmlformats.org/drawingml/2006/main"/>
        </p:blipFill>
        <p:spPr>
          <a:xfrm xmlns:a="http://schemas.openxmlformats.org/drawingml/2006/main">
            <a:off x="3044218" y="1219200"/>
            <a:ext cx="6103565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7" name="shape-4t05ki0">
            <a:extLst xmlns:a="http://schemas.openxmlformats.org/drawingml/2006/main">
              <a:ext uri="{FF2B5EF4-FFF2-40B4-BE49-F238E27FC236}">
                <a16:creationId xmlns:a16="http://schemas.microsoft.com/office/drawing/2014/main" id="{61E5F28A-3D32-470F-A67E-765C91CF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8" name="text-zlafnz5">
            <a:extLst xmlns:a="http://schemas.openxmlformats.org/drawingml/2006/main">
              <a:ext uri="{FF2B5EF4-FFF2-40B4-BE49-F238E27FC236}">
                <a16:creationId xmlns:a16="http://schemas.microsoft.com/office/drawing/2014/main" id="{C28CF3A3-1973-4ACD-B584-FC6C51C4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4 players · 4 rounds · PASS</a:t>
            </a:r>
          </a:p>
        </p:txBody>
      </p:sp>
    </p:spTree>
    <p:extLst>
      <p:ext uri="{BB962C8B-B14F-4D97-AF65-F5344CB8AC3E}">
        <p14:creationId xmlns:p14="http://schemas.microsoft.com/office/powerpoint/2010/main" val="1803276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63ACC86-B11B-4BB6-9F08-4A0B3405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核心原則：規則、資料與 AI 各守自己的邊界</a:t>
            </a:r>
          </a:p>
        </p:txBody>
      </p:sp>
      <p:sp>
        <p:nvSpPr>
          <p:cNvPr id="2" name="shape-j1u4w60">
            <a:extLst xmlns:a="http://schemas.openxmlformats.org/drawingml/2006/main">
              <a:ext uri="{FF2B5EF4-FFF2-40B4-BE49-F238E27FC236}">
                <a16:creationId xmlns:a16="http://schemas.microsoft.com/office/drawing/2014/main" id="{72454666-42A6-4C36-9337-120F7ECC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6nfrtns">
            <a:extLst xmlns:a="http://schemas.openxmlformats.org/drawingml/2006/main">
              <a:ext uri="{FF2B5EF4-FFF2-40B4-BE49-F238E27FC236}">
                <a16:creationId xmlns:a16="http://schemas.microsoft.com/office/drawing/2014/main" id="{78967A88-2625-4D9F-BC5E-016A3CC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7zuyhi7">
            <a:extLst xmlns:a="http://schemas.openxmlformats.org/drawingml/2006/main">
              <a:ext uri="{FF2B5EF4-FFF2-40B4-BE49-F238E27FC236}">
                <a16:creationId xmlns:a16="http://schemas.microsoft.com/office/drawing/2014/main" id="{EF6D0158-F082-4DC6-A68D-90A87C4B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39" name="app-arrow-1">
            <a:extLst xmlns:a="http://schemas.openxmlformats.org/drawingml/2006/main">
              <a:ext uri="{FF2B5EF4-FFF2-40B4-BE49-F238E27FC236}">
                <a16:creationId xmlns:a16="http://schemas.microsoft.com/office/drawing/2014/main" id="{48F89DDB-CE43-4282-B90B-9B89706C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76550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A91"/>
          </a:solidFill>
          <a:ln xmlns:a="http://schemas.openxmlformats.org/drawingml/2006/main" w="0">
            <a:solidFill>
              <a:srgbClr val="5F7A91"/>
            </a:solidFill>
            <a:prstDash val="solid"/>
          </a:ln>
        </p:spPr>
      </p:sp>
      <p:sp>
        <p:nvSpPr>
          <p:cNvPr id="40" name="app-arrow-2">
            <a:extLst xmlns:a="http://schemas.openxmlformats.org/drawingml/2006/main">
              <a:ext uri="{FF2B5EF4-FFF2-40B4-BE49-F238E27FC236}">
                <a16:creationId xmlns:a16="http://schemas.microsoft.com/office/drawing/2014/main" id="{284FE792-B0BE-47F3-A0A7-1D61307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A91"/>
          </a:solidFill>
          <a:ln xmlns:a="http://schemas.openxmlformats.org/drawingml/2006/main" w="0">
            <a:solidFill>
              <a:srgbClr val="5F7A91"/>
            </a:solidFill>
            <a:prstDash val="solid"/>
          </a:ln>
        </p:spPr>
      </p:sp>
      <p:sp>
        <p:nvSpPr>
          <p:cNvPr id="41" name="app-arrow-3">
            <a:extLst xmlns:a="http://schemas.openxmlformats.org/drawingml/2006/main">
              <a:ext uri="{FF2B5EF4-FFF2-40B4-BE49-F238E27FC236}">
                <a16:creationId xmlns:a16="http://schemas.microsoft.com/office/drawing/2014/main" id="{8F463962-B04A-4892-9873-91721CE8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76550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A91"/>
          </a:solidFill>
          <a:ln xmlns:a="http://schemas.openxmlformats.org/drawingml/2006/main" w="0">
            <a:solidFill>
              <a:srgbClr val="5F7A91"/>
            </a:solidFill>
            <a:prstDash val="solid"/>
          </a:ln>
        </p:spPr>
      </p:sp>
      <p:sp>
        <p:nvSpPr>
          <p:cNvPr id="42" name="app-arrow-4">
            <a:extLst xmlns:a="http://schemas.openxmlformats.org/drawingml/2006/main">
              <a:ext uri="{FF2B5EF4-FFF2-40B4-BE49-F238E27FC236}">
                <a16:creationId xmlns:a16="http://schemas.microsoft.com/office/drawing/2014/main" id="{56CD04D0-266D-4837-A0F2-788C5EB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9B5F"/>
          </a:solidFill>
          <a:ln xmlns:a="http://schemas.openxmlformats.org/drawingml/2006/main" w="0">
            <a:solidFill>
              <a:srgbClr val="2E9B5F"/>
            </a:solidFill>
            <a:prstDash val="solid"/>
          </a:ln>
        </p:spPr>
      </p:sp>
      <p:sp>
        <p:nvSpPr>
          <p:cNvPr id="43" name="app-arrow-5">
            <a:extLst xmlns:a="http://schemas.openxmlformats.org/drawingml/2006/main">
              <a:ext uri="{FF2B5EF4-FFF2-40B4-BE49-F238E27FC236}">
                <a16:creationId xmlns:a16="http://schemas.microsoft.com/office/drawing/2014/main" id="{14DD96F1-924B-4C98-9B1B-27C47D89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44" name="ops-down-arrow">
            <a:extLst xmlns:a="http://schemas.openxmlformats.org/drawingml/2006/main">
              <a:ext uri="{FF2B5EF4-FFF2-40B4-BE49-F238E27FC236}">
                <a16:creationId xmlns:a16="http://schemas.microsoft.com/office/drawing/2014/main" id="{4F95B554-2ECE-4891-9405-57B13703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57600"/>
            <a:ext cx="171450" cy="876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8C5"/>
          </a:solidFill>
          <a:ln xmlns:a="http://schemas.openxmlformats.org/drawingml/2006/main" w="0">
            <a:solidFill>
              <a:srgbClr val="AAB8C5"/>
            </a:solidFill>
            <a:prstDash val="solid"/>
          </a:ln>
        </p:spPr>
      </p:sp>
      <p:sp>
        <p:nvSpPr>
          <p:cNvPr id="45" name="request-path-label">
            <a:extLst xmlns:a="http://schemas.openxmlformats.org/drawingml/2006/main">
              <a:ext uri="{FF2B5EF4-FFF2-40B4-BE49-F238E27FC236}">
                <a16:creationId xmlns:a16="http://schemas.microsoft.com/office/drawing/2014/main" id="{DE46E505-A835-41D8-B605-08CE027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產品請求路徑</a:t>
            </a:r>
          </a:p>
        </p:txBody>
      </p:sp>
      <p:sp>
        <p:nvSpPr>
          <p:cNvPr id="46" name="browser-surface">
            <a:extLst xmlns:a="http://schemas.openxmlformats.org/drawingml/2006/main">
              <a:ext uri="{FF2B5EF4-FFF2-40B4-BE49-F238E27FC236}">
                <a16:creationId xmlns:a16="http://schemas.microsoft.com/office/drawing/2014/main" id="{B6E8F992-41C6-45C8-8B1C-E2218C63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81125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C8D3DF"/>
            </a:solidFill>
            <a:prstDash val="solid"/>
          </a:ln>
        </p:spPr>
      </p:sp>
      <p:sp>
        <p:nvSpPr>
          <p:cNvPr id="47" name="browser-title">
            <a:extLst xmlns:a="http://schemas.openxmlformats.org/drawingml/2006/main">
              <a:ext uri="{FF2B5EF4-FFF2-40B4-BE49-F238E27FC236}">
                <a16:creationId xmlns:a16="http://schemas.microsoft.com/office/drawing/2014/main" id="{7734F49B-C4D8-49A1-9552-869F944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Browser</a:t>
            </a:r>
          </a:p>
        </p:txBody>
      </p:sp>
      <p:sp>
        <p:nvSpPr>
          <p:cNvPr id="48" name="browser-body">
            <a:extLst xmlns:a="http://schemas.openxmlformats.org/drawingml/2006/main">
              <a:ext uri="{FF2B5EF4-FFF2-40B4-BE49-F238E27FC236}">
                <a16:creationId xmlns:a16="http://schemas.microsoft.com/office/drawing/2014/main" id="{E994413E-3D70-40AB-B380-65549044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190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玩家介面</a:t>
            </a:r>
          </a:p>
        </p:txBody>
      </p:sp>
      <p:sp>
        <p:nvSpPr>
          <p:cNvPr id="49" name="fastapi-surface">
            <a:extLst xmlns:a="http://schemas.openxmlformats.org/drawingml/2006/main">
              <a:ext uri="{FF2B5EF4-FFF2-40B4-BE49-F238E27FC236}">
                <a16:creationId xmlns:a16="http://schemas.microsoft.com/office/drawing/2014/main" id="{75791C70-AEA9-4C77-924B-2ED80D8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1381125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F4FC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50" name="fastapi-title">
            <a:extLst xmlns:a="http://schemas.openxmlformats.org/drawingml/2006/main">
              <a:ext uri="{FF2B5EF4-FFF2-40B4-BE49-F238E27FC236}">
                <a16:creationId xmlns:a16="http://schemas.microsoft.com/office/drawing/2014/main" id="{E44BC4E7-C701-498C-99CC-1CDFB64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669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FastAPI</a:t>
            </a:r>
          </a:p>
        </p:txBody>
      </p:sp>
      <p:sp>
        <p:nvSpPr>
          <p:cNvPr id="51" name="fastapi-body">
            <a:extLst xmlns:a="http://schemas.openxmlformats.org/drawingml/2006/main">
              <a:ext uri="{FF2B5EF4-FFF2-40B4-BE49-F238E27FC236}">
                <a16:creationId xmlns:a16="http://schemas.microsoft.com/office/drawing/2014/main" id="{B6564AD8-AF7F-408C-9FD9-921C9DEE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09875"/>
            <a:ext cx="1190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API · session</a:t>
            </a:r>
          </a:p>
        </p:txBody>
      </p:sp>
      <p:sp>
        <p:nvSpPr>
          <p:cNvPr id="52" name="room-service-surface">
            <a:extLst xmlns:a="http://schemas.openxmlformats.org/drawingml/2006/main">
              <a:ext uri="{FF2B5EF4-FFF2-40B4-BE49-F238E27FC236}">
                <a16:creationId xmlns:a16="http://schemas.microsoft.com/office/drawing/2014/main" id="{EDEA2B48-2B15-4299-BC4B-C356B8E1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1381125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14288">
            <a:solidFill>
              <a:srgbClr val="2E9B5F"/>
            </a:solidFill>
            <a:prstDash val="solid"/>
          </a:ln>
        </p:spPr>
      </p:sp>
      <p:sp>
        <p:nvSpPr>
          <p:cNvPr id="53" name="room-service-title">
            <a:extLst xmlns:a="http://schemas.openxmlformats.org/drawingml/2006/main">
              <a:ext uri="{FF2B5EF4-FFF2-40B4-BE49-F238E27FC236}">
                <a16:creationId xmlns:a16="http://schemas.microsoft.com/office/drawing/2014/main" id="{DA5C81C2-6900-4E89-AAE7-9ECAC60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Room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Service</a:t>
            </a:r>
          </a:p>
        </p:txBody>
      </p:sp>
      <p:sp>
        <p:nvSpPr>
          <p:cNvPr id="54" name="room-service-body">
            <a:extLst xmlns:a="http://schemas.openxmlformats.org/drawingml/2006/main">
              <a:ext uri="{FF2B5EF4-FFF2-40B4-BE49-F238E27FC236}">
                <a16:creationId xmlns:a16="http://schemas.microsoft.com/office/drawing/2014/main" id="{CCE4ED6B-E782-48D9-BE19-19225375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9875"/>
            <a:ext cx="1190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生命週期</a:t>
            </a:r>
          </a:p>
        </p:txBody>
      </p:sp>
      <p:sp>
        <p:nvSpPr>
          <p:cNvPr id="55" name="domain-rules-surface">
            <a:extLst xmlns:a="http://schemas.openxmlformats.org/drawingml/2006/main">
              <a:ext uri="{FF2B5EF4-FFF2-40B4-BE49-F238E27FC236}">
                <a16:creationId xmlns:a16="http://schemas.microsoft.com/office/drawing/2014/main" id="{0499FAD3-4227-42CD-A19D-45A94729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1381125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14288">
            <a:solidFill>
              <a:srgbClr val="2E9B5F"/>
            </a:solidFill>
            <a:prstDash val="solid"/>
          </a:ln>
        </p:spPr>
      </p:sp>
      <p:sp>
        <p:nvSpPr>
          <p:cNvPr id="56" name="domain-rules-title">
            <a:extLst xmlns:a="http://schemas.openxmlformats.org/drawingml/2006/main">
              <a:ext uri="{FF2B5EF4-FFF2-40B4-BE49-F238E27FC236}">
                <a16:creationId xmlns:a16="http://schemas.microsoft.com/office/drawing/2014/main" id="{A35AF18F-A27D-4218-B591-E4A8A7BD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669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Domain Rules</a:t>
            </a:r>
          </a:p>
        </p:txBody>
      </p:sp>
      <p:sp>
        <p:nvSpPr>
          <p:cNvPr id="57" name="domain-rules-body">
            <a:extLst xmlns:a="http://schemas.openxmlformats.org/drawingml/2006/main">
              <a:ext uri="{FF2B5EF4-FFF2-40B4-BE49-F238E27FC236}">
                <a16:creationId xmlns:a16="http://schemas.microsoft.com/office/drawing/2014/main" id="{52BDBE74-3AD0-4D1E-B778-FB6B6EE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09875"/>
            <a:ext cx="1190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骰子 · 進度 · 結局</a:t>
            </a:r>
          </a:p>
        </p:txBody>
      </p:sp>
      <p:sp>
        <p:nvSpPr>
          <p:cNvPr id="58" name="ports-surface">
            <a:extLst xmlns:a="http://schemas.openxmlformats.org/drawingml/2006/main">
              <a:ext uri="{FF2B5EF4-FFF2-40B4-BE49-F238E27FC236}">
                <a16:creationId xmlns:a16="http://schemas.microsoft.com/office/drawing/2014/main" id="{41016A1D-12C3-498A-A234-9B22C002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33625"/>
            <a:ext cx="1381125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</p:sp>
      <p:sp>
        <p:nvSpPr>
          <p:cNvPr id="59" name="ports-title">
            <a:extLst xmlns:a="http://schemas.openxmlformats.org/drawingml/2006/main">
              <a:ext uri="{FF2B5EF4-FFF2-40B4-BE49-F238E27FC236}">
                <a16:creationId xmlns:a16="http://schemas.microsoft.com/office/drawing/2014/main" id="{6C74A324-C880-47C2-A77D-002DFC2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Ports</a:t>
            </a:r>
          </a:p>
        </p:txBody>
      </p:sp>
      <p:sp>
        <p:nvSpPr>
          <p:cNvPr id="60" name="ports-body">
            <a:extLst xmlns:a="http://schemas.openxmlformats.org/drawingml/2006/main">
              <a:ext uri="{FF2B5EF4-FFF2-40B4-BE49-F238E27FC236}">
                <a16:creationId xmlns:a16="http://schemas.microsoft.com/office/drawing/2014/main" id="{63CF0D76-228D-4006-9607-33B909C2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1190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repo · storyteller</a:t>
            </a:r>
          </a:p>
        </p:txBody>
      </p:sp>
      <p:sp>
        <p:nvSpPr>
          <p:cNvPr id="61" name="production-adapters-surface">
            <a:extLst xmlns:a="http://schemas.openxmlformats.org/drawingml/2006/main">
              <a:ext uri="{FF2B5EF4-FFF2-40B4-BE49-F238E27FC236}">
                <a16:creationId xmlns:a16="http://schemas.microsoft.com/office/drawing/2014/main" id="{0D6C1C3F-CF7E-40FF-8CEB-0969B8D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18097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F4FC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62" name="production-adapters-title">
            <a:extLst xmlns:a="http://schemas.openxmlformats.org/drawingml/2006/main">
              <a:ext uri="{FF2B5EF4-FFF2-40B4-BE49-F238E27FC236}">
                <a16:creationId xmlns:a16="http://schemas.microsoft.com/office/drawing/2014/main" id="{E237D7AC-080B-476E-82D6-F15237C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669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AWS adapters</a:t>
            </a:r>
          </a:p>
        </p:txBody>
      </p:sp>
      <p:sp>
        <p:nvSpPr>
          <p:cNvPr id="63" name="production-adapters-body">
            <a:extLst xmlns:a="http://schemas.openxmlformats.org/drawingml/2006/main">
              <a:ext uri="{FF2B5EF4-FFF2-40B4-BE49-F238E27FC236}">
                <a16:creationId xmlns:a16="http://schemas.microsoft.com/office/drawing/2014/main" id="{2FEB36FC-E79A-4650-A61E-E6748E0C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09875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RDS persistence</a:t>
            </a:r>
          </a:p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Bedrock narration</a:t>
            </a:r>
          </a:p>
        </p:txBody>
      </p:sp>
      <p:sp>
        <p:nvSpPr>
          <p:cNvPr id="64" name="operations-surface">
            <a:extLst xmlns:a="http://schemas.openxmlformats.org/drawingml/2006/main">
              <a:ext uri="{FF2B5EF4-FFF2-40B4-BE49-F238E27FC236}">
                <a16:creationId xmlns:a16="http://schemas.microsoft.com/office/drawing/2014/main" id="{29009A36-0A28-4454-8959-F0F51313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6572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C8D3DF"/>
            </a:solidFill>
            <a:prstDash val="solid"/>
          </a:ln>
        </p:spPr>
      </p:sp>
      <p:sp>
        <p:nvSpPr>
          <p:cNvPr id="65" name="operations-title">
            <a:extLst xmlns:a="http://schemas.openxmlformats.org/drawingml/2006/main">
              <a:ext uri="{FF2B5EF4-FFF2-40B4-BE49-F238E27FC236}">
                <a16:creationId xmlns:a16="http://schemas.microsoft.com/office/drawing/2014/main" id="{2F3EB448-E605-4A63-BFE7-163A4D06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863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Operations boundary</a:t>
            </a:r>
          </a:p>
        </p:txBody>
      </p:sp>
      <p:sp>
        <p:nvSpPr>
          <p:cNvPr id="66" name="operations-body">
            <a:extLst xmlns:a="http://schemas.openxmlformats.org/drawingml/2006/main">
              <a:ext uri="{FF2B5EF4-FFF2-40B4-BE49-F238E27FC236}">
                <a16:creationId xmlns:a16="http://schemas.microsoft.com/office/drawing/2014/main" id="{9786BA8A-F4B0-404B-8B94-AA9C0F5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2920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CloudWatch safe logs · Secrets injection · SSM health</a:t>
            </a:r>
          </a:p>
        </p:txBody>
      </p:sp>
      <p:sp>
        <p:nvSpPr>
          <p:cNvPr id="67" name="canonical-callout">
            <a:extLst xmlns:a="http://schemas.openxmlformats.org/drawingml/2006/main">
              <a:ext uri="{FF2B5EF4-FFF2-40B4-BE49-F238E27FC236}">
                <a16:creationId xmlns:a16="http://schemas.microsoft.com/office/drawing/2014/main" id="{5FFE814D-4D0C-47E8-A757-B1C47315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server 決定 canonical state</a:t>
            </a:r>
          </a:p>
        </p:txBody>
      </p:sp>
      <p:sp>
        <p:nvSpPr>
          <p:cNvPr id="68" name="narration-callout">
            <a:extLst xmlns:a="http://schemas.openxmlformats.org/drawingml/2006/main">
              <a:ext uri="{FF2B5EF4-FFF2-40B4-BE49-F238E27FC236}">
                <a16:creationId xmlns:a16="http://schemas.microsoft.com/office/drawing/2014/main" id="{DEAA82BD-5DDD-4966-B501-C2F57236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9713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E97132"/>
                </a:solidFill>
                <a:latin typeface="PingFang TC"/>
                <a:ea typeface="PingFang TC"/>
                <a:cs typeface="PingFang TC"/>
              </a:rPr>
              <a:t>LLM 只生成 schema 約束的敘事</a:t>
            </a:r>
          </a:p>
        </p:txBody>
      </p:sp>
    </p:spTree>
    <p:extLst>
      <p:ext uri="{BB962C8B-B14F-4D97-AF65-F5344CB8AC3E}">
        <p14:creationId xmlns:p14="http://schemas.microsoft.com/office/powerpoint/2010/main" val="1198380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9F30C35-15B2-4C8B-AE6A-8AC060C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AWS runtime：公開入口、私有資料與免 SSH 維運</a:t>
            </a:r>
          </a:p>
        </p:txBody>
      </p:sp>
      <p:sp>
        <p:nvSpPr>
          <p:cNvPr id="2" name="shape-gb0ooux">
            <a:extLst xmlns:a="http://schemas.openxmlformats.org/drawingml/2006/main">
              <a:ext uri="{FF2B5EF4-FFF2-40B4-BE49-F238E27FC236}">
                <a16:creationId xmlns:a16="http://schemas.microsoft.com/office/drawing/2014/main" id="{6DA35BC6-FAB3-4749-8F50-58130987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pv64a9w">
            <a:extLst xmlns:a="http://schemas.openxmlformats.org/drawingml/2006/main">
              <a:ext uri="{FF2B5EF4-FFF2-40B4-BE49-F238E27FC236}">
                <a16:creationId xmlns:a16="http://schemas.microsoft.com/office/drawing/2014/main" id="{5583739F-1335-489F-9B48-A509259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2bnu22b">
            <a:extLst xmlns:a="http://schemas.openxmlformats.org/drawingml/2006/main">
              <a:ext uri="{FF2B5EF4-FFF2-40B4-BE49-F238E27FC236}">
                <a16:creationId xmlns:a16="http://schemas.microsoft.com/office/drawing/2014/main" id="{0FFAD047-2CAB-4509-9341-E7EC398F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  <p:sp>
        <p:nvSpPr>
          <p:cNvPr id="7" name="vpc-boundary">
            <a:extLst xmlns:a="http://schemas.openxmlformats.org/drawingml/2006/main">
              <a:ext uri="{FF2B5EF4-FFF2-40B4-BE49-F238E27FC236}">
                <a16:creationId xmlns:a16="http://schemas.microsoft.com/office/drawing/2014/main" id="{70F22BBF-47DD-4948-8216-D74B33D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33500"/>
            <a:ext cx="5715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F75B5"/>
            </a:solidFill>
            <a:prstDash val="solid"/>
          </a:ln>
        </p:spPr>
      </p:sp>
      <p:sp>
        <p:nvSpPr>
          <p:cNvPr id="8" name="public-subnet">
            <a:extLst xmlns:a="http://schemas.openxmlformats.org/drawingml/2006/main">
              <a:ext uri="{FF2B5EF4-FFF2-40B4-BE49-F238E27FC236}">
                <a16:creationId xmlns:a16="http://schemas.microsoft.com/office/drawing/2014/main" id="{77FF3AA6-BC1E-479C-93CA-38251E9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286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BF4FC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9" name="private-subnet">
            <a:extLst xmlns:a="http://schemas.openxmlformats.org/drawingml/2006/main">
              <a:ext uri="{FF2B5EF4-FFF2-40B4-BE49-F238E27FC236}">
                <a16:creationId xmlns:a16="http://schemas.microsoft.com/office/drawing/2014/main" id="{2C268016-EB27-49AE-B2DA-4F78BAB2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2286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14288">
            <a:solidFill>
              <a:srgbClr val="2E9B5F"/>
            </a:solidFill>
            <a:prstDash val="solid"/>
          </a:ln>
        </p:spPr>
      </p:sp>
      <p:sp>
        <p:nvSpPr>
          <p:cNvPr id="10" name="players-surface">
            <a:extLst xmlns:a="http://schemas.openxmlformats.org/drawingml/2006/main">
              <a:ext uri="{FF2B5EF4-FFF2-40B4-BE49-F238E27FC236}">
                <a16:creationId xmlns:a16="http://schemas.microsoft.com/office/drawing/2014/main" id="{B36E24BA-3353-4112-BE26-20EF633E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238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C8D3DF"/>
            </a:solidFill>
            <a:prstDash val="solid"/>
          </a:ln>
        </p:spPr>
      </p:sp>
      <p:sp>
        <p:nvSpPr>
          <p:cNvPr id="11" name="players-title">
            <a:extLst xmlns:a="http://schemas.openxmlformats.org/drawingml/2006/main">
              <a:ext uri="{FF2B5EF4-FFF2-40B4-BE49-F238E27FC236}">
                <a16:creationId xmlns:a16="http://schemas.microsoft.com/office/drawing/2014/main" id="{6BC95F16-33A4-4949-BBD4-D79E2A8F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3–5 位玩家</a:t>
            </a:r>
          </a:p>
        </p:txBody>
      </p:sp>
      <p:sp>
        <p:nvSpPr>
          <p:cNvPr id="12" name="players-body">
            <a:extLst xmlns:a="http://schemas.openxmlformats.org/drawingml/2006/main">
              <a:ext uri="{FF2B5EF4-FFF2-40B4-BE49-F238E27FC236}">
                <a16:creationId xmlns:a16="http://schemas.microsoft.com/office/drawing/2014/main" id="{EEEDF50B-1EB1-4DCD-A0B9-1D6B7F0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Browser · Mobile</a:t>
            </a:r>
          </a:p>
        </p:txBody>
      </p:sp>
      <p:sp>
        <p:nvSpPr>
          <p:cNvPr id="13" name="public-ec2-surface">
            <a:extLst xmlns:a="http://schemas.openxmlformats.org/drawingml/2006/main">
              <a:ext uri="{FF2B5EF4-FFF2-40B4-BE49-F238E27FC236}">
                <a16:creationId xmlns:a16="http://schemas.microsoft.com/office/drawing/2014/main" id="{AF24954C-B180-4936-81A6-B94BBD4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19375"/>
            <a:ext cx="1619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BF4FC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14" name="public-ec2-title">
            <a:extLst xmlns:a="http://schemas.openxmlformats.org/drawingml/2006/main">
              <a:ext uri="{FF2B5EF4-FFF2-40B4-BE49-F238E27FC236}">
                <a16:creationId xmlns:a16="http://schemas.microsoft.com/office/drawing/2014/main" id="{2677A826-6635-4540-9300-36EEDE69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527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Public EC2</a:t>
            </a:r>
          </a:p>
        </p:txBody>
      </p:sp>
      <p:sp>
        <p:nvSpPr>
          <p:cNvPr id="15" name="public-ec2-body">
            <a:extLst xmlns:a="http://schemas.openxmlformats.org/drawingml/2006/main">
              <a:ext uri="{FF2B5EF4-FFF2-40B4-BE49-F238E27FC236}">
                <a16:creationId xmlns:a16="http://schemas.microsoft.com/office/drawing/2014/main" id="{45372B7B-5654-4178-925E-C1D0457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95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Nginx + FastAPI</a:t>
            </a:r>
          </a:p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HTTPS 443</a:t>
            </a:r>
          </a:p>
        </p:txBody>
      </p:sp>
      <p:sp>
        <p:nvSpPr>
          <p:cNvPr id="16" name="private-rds-surface">
            <a:extLst xmlns:a="http://schemas.openxmlformats.org/drawingml/2006/main">
              <a:ext uri="{FF2B5EF4-FFF2-40B4-BE49-F238E27FC236}">
                <a16:creationId xmlns:a16="http://schemas.microsoft.com/office/drawing/2014/main" id="{11887160-39A5-4CEC-BF1E-5EF5A0A6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1619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14288">
            <a:solidFill>
              <a:srgbClr val="2E9B5F"/>
            </a:solidFill>
            <a:prstDash val="solid"/>
          </a:ln>
        </p:spPr>
      </p:sp>
      <p:sp>
        <p:nvSpPr>
          <p:cNvPr id="17" name="private-rds-title">
            <a:extLst xmlns:a="http://schemas.openxmlformats.org/drawingml/2006/main">
              <a:ext uri="{FF2B5EF4-FFF2-40B4-BE49-F238E27FC236}">
                <a16:creationId xmlns:a16="http://schemas.microsoft.com/office/drawing/2014/main" id="{59E48B06-7331-4DFD-A7CA-A2E9354E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527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Private RDS</a:t>
            </a:r>
          </a:p>
        </p:txBody>
      </p:sp>
      <p:sp>
        <p:nvSpPr>
          <p:cNvPr id="18" name="private-rds-body">
            <a:extLst xmlns:a="http://schemas.openxmlformats.org/drawingml/2006/main">
              <a:ext uri="{FF2B5EF4-FFF2-40B4-BE49-F238E27FC236}">
                <a16:creationId xmlns:a16="http://schemas.microsoft.com/office/drawing/2014/main" id="{83AC54A4-EAA5-482A-97E8-D1AFDF8D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95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App SG → 5432</a:t>
            </a:r>
          </a:p>
        </p:txBody>
      </p:sp>
      <p:sp>
        <p:nvSpPr>
          <p:cNvPr id="19" name="ssm-surface">
            <a:extLst xmlns:a="http://schemas.openxmlformats.org/drawingml/2006/main">
              <a:ext uri="{FF2B5EF4-FFF2-40B4-BE49-F238E27FC236}">
                <a16:creationId xmlns:a16="http://schemas.microsoft.com/office/drawing/2014/main" id="{D8B8A87B-284E-45D5-973B-B06E6D4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2095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C8D3DF"/>
            </a:solidFill>
            <a:prstDash val="solid"/>
          </a:ln>
        </p:spPr>
      </p:sp>
      <p:sp>
        <p:nvSpPr>
          <p:cNvPr id="20" name="ssm-title">
            <a:extLst xmlns:a="http://schemas.openxmlformats.org/drawingml/2006/main">
              <a:ext uri="{FF2B5EF4-FFF2-40B4-BE49-F238E27FC236}">
                <a16:creationId xmlns:a16="http://schemas.microsoft.com/office/drawing/2014/main" id="{E5486708-D74E-4C9C-916A-EF1388CF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387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Systems Manager</a:t>
            </a:r>
          </a:p>
        </p:txBody>
      </p:sp>
      <p:sp>
        <p:nvSpPr>
          <p:cNvPr id="21" name="ssm-body">
            <a:extLst xmlns:a="http://schemas.openxmlformats.org/drawingml/2006/main">
              <a:ext uri="{FF2B5EF4-FFF2-40B4-BE49-F238E27FC236}">
                <a16:creationId xmlns:a16="http://schemas.microsoft.com/office/drawing/2014/main" id="{545F639D-B044-4B4C-BB71-5C456540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Session · Run Command</a:t>
            </a:r>
          </a:p>
        </p:txBody>
      </p:sp>
      <p:sp>
        <p:nvSpPr>
          <p:cNvPr id="22" name="managed-services-surface">
            <a:extLst xmlns:a="http://schemas.openxmlformats.org/drawingml/2006/main">
              <a:ext uri="{FF2B5EF4-FFF2-40B4-BE49-F238E27FC236}">
                <a16:creationId xmlns:a16="http://schemas.microsoft.com/office/drawing/2014/main" id="{9E842150-328F-4ED5-BD9A-9CBB060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05375"/>
            <a:ext cx="3619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BF4FC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23" name="managed-services-title">
            <a:extLst xmlns:a="http://schemas.openxmlformats.org/drawingml/2006/main">
              <a:ext uri="{FF2B5EF4-FFF2-40B4-BE49-F238E27FC236}">
                <a16:creationId xmlns:a16="http://schemas.microsoft.com/office/drawing/2014/main" id="{F6575592-0A47-4FFF-9D4F-093BA425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387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AWS managed services</a:t>
            </a:r>
          </a:p>
        </p:txBody>
      </p:sp>
      <p:sp>
        <p:nvSpPr>
          <p:cNvPr id="24" name="managed-services-body">
            <a:extLst xmlns:a="http://schemas.openxmlformats.org/drawingml/2006/main">
              <a:ext uri="{FF2B5EF4-FFF2-40B4-BE49-F238E27FC236}">
                <a16:creationId xmlns:a16="http://schemas.microsoft.com/office/drawing/2014/main" id="{B5252E60-16EE-4903-A84D-3AC4329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81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Bedrock inference · CloudWatch safe logs</a:t>
            </a:r>
          </a:p>
        </p:txBody>
      </p:sp>
      <p:cxnSp>
        <p:nvCxnSpPr>
          <p:cNvPr id="5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847850" y="309562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5B5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333875" y="30956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9B5F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524250" y="3571875"/>
            <a:ext cx="361950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5B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3429000" y="3571875"/>
            <a:ext cx="952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C9B"/>
            </a:solidFill>
            <a:prstDash val="dash"/>
            <a:tailEnd type="triangle" w="sm" len="sm"/>
          </a:ln>
        </p:spPr>
      </p:cxnSp>
      <p:sp>
        <p:nvSpPr>
          <p:cNvPr id="29" name="vpc-label">
            <a:extLst xmlns:a="http://schemas.openxmlformats.org/drawingml/2006/main">
              <a:ext uri="{FF2B5EF4-FFF2-40B4-BE49-F238E27FC236}">
                <a16:creationId xmlns:a16="http://schemas.microsoft.com/office/drawing/2014/main" id="{4E793F1A-B22D-47F6-8560-89F9C35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66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Amazon VPC 10.20.0.0/16</a:t>
            </a:r>
          </a:p>
        </p:txBody>
      </p:sp>
      <p:sp>
        <p:nvSpPr>
          <p:cNvPr id="30" name="public-label">
            <a:extLst xmlns:a="http://schemas.openxmlformats.org/drawingml/2006/main">
              <a:ext uri="{FF2B5EF4-FFF2-40B4-BE49-F238E27FC236}">
                <a16:creationId xmlns:a16="http://schemas.microsoft.com/office/drawing/2014/main" id="{335E10D5-26F4-46D4-ACCF-0B13843F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Public app subnet</a:t>
            </a:r>
          </a:p>
        </p:txBody>
      </p:sp>
      <p:sp>
        <p:nvSpPr>
          <p:cNvPr id="31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476D2312-281B-48BA-AD71-5838F85F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Private DB subnets</a:t>
            </a:r>
          </a:p>
        </p:txBody>
      </p:sp>
      <p:sp>
        <p:nvSpPr>
          <p:cNvPr id="32" name="runtime-footnote">
            <a:extLst xmlns:a="http://schemas.openxmlformats.org/drawingml/2006/main">
              <a:ext uri="{FF2B5EF4-FFF2-40B4-BE49-F238E27FC236}">
                <a16:creationId xmlns:a16="http://schemas.microsoft.com/office/drawing/2014/main" id="{3AA3AAFD-4DC4-459B-98A4-0AF24EE4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958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無 NAT Gateway · 無 ALB · 無 public SSH</a:t>
            </a:r>
          </a:p>
        </p:txBody>
      </p:sp>
    </p:spTree>
    <p:extLst>
      <p:ext uri="{BB962C8B-B14F-4D97-AF65-F5344CB8AC3E}">
        <p14:creationId xmlns:p14="http://schemas.microsoft.com/office/powerpoint/2010/main" val="157550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8557232-BB93-451B-981E-F4C00D68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安全、成本與失敗邊界在上線前就被設計</a:t>
            </a:r>
          </a:p>
        </p:txBody>
      </p:sp>
      <p:sp>
        <p:nvSpPr>
          <p:cNvPr id="2" name="shape-dhw06qx">
            <a:extLst xmlns:a="http://schemas.openxmlformats.org/drawingml/2006/main">
              <a:ext uri="{FF2B5EF4-FFF2-40B4-BE49-F238E27FC236}">
                <a16:creationId xmlns:a16="http://schemas.microsoft.com/office/drawing/2014/main" id="{07BF37F9-3996-4794-8771-7B39814D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01n7b9b">
            <a:extLst xmlns:a="http://schemas.openxmlformats.org/drawingml/2006/main">
              <a:ext uri="{FF2B5EF4-FFF2-40B4-BE49-F238E27FC236}">
                <a16:creationId xmlns:a16="http://schemas.microsoft.com/office/drawing/2014/main" id="{921701A1-FAB0-4B61-800E-E22ED09B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a0zb9x2">
            <a:extLst xmlns:a="http://schemas.openxmlformats.org/drawingml/2006/main">
              <a:ext uri="{FF2B5EF4-FFF2-40B4-BE49-F238E27FC236}">
                <a16:creationId xmlns:a16="http://schemas.microsoft.com/office/drawing/2014/main" id="{C349A5AE-DCCC-4F61-8C9E-9B353E4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7</a:t>
            </a:r>
          </a:p>
        </p:txBody>
      </p:sp>
      <p:sp>
        <p:nvSpPr>
          <p:cNvPr id="5" name="text-ocdb73s">
            <a:extLst xmlns:a="http://schemas.openxmlformats.org/drawingml/2006/main">
              <a:ext uri="{FF2B5EF4-FFF2-40B4-BE49-F238E27FC236}">
                <a16:creationId xmlns:a16="http://schemas.microsoft.com/office/drawing/2014/main" id="{64B2EA53-A8FB-4DA6-B02A-F0546F4F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安全與可靠性</a:t>
            </a:r>
          </a:p>
        </p:txBody>
      </p:sp>
      <p:sp>
        <p:nvSpPr>
          <p:cNvPr id="6" name="shape-r2qjfn5">
            <a:extLst xmlns:a="http://schemas.openxmlformats.org/drawingml/2006/main">
              <a:ext uri="{FF2B5EF4-FFF2-40B4-BE49-F238E27FC236}">
                <a16:creationId xmlns:a16="http://schemas.microsoft.com/office/drawing/2014/main" id="{A054931C-1255-4437-BAC5-5E6EF9E4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7" name="text-t7nx6a7">
            <a:extLst xmlns:a="http://schemas.openxmlformats.org/drawingml/2006/main">
              <a:ext uri="{FF2B5EF4-FFF2-40B4-BE49-F238E27FC236}">
                <a16:creationId xmlns:a16="http://schemas.microsoft.com/office/drawing/2014/main" id="{C8A3B755-2ED6-4D6B-A445-866454E8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SSM 免 SSH；private RDS 只接受 App SG</a:t>
            </a:r>
          </a:p>
        </p:txBody>
      </p:sp>
      <p:sp>
        <p:nvSpPr>
          <p:cNvPr id="8" name="shape-96c6bqk">
            <a:extLst xmlns:a="http://schemas.openxmlformats.org/drawingml/2006/main">
              <a:ext uri="{FF2B5EF4-FFF2-40B4-BE49-F238E27FC236}">
                <a16:creationId xmlns:a16="http://schemas.microsoft.com/office/drawing/2014/main" id="{E8635ACB-4B94-4248-ABE2-85C45DC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9" name="text-5m1o9ow">
            <a:extLst xmlns:a="http://schemas.openxmlformats.org/drawingml/2006/main">
              <a:ext uri="{FF2B5EF4-FFF2-40B4-BE49-F238E27FC236}">
                <a16:creationId xmlns:a16="http://schemas.microsoft.com/office/drawing/2014/main" id="{5E2012F4-6171-4D43-A125-E5E8F4F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AppRole 只允許 Bedrock、safe logs 與 runtime secret</a:t>
            </a:r>
          </a:p>
        </p:txBody>
      </p:sp>
      <p:sp>
        <p:nvSpPr>
          <p:cNvPr id="10" name="shape-niwowft">
            <a:extLst xmlns:a="http://schemas.openxmlformats.org/drawingml/2006/main">
              <a:ext uri="{FF2B5EF4-FFF2-40B4-BE49-F238E27FC236}">
                <a16:creationId xmlns:a16="http://schemas.microsoft.com/office/drawing/2014/main" id="{766F74F0-F583-49C5-99E4-70EE13E2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16"/>
          </a:solidFill>
          <a:ln xmlns:a="http://schemas.openxmlformats.org/drawingml/2006/main" w="0">
            <a:solidFill>
              <a:srgbClr val="ED7D16"/>
            </a:solidFill>
            <a:prstDash val="solid"/>
          </a:ln>
        </p:spPr>
      </p:sp>
      <p:sp>
        <p:nvSpPr>
          <p:cNvPr id="11" name="text-95h5yg8">
            <a:extLst xmlns:a="http://schemas.openxmlformats.org/drawingml/2006/main">
              <a:ext uri="{FF2B5EF4-FFF2-40B4-BE49-F238E27FC236}">
                <a16:creationId xmlns:a16="http://schemas.microsoft.com/office/drawing/2014/main" id="{A4DD12AC-E8B4-44C2-A52F-8D6E3594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Health Document 與 bounded readiness 保護 restart</a:t>
            </a:r>
          </a:p>
        </p:txBody>
      </p:sp>
      <p:sp>
        <p:nvSpPr>
          <p:cNvPr id="12" name="shape-o9z2yzn">
            <a:extLst xmlns:a="http://schemas.openxmlformats.org/drawingml/2006/main">
              <a:ext uri="{FF2B5EF4-FFF2-40B4-BE49-F238E27FC236}">
                <a16:creationId xmlns:a16="http://schemas.microsoft.com/office/drawing/2014/main" id="{2E533AAE-F57A-423D-A3CB-F75B216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383">
            <a:solidFill>
              <a:srgbClr val="A86900"/>
            </a:solidFill>
            <a:prstDash val="solid"/>
          </a:ln>
        </p:spPr>
      </p:sp>
      <p:sp>
        <p:nvSpPr>
          <p:cNvPr id="13" name="text-gyy85s1">
            <a:extLst xmlns:a="http://schemas.openxmlformats.org/drawingml/2006/main">
              <a:ext uri="{FF2B5EF4-FFF2-40B4-BE49-F238E27FC236}">
                <a16:creationId xmlns:a16="http://schemas.microsoft.com/office/drawing/2014/main" id="{F3BC5C5A-43C9-450C-9230-53F5666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8690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A86900"/>
                </a:solidFill>
                <a:latin typeface="PingFang TC"/>
                <a:ea typeface="PingFang TC"/>
                <a:cs typeface="PingFang TC"/>
              </a:rPr>
              <a:t>Prompt Injection</a:t>
            </a:r>
          </a:p>
        </p:txBody>
      </p:sp>
      <p:sp>
        <p:nvSpPr>
          <p:cNvPr id="14" name="text-o5higay">
            <a:extLst xmlns:a="http://schemas.openxmlformats.org/drawingml/2006/main">
              <a:ext uri="{FF2B5EF4-FFF2-40B4-BE49-F238E27FC236}">
                <a16:creationId xmlns:a16="http://schemas.microsoft.com/office/drawing/2014/main" id="{2BAE246B-97C5-47B7-9E53-6E738D6C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前置拒絕 + schema validation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不誇大尚未證實的 Guardrail intervention</a:t>
            </a:r>
          </a:p>
        </p:txBody>
      </p:sp>
      <p:sp>
        <p:nvSpPr>
          <p:cNvPr id="15" name="text-lj5pxh6">
            <a:extLst xmlns:a="http://schemas.openxmlformats.org/drawingml/2006/main">
              <a:ext uri="{FF2B5EF4-FFF2-40B4-BE49-F238E27FC236}">
                <a16:creationId xmlns:a16="http://schemas.microsoft.com/office/drawing/2014/main" id="{A25BD7EA-CC65-45F6-B2FF-5B90C1D1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成本治理</a:t>
            </a:r>
          </a:p>
        </p:txBody>
      </p:sp>
      <p:sp>
        <p:nvSpPr>
          <p:cNvPr id="16" name="text-of7j384">
            <a:extLst xmlns:a="http://schemas.openxmlformats.org/drawingml/2006/main">
              <a:ext uri="{FF2B5EF4-FFF2-40B4-BE49-F238E27FC236}">
                <a16:creationId xmlns:a16="http://schemas.microsoft.com/office/drawing/2014/main" id="{25AFC501-5084-43CD-916F-A11EA1C9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145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US$1／月 Budget</a:t>
            </a:r>
          </a:p>
        </p:txBody>
      </p:sp>
      <p:sp>
        <p:nvSpPr>
          <p:cNvPr id="17" name="text-z3lbdzu">
            <a:extLst xmlns:a="http://schemas.openxmlformats.org/drawingml/2006/main">
              <a:ext uri="{FF2B5EF4-FFF2-40B4-BE49-F238E27FC236}">
                <a16:creationId xmlns:a16="http://schemas.microsoft.com/office/drawing/2014/main" id="{44EC98DE-B2E7-44CA-BF38-919A5DD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EC2／RDS 是主要持續計費面；Logs 僅保留 7 天</a:t>
            </a:r>
          </a:p>
        </p:txBody>
      </p:sp>
      <p:sp>
        <p:nvSpPr>
          <p:cNvPr id="18" name="shape-gkrkxpn">
            <a:extLst xmlns:a="http://schemas.openxmlformats.org/drawingml/2006/main">
              <a:ext uri="{FF2B5EF4-FFF2-40B4-BE49-F238E27FC236}">
                <a16:creationId xmlns:a16="http://schemas.microsoft.com/office/drawing/2014/main" id="{326A21B7-5269-4C68-9592-321A10D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f2ee1721d4be7"/>
          <a:stretch xmlns:a="http://schemas.openxmlformats.org/drawingml/2006/main"/>
        </p:blipFill>
        <p:spPr>
          <a:xfrm xmlns:a="http://schemas.openxmlformats.org/drawingml/2006/main">
            <a:off x="6324600" y="3009958"/>
            <a:ext cx="4762500" cy="1466733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20" name="text-902a939">
            <a:extLst xmlns:a="http://schemas.openxmlformats.org/drawingml/2006/main">
              <a:ext uri="{FF2B5EF4-FFF2-40B4-BE49-F238E27FC236}">
                <a16:creationId xmlns:a16="http://schemas.microsoft.com/office/drawing/2014/main" id="{56739D48-9087-4A10-A048-D2A5A10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目前不建立 NAT Gateway、EIP、ALB、CloudFront 或 Route 53</a:t>
            </a:r>
          </a:p>
        </p:txBody>
      </p:sp>
    </p:spTree>
    <p:extLst>
      <p:ext uri="{BB962C8B-B14F-4D97-AF65-F5344CB8AC3E}">
        <p14:creationId xmlns:p14="http://schemas.microsoft.com/office/powerpoint/2010/main" val="1785049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9F15CCAC-D1C9-4B48-BD37-9379FFBE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Tier 1 已建立可觀測與免 SSH 的正向操作路徑</a:t>
            </a:r>
          </a:p>
        </p:txBody>
      </p:sp>
      <p:sp>
        <p:nvSpPr>
          <p:cNvPr id="2" name="shape-vpid1bo">
            <a:extLst xmlns:a="http://schemas.openxmlformats.org/drawingml/2006/main">
              <a:ext uri="{FF2B5EF4-FFF2-40B4-BE49-F238E27FC236}">
                <a16:creationId xmlns:a16="http://schemas.microsoft.com/office/drawing/2014/main" id="{0B8BD9DD-2579-4298-9895-E4D9FCA2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j5n6z43">
            <a:extLst xmlns:a="http://schemas.openxmlformats.org/drawingml/2006/main">
              <a:ext uri="{FF2B5EF4-FFF2-40B4-BE49-F238E27FC236}">
                <a16:creationId xmlns:a16="http://schemas.microsoft.com/office/drawing/2014/main" id="{BC737FB9-2F80-4487-8B8A-B2A6116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aww2j0x">
            <a:extLst xmlns:a="http://schemas.openxmlformats.org/drawingml/2006/main">
              <a:ext uri="{FF2B5EF4-FFF2-40B4-BE49-F238E27FC236}">
                <a16:creationId xmlns:a16="http://schemas.microsoft.com/office/drawing/2014/main" id="{EB85BD2A-9634-4905-90F0-FFD94E1B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8</a:t>
            </a:r>
          </a:p>
        </p:txBody>
      </p:sp>
      <p:sp>
        <p:nvSpPr>
          <p:cNvPr id="5" name="text-geec51w">
            <a:extLst xmlns:a="http://schemas.openxmlformats.org/drawingml/2006/main">
              <a:ext uri="{FF2B5EF4-FFF2-40B4-BE49-F238E27FC236}">
                <a16:creationId xmlns:a16="http://schemas.microsoft.com/office/drawing/2014/main" id="{21885B28-523F-4B9E-8091-02658709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CloudFormation · SSM · CloudWatch</a:t>
            </a:r>
          </a:p>
        </p:txBody>
      </p:sp>
      <p:sp>
        <p:nvSpPr>
          <p:cNvPr id="6" name="shape-lrljqi5">
            <a:extLst xmlns:a="http://schemas.openxmlformats.org/drawingml/2006/main">
              <a:ext uri="{FF2B5EF4-FFF2-40B4-BE49-F238E27FC236}">
                <a16:creationId xmlns:a16="http://schemas.microsoft.com/office/drawing/2014/main" id="{4D287512-DB34-4BD9-8D35-58CC7D1C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7" name="text-k95txof">
            <a:extLst xmlns:a="http://schemas.openxmlformats.org/drawingml/2006/main">
              <a:ext uri="{FF2B5EF4-FFF2-40B4-BE49-F238E27FC236}">
                <a16:creationId xmlns:a16="http://schemas.microsoft.com/office/drawing/2014/main" id="{B13E78B9-1C56-47AB-98D4-348AAED3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v2</a:t>
            </a:r>
          </a:p>
        </p:txBody>
      </p:sp>
      <p:sp>
        <p:nvSpPr>
          <p:cNvPr id="8" name="text-015cac6">
            <a:extLst xmlns:a="http://schemas.openxmlformats.org/drawingml/2006/main">
              <a:ext uri="{FF2B5EF4-FFF2-40B4-BE49-F238E27FC236}">
                <a16:creationId xmlns:a16="http://schemas.microsoft.com/office/drawing/2014/main" id="{BE54C3EE-1A8C-476B-8E35-47D89986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Health Document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latest／default</a:t>
            </a:r>
          </a:p>
        </p:txBody>
      </p:sp>
      <p:sp>
        <p:nvSpPr>
          <p:cNvPr id="9" name="shape-cepmizu">
            <a:extLst xmlns:a="http://schemas.openxmlformats.org/drawingml/2006/main">
              <a:ext uri="{FF2B5EF4-FFF2-40B4-BE49-F238E27FC236}">
                <a16:creationId xmlns:a16="http://schemas.microsoft.com/office/drawing/2014/main" id="{8EC4AB79-0F4E-455B-B348-29D46429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3835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0" name="text-5iwatzu">
            <a:extLst xmlns:a="http://schemas.openxmlformats.org/drawingml/2006/main">
              <a:ext uri="{FF2B5EF4-FFF2-40B4-BE49-F238E27FC236}">
                <a16:creationId xmlns:a16="http://schemas.microsoft.com/office/drawing/2014/main" id="{0C8D371E-807B-420E-9F16-CC0FF0C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431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1" name="text-q55v2v8">
            <a:extLst xmlns:a="http://schemas.openxmlformats.org/drawingml/2006/main">
              <a:ext uri="{FF2B5EF4-FFF2-40B4-BE49-F238E27FC236}">
                <a16:creationId xmlns:a16="http://schemas.microsoft.com/office/drawing/2014/main" id="{9E37938A-43BB-49DB-AB50-9C11C28F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99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Run Command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response code</a:t>
            </a:r>
          </a:p>
        </p:txBody>
      </p:sp>
      <p:sp>
        <p:nvSpPr>
          <p:cNvPr id="12" name="shape-7tnzuo8">
            <a:extLst xmlns:a="http://schemas.openxmlformats.org/drawingml/2006/main">
              <a:ext uri="{FF2B5EF4-FFF2-40B4-BE49-F238E27FC236}">
                <a16:creationId xmlns:a16="http://schemas.microsoft.com/office/drawing/2014/main" id="{0AF47A66-9272-4325-970A-237B2E6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3" name="text-10b9l4s">
            <a:extLst xmlns:a="http://schemas.openxmlformats.org/drawingml/2006/main">
              <a:ext uri="{FF2B5EF4-FFF2-40B4-BE49-F238E27FC236}">
                <a16:creationId xmlns:a16="http://schemas.microsoft.com/office/drawing/2014/main" id="{C596BD2D-1C53-4E2C-9206-CF7D5664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200</a:t>
            </a:r>
          </a:p>
        </p:txBody>
      </p:sp>
      <p:sp>
        <p:nvSpPr>
          <p:cNvPr id="14" name="text-flgb5yn">
            <a:extLst xmlns:a="http://schemas.openxmlformats.org/drawingml/2006/main">
              <a:ext uri="{FF2B5EF4-FFF2-40B4-BE49-F238E27FC236}">
                <a16:creationId xmlns:a16="http://schemas.microsoft.com/office/drawing/2014/main" id="{5426E2D6-7BA3-480E-879B-7AE53D3E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CloudWatch Logs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/api/v1/ready</a:t>
            </a:r>
          </a:p>
        </p:txBody>
      </p:sp>
      <p:sp>
        <p:nvSpPr>
          <p:cNvPr id="15" name="text-xh9uw0b">
            <a:extLst xmlns:a="http://schemas.openxmlformats.org/drawingml/2006/main">
              <a:ext uri="{FF2B5EF4-FFF2-40B4-BE49-F238E27FC236}">
                <a16:creationId xmlns:a16="http://schemas.microsoft.com/office/drawing/2014/main" id="{5CEAA5A9-30AD-4766-ACD8-61076F6F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service=active · live=200 · ready=200</a:t>
            </a:r>
          </a:p>
        </p:txBody>
      </p:sp>
      <p:sp>
        <p:nvSpPr>
          <p:cNvPr id="16" name="text-llk070u">
            <a:extLst xmlns:a="http://schemas.openxmlformats.org/drawingml/2006/main">
              <a:ext uri="{FF2B5EF4-FFF2-40B4-BE49-F238E27FC236}">
                <a16:creationId xmlns:a16="http://schemas.microsoft.com/office/drawing/2014/main" id="{A848EFEE-D563-47CF-B419-226F07F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bounded restart → Agent active</a:t>
            </a:r>
          </a:p>
        </p:txBody>
      </p:sp>
      <p:sp>
        <p:nvSpPr>
          <p:cNvPr id="17" name="text-96dxs1p">
            <a:extLst xmlns:a="http://schemas.openxmlformats.org/drawingml/2006/main">
              <a:ext uri="{FF2B5EF4-FFF2-40B4-BE49-F238E27FC236}">
                <a16:creationId xmlns:a16="http://schemas.microsoft.com/office/drawing/2014/main" id="{EEC3A79B-0BD6-49F2-81BC-63CD6EA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allowlist JSON delivered</a:t>
            </a:r>
          </a:p>
        </p:txBody>
      </p:sp>
      <p:sp>
        <p:nvSpPr>
          <p:cNvPr id="18" name="text-1a0vu7q">
            <a:extLst xmlns:a="http://schemas.openxmlformats.org/drawingml/2006/main">
              <a:ext uri="{FF2B5EF4-FFF2-40B4-BE49-F238E27FC236}">
                <a16:creationId xmlns:a16="http://schemas.microsoft.com/office/drawing/2014/main" id="{27121D41-3023-4CB9-BD4C-6C88B1B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正向 delivery 已通過；5xx trigger／recover 與 AIOps incident 是下一個驗證閉環</a:t>
            </a:r>
          </a:p>
        </p:txBody>
      </p:sp>
    </p:spTree>
    <p:extLst>
      <p:ext uri="{BB962C8B-B14F-4D97-AF65-F5344CB8AC3E}">
        <p14:creationId xmlns:p14="http://schemas.microsoft.com/office/powerpoint/2010/main" val="1969509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8DF1139-D086-4ED9-9BAD-3421CBDE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同一產品，沿 Tier 0–5 累積企業能力</a:t>
            </a:r>
          </a:p>
        </p:txBody>
      </p:sp>
      <p:sp>
        <p:nvSpPr>
          <p:cNvPr id="2" name="shape-5drd9dh">
            <a:extLst xmlns:a="http://schemas.openxmlformats.org/drawingml/2006/main">
              <a:ext uri="{FF2B5EF4-FFF2-40B4-BE49-F238E27FC236}">
                <a16:creationId xmlns:a16="http://schemas.microsoft.com/office/drawing/2014/main" id="{25D58399-B731-4E0A-AC3F-BFDCE69B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lgt22kt">
            <a:extLst xmlns:a="http://schemas.openxmlformats.org/drawingml/2006/main">
              <a:ext uri="{FF2B5EF4-FFF2-40B4-BE49-F238E27FC236}">
                <a16:creationId xmlns:a16="http://schemas.microsoft.com/office/drawing/2014/main" id="{D52832EB-0841-4580-99F6-BF4BDAB8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9lmq7ql">
            <a:extLst xmlns:a="http://schemas.openxmlformats.org/drawingml/2006/main">
              <a:ext uri="{FF2B5EF4-FFF2-40B4-BE49-F238E27FC236}">
                <a16:creationId xmlns:a16="http://schemas.microsoft.com/office/drawing/2014/main" id="{E3939F6B-4B9C-493A-A5CD-2E162F5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9</a:t>
            </a:r>
          </a:p>
        </p:txBody>
      </p:sp>
      <p:sp>
        <p:nvSpPr>
          <p:cNvPr id="5" name="text-c0f5rpf">
            <a:extLst xmlns:a="http://schemas.openxmlformats.org/drawingml/2006/main">
              <a:ext uri="{FF2B5EF4-FFF2-40B4-BE49-F238E27FC236}">
                <a16:creationId xmlns:a16="http://schemas.microsoft.com/office/drawing/2014/main" id="{D8A87A95-338B-400D-8A87-DAB5C90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現在已完成 Tier 0；Tier 1 正向可觀測路徑已通過</a:t>
            </a:r>
          </a:p>
        </p:txBody>
      </p:sp>
      <p:sp>
        <p:nvSpPr>
          <p:cNvPr id="6" name="text-oh1b1om">
            <a:extLst xmlns:a="http://schemas.openxmlformats.org/drawingml/2006/main">
              <a:ext uri="{FF2B5EF4-FFF2-40B4-BE49-F238E27FC236}">
                <a16:creationId xmlns:a16="http://schemas.microsoft.com/office/drawing/2014/main" id="{F36D6F8E-A361-4108-8D12-FAC4C747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後續只在價值與可驗證證據成立時擴張</a:t>
            </a:r>
          </a:p>
        </p:txBody>
      </p:sp>
      <p:sp>
        <p:nvSpPr>
          <p:cNvPr id="7" name="shape-qgpp9j3">
            <a:extLst xmlns:a="http://schemas.openxmlformats.org/drawingml/2006/main">
              <a:ext uri="{FF2B5EF4-FFF2-40B4-BE49-F238E27FC236}">
                <a16:creationId xmlns:a16="http://schemas.microsoft.com/office/drawing/2014/main" id="{B7C57C04-E1ED-44A6-BE8C-05C96ADE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8" name="shape-0652zp6">
            <a:extLst xmlns:a="http://schemas.openxmlformats.org/drawingml/2006/main">
              <a:ext uri="{FF2B5EF4-FFF2-40B4-BE49-F238E27FC236}">
                <a16:creationId xmlns:a16="http://schemas.microsoft.com/office/drawing/2014/main" id="{B6583CA5-4FC7-4256-B2E3-D31254B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B"/>
          </a:solidFill>
          <a:ln xmlns:a="http://schemas.openxmlformats.org/drawingml/2006/main" w="23813">
            <a:solidFill>
              <a:srgbClr val="2F75B5"/>
            </a:solidFill>
            <a:prstDash val="solid"/>
          </a:ln>
        </p:spPr>
      </p:sp>
      <p:sp>
        <p:nvSpPr>
          <p:cNvPr id="9" name="text-8a7z0wd">
            <a:extLst xmlns:a="http://schemas.openxmlformats.org/drawingml/2006/main">
              <a:ext uri="{FF2B5EF4-FFF2-40B4-BE49-F238E27FC236}">
                <a16:creationId xmlns:a16="http://schemas.microsoft.com/office/drawing/2014/main" id="{75D93D96-9399-4B4A-9E72-7391C796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0" name="text-zs1i4do">
            <a:extLst xmlns:a="http://schemas.openxmlformats.org/drawingml/2006/main">
              <a:ext uri="{FF2B5EF4-FFF2-40B4-BE49-F238E27FC236}">
                <a16:creationId xmlns:a16="http://schemas.microsoft.com/office/drawing/2014/main" id="{D597E504-245A-42DE-9A12-C833A8F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Tier 0</a:t>
            </a:r>
          </a:p>
        </p:txBody>
      </p:sp>
      <p:sp>
        <p:nvSpPr>
          <p:cNvPr id="11" name="text-ojge965">
            <a:extLst xmlns:a="http://schemas.openxmlformats.org/drawingml/2006/main">
              <a:ext uri="{FF2B5EF4-FFF2-40B4-BE49-F238E27FC236}">
                <a16:creationId xmlns:a16="http://schemas.microsoft.com/office/drawing/2014/main" id="{AB95AFA8-D6B5-49BB-911B-ACCE5EC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可玩雲端</a:t>
            </a:r>
          </a:p>
        </p:txBody>
      </p:sp>
      <p:sp>
        <p:nvSpPr>
          <p:cNvPr id="12" name="shape-szewwuk">
            <a:extLst xmlns:a="http://schemas.openxmlformats.org/drawingml/2006/main">
              <a:ext uri="{FF2B5EF4-FFF2-40B4-BE49-F238E27FC236}">
                <a16:creationId xmlns:a16="http://schemas.microsoft.com/office/drawing/2014/main" id="{E1D78C6E-263B-4CC9-A40C-74E98E3E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8F1"/>
          </a:solidFill>
          <a:ln xmlns:a="http://schemas.openxmlformats.org/drawingml/2006/main" w="23813">
            <a:solidFill>
              <a:srgbClr val="2E8B57"/>
            </a:solidFill>
            <a:prstDash val="solid"/>
          </a:ln>
        </p:spPr>
      </p:sp>
      <p:sp>
        <p:nvSpPr>
          <p:cNvPr id="13" name="text-6d2k3m1">
            <a:extLst xmlns:a="http://schemas.openxmlformats.org/drawingml/2006/main">
              <a:ext uri="{FF2B5EF4-FFF2-40B4-BE49-F238E27FC236}">
                <a16:creationId xmlns:a16="http://schemas.microsoft.com/office/drawing/2014/main" id="{EF47DAE8-4242-4C36-A181-EE5499A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4" name="text-ug2dzxa">
            <a:extLst xmlns:a="http://schemas.openxmlformats.org/drawingml/2006/main">
              <a:ext uri="{FF2B5EF4-FFF2-40B4-BE49-F238E27FC236}">
                <a16:creationId xmlns:a16="http://schemas.microsoft.com/office/drawing/2014/main" id="{0E7B388B-87EF-4F5D-9C0B-FCC2FE5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Tier 1</a:t>
            </a:r>
          </a:p>
        </p:txBody>
      </p:sp>
      <p:sp>
        <p:nvSpPr>
          <p:cNvPr id="15" name="text-lb9zfee">
            <a:extLst xmlns:a="http://schemas.openxmlformats.org/drawingml/2006/main">
              <a:ext uri="{FF2B5EF4-FFF2-40B4-BE49-F238E27FC236}">
                <a16:creationId xmlns:a16="http://schemas.microsoft.com/office/drawing/2014/main" id="{375348C4-DA2C-4149-88F7-90B44D6D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可觀測維運</a:t>
            </a:r>
          </a:p>
        </p:txBody>
      </p:sp>
      <p:sp>
        <p:nvSpPr>
          <p:cNvPr id="16" name="shape-2h50rs0">
            <a:extLst xmlns:a="http://schemas.openxmlformats.org/drawingml/2006/main">
              <a:ext uri="{FF2B5EF4-FFF2-40B4-BE49-F238E27FC236}">
                <a16:creationId xmlns:a16="http://schemas.microsoft.com/office/drawing/2014/main" id="{A4D3860B-692A-49AC-B9F3-60146FFC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8F1"/>
          </a:solidFill>
          <a:ln xmlns:a="http://schemas.openxmlformats.org/drawingml/2006/main" w="23813">
            <a:solidFill>
              <a:srgbClr val="2E8B57"/>
            </a:solidFill>
            <a:prstDash val="solid"/>
          </a:ln>
        </p:spPr>
      </p:sp>
      <p:sp>
        <p:nvSpPr>
          <p:cNvPr id="17" name="text-vosxtqn">
            <a:extLst xmlns:a="http://schemas.openxmlformats.org/drawingml/2006/main">
              <a:ext uri="{FF2B5EF4-FFF2-40B4-BE49-F238E27FC236}">
                <a16:creationId xmlns:a16="http://schemas.microsoft.com/office/drawing/2014/main" id="{C51BCEE8-7ACB-4408-B862-E6F8731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8" name="text-995zxqw">
            <a:extLst xmlns:a="http://schemas.openxmlformats.org/drawingml/2006/main">
              <a:ext uri="{FF2B5EF4-FFF2-40B4-BE49-F238E27FC236}">
                <a16:creationId xmlns:a16="http://schemas.microsoft.com/office/drawing/2014/main" id="{1EF91745-D52B-40C5-A310-721835B8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Tier 2</a:t>
            </a:r>
          </a:p>
        </p:txBody>
      </p:sp>
      <p:sp>
        <p:nvSpPr>
          <p:cNvPr id="19" name="text-c8drb7w">
            <a:extLst xmlns:a="http://schemas.openxmlformats.org/drawingml/2006/main">
              <a:ext uri="{FF2B5EF4-FFF2-40B4-BE49-F238E27FC236}">
                <a16:creationId xmlns:a16="http://schemas.microsoft.com/office/drawing/2014/main" id="{E5FEEFCA-A8AB-4CD3-A528-88975CAF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元件隔離</a:t>
            </a:r>
          </a:p>
        </p:txBody>
      </p:sp>
      <p:sp>
        <p:nvSpPr>
          <p:cNvPr id="20" name="shape-9lu6sc7">
            <a:extLst xmlns:a="http://schemas.openxmlformats.org/drawingml/2006/main">
              <a:ext uri="{FF2B5EF4-FFF2-40B4-BE49-F238E27FC236}">
                <a16:creationId xmlns:a16="http://schemas.microsoft.com/office/drawing/2014/main" id="{4D5DBC13-727D-49DB-9993-553162B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23813">
            <a:solidFill>
              <a:srgbClr val="ED7D16"/>
            </a:solidFill>
            <a:prstDash val="solid"/>
          </a:ln>
        </p:spPr>
      </p:sp>
      <p:sp>
        <p:nvSpPr>
          <p:cNvPr id="21" name="text-7v3ouj4">
            <a:extLst xmlns:a="http://schemas.openxmlformats.org/drawingml/2006/main">
              <a:ext uri="{FF2B5EF4-FFF2-40B4-BE49-F238E27FC236}">
                <a16:creationId xmlns:a16="http://schemas.microsoft.com/office/drawing/2014/main" id="{27477AA3-FA75-4A9D-A72F-E0986C33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2" name="text-ymh2ie9">
            <a:extLst xmlns:a="http://schemas.openxmlformats.org/drawingml/2006/main">
              <a:ext uri="{FF2B5EF4-FFF2-40B4-BE49-F238E27FC236}">
                <a16:creationId xmlns:a16="http://schemas.microsoft.com/office/drawing/2014/main" id="{BD7C127F-14C7-4851-8EE0-7468FDB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Tier 3</a:t>
            </a:r>
          </a:p>
        </p:txBody>
      </p:sp>
      <p:sp>
        <p:nvSpPr>
          <p:cNvPr id="23" name="text-4uaor3c">
            <a:extLst xmlns:a="http://schemas.openxmlformats.org/drawingml/2006/main">
              <a:ext uri="{FF2B5EF4-FFF2-40B4-BE49-F238E27FC236}">
                <a16:creationId xmlns:a16="http://schemas.microsoft.com/office/drawing/2014/main" id="{48F19241-CAE7-4E09-9B89-2034061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自動交付</a:t>
            </a:r>
          </a:p>
        </p:txBody>
      </p:sp>
      <p:sp>
        <p:nvSpPr>
          <p:cNvPr id="24" name="shape-koh19u9">
            <a:extLst xmlns:a="http://schemas.openxmlformats.org/drawingml/2006/main">
              <a:ext uri="{FF2B5EF4-FFF2-40B4-BE49-F238E27FC236}">
                <a16:creationId xmlns:a16="http://schemas.microsoft.com/office/drawing/2014/main" id="{03986F53-26AC-4770-9680-3BD4DE97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23813">
            <a:solidFill>
              <a:srgbClr val="ED7D16"/>
            </a:solidFill>
            <a:prstDash val="solid"/>
          </a:ln>
        </p:spPr>
      </p:sp>
      <p:sp>
        <p:nvSpPr>
          <p:cNvPr id="25" name="text-xt5i74d">
            <a:extLst xmlns:a="http://schemas.openxmlformats.org/drawingml/2006/main">
              <a:ext uri="{FF2B5EF4-FFF2-40B4-BE49-F238E27FC236}">
                <a16:creationId xmlns:a16="http://schemas.microsoft.com/office/drawing/2014/main" id="{31634365-63C0-4B64-B816-D5E8ACE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6" name="text-x1upjqx">
            <a:extLst xmlns:a="http://schemas.openxmlformats.org/drawingml/2006/main">
              <a:ext uri="{FF2B5EF4-FFF2-40B4-BE49-F238E27FC236}">
                <a16:creationId xmlns:a16="http://schemas.microsoft.com/office/drawing/2014/main" id="{76EF4A84-2520-4D00-98E6-86B96F8E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Tier 4</a:t>
            </a:r>
          </a:p>
        </p:txBody>
      </p:sp>
      <p:sp>
        <p:nvSpPr>
          <p:cNvPr id="27" name="text-abclodm">
            <a:extLst xmlns:a="http://schemas.openxmlformats.org/drawingml/2006/main">
              <a:ext uri="{FF2B5EF4-FFF2-40B4-BE49-F238E27FC236}">
                <a16:creationId xmlns:a16="http://schemas.microsoft.com/office/drawing/2014/main" id="{5AAD1C8F-E311-4148-882B-6749CA5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微服務</a:t>
            </a:r>
          </a:p>
        </p:txBody>
      </p:sp>
      <p:sp>
        <p:nvSpPr>
          <p:cNvPr id="28" name="shape-954p2rp">
            <a:extLst xmlns:a="http://schemas.openxmlformats.org/drawingml/2006/main">
              <a:ext uri="{FF2B5EF4-FFF2-40B4-BE49-F238E27FC236}">
                <a16:creationId xmlns:a16="http://schemas.microsoft.com/office/drawing/2014/main" id="{55E54C38-84F0-47BF-8612-BF9DD3AA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23813">
            <a:solidFill>
              <a:srgbClr val="A86900"/>
            </a:solidFill>
            <a:prstDash val="solid"/>
          </a:ln>
        </p:spPr>
      </p:sp>
      <p:sp>
        <p:nvSpPr>
          <p:cNvPr id="29" name="text-dzv3sog">
            <a:extLst xmlns:a="http://schemas.openxmlformats.org/drawingml/2006/main">
              <a:ext uri="{FF2B5EF4-FFF2-40B4-BE49-F238E27FC236}">
                <a16:creationId xmlns:a16="http://schemas.microsoft.com/office/drawing/2014/main" id="{34DF7942-A49E-44E5-BF17-6EEF6650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A8690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A86900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30" name="text-lczcl1f">
            <a:extLst xmlns:a="http://schemas.openxmlformats.org/drawingml/2006/main">
              <a:ext uri="{FF2B5EF4-FFF2-40B4-BE49-F238E27FC236}">
                <a16:creationId xmlns:a16="http://schemas.microsoft.com/office/drawing/2014/main" id="{DFADA8F7-1273-4EF5-84AD-5533A9ED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623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8690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A86900"/>
                </a:solidFill>
                <a:latin typeface="PingFang TC"/>
                <a:ea typeface="PingFang TC"/>
                <a:cs typeface="PingFang TC"/>
              </a:rPr>
              <a:t>Tier 5</a:t>
            </a:r>
          </a:p>
        </p:txBody>
      </p:sp>
      <p:sp>
        <p:nvSpPr>
          <p:cNvPr id="31" name="text-lz69d23">
            <a:extLst xmlns:a="http://schemas.openxmlformats.org/drawingml/2006/main">
              <a:ext uri="{FF2B5EF4-FFF2-40B4-BE49-F238E27FC236}">
                <a16:creationId xmlns:a16="http://schemas.microsoft.com/office/drawing/2014/main" id="{D117AE6A-D036-42D0-8EF0-D7FA846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Agentic AI</a:t>
            </a:r>
          </a:p>
        </p:txBody>
      </p:sp>
      <p:sp>
        <p:nvSpPr>
          <p:cNvPr id="32" name="text-dyy0nfk">
            <a:extLst xmlns:a="http://schemas.openxmlformats.org/drawingml/2006/main">
              <a:ext uri="{FF2B5EF4-FFF2-40B4-BE49-F238E27FC236}">
                <a16:creationId xmlns:a16="http://schemas.microsoft.com/office/drawing/2014/main" id="{6C6F4F7F-7C72-489B-8D34-87B3219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86375"/>
            <a:ext cx="975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每一層都保留可運作成果、架構理由與 AWS 驗證，不把技術名詞當成完成</a:t>
            </a:r>
          </a:p>
        </p:txBody>
      </p:sp>
    </p:spTree>
    <p:extLst>
      <p:ext uri="{BB962C8B-B14F-4D97-AF65-F5344CB8AC3E}">
        <p14:creationId xmlns:p14="http://schemas.microsoft.com/office/powerpoint/2010/main" val="1217002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AACE6C34-8F3A-4F66-9501-C6400D27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這個專案展示的是完整的雲端產品工程能力</a:t>
            </a:r>
          </a:p>
        </p:txBody>
      </p:sp>
      <p:sp>
        <p:nvSpPr>
          <p:cNvPr id="2" name="shape-bn77l8l">
            <a:extLst xmlns:a="http://schemas.openxmlformats.org/drawingml/2006/main">
              <a:ext uri="{FF2B5EF4-FFF2-40B4-BE49-F238E27FC236}">
                <a16:creationId xmlns:a16="http://schemas.microsoft.com/office/drawing/2014/main" id="{AEE0BA14-221C-4DA4-8FCA-1C720B7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3" name="text-as81pdt">
            <a:extLst xmlns:a="http://schemas.openxmlformats.org/drawingml/2006/main">
              <a:ext uri="{FF2B5EF4-FFF2-40B4-BE49-F238E27FC236}">
                <a16:creationId xmlns:a16="http://schemas.microsoft.com/office/drawing/2014/main" id="{DE087DE9-F542-4C4B-BE57-D81836E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共演計劃｜AWS 產品架構展示</a:t>
            </a:r>
          </a:p>
        </p:txBody>
      </p:sp>
      <p:sp>
        <p:nvSpPr>
          <p:cNvPr id="4" name="text-35s6q51">
            <a:extLst xmlns:a="http://schemas.openxmlformats.org/drawingml/2006/main">
              <a:ext uri="{FF2B5EF4-FFF2-40B4-BE49-F238E27FC236}">
                <a16:creationId xmlns:a16="http://schemas.microsoft.com/office/drawing/2014/main" id="{07929765-87CA-458A-8CD0-BC8D2EC1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text-1hh2tss">
            <a:extLst xmlns:a="http://schemas.openxmlformats.org/drawingml/2006/main">
              <a:ext uri="{FF2B5EF4-FFF2-40B4-BE49-F238E27FC236}">
                <a16:creationId xmlns:a16="http://schemas.microsoft.com/office/drawing/2014/main" id="{0C3014EC-2A12-472D-9ADE-8E7F0B2C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不只把功能搬上雲，而是把產品、風險與維運一起設計</a:t>
            </a:r>
          </a:p>
        </p:txBody>
      </p:sp>
      <p:sp>
        <p:nvSpPr>
          <p:cNvPr id="6" name="text-lb559hi">
            <a:extLst xmlns:a="http://schemas.openxmlformats.org/drawingml/2006/main">
              <a:ext uri="{FF2B5EF4-FFF2-40B4-BE49-F238E27FC236}">
                <a16:creationId xmlns:a16="http://schemas.microsoft.com/office/drawing/2014/main" id="{35A470DA-50A1-4A13-A4F8-F6DA477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75B5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7" name="shape-8ashvqy">
            <a:extLst xmlns:a="http://schemas.openxmlformats.org/drawingml/2006/main">
              <a:ext uri="{FF2B5EF4-FFF2-40B4-BE49-F238E27FC236}">
                <a16:creationId xmlns:a16="http://schemas.microsoft.com/office/drawing/2014/main" id="{3ECDDA18-8E42-4DAD-AB12-0335510C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4288">
            <a:solidFill>
              <a:srgbClr val="2F75B5"/>
            </a:solidFill>
            <a:prstDash val="solid"/>
          </a:ln>
        </p:spPr>
      </p:sp>
      <p:sp>
        <p:nvSpPr>
          <p:cNvPr id="8" name="text-1gq3llm">
            <a:extLst xmlns:a="http://schemas.openxmlformats.org/drawingml/2006/main">
              <a:ext uri="{FF2B5EF4-FFF2-40B4-BE49-F238E27FC236}">
                <a16:creationId xmlns:a16="http://schemas.microsoft.com/office/drawing/2014/main" id="{44DA19BA-EA0C-46B7-88F0-D81F5A98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多人共演體驗</a:t>
            </a:r>
          </a:p>
        </p:txBody>
      </p:sp>
      <p:sp>
        <p:nvSpPr>
          <p:cNvPr id="9" name="text-dw321xk">
            <a:extLst xmlns:a="http://schemas.openxmlformats.org/drawingml/2006/main">
              <a:ext uri="{FF2B5EF4-FFF2-40B4-BE49-F238E27FC236}">
                <a16:creationId xmlns:a16="http://schemas.microsoft.com/office/drawing/2014/main" id="{BB482660-F0FF-4373-A489-AD9A24D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2438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共同決策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可玩閉環與真實驗證</a:t>
            </a:r>
          </a:p>
        </p:txBody>
      </p:sp>
      <p:sp>
        <p:nvSpPr>
          <p:cNvPr id="10" name="text-kd5mgwa">
            <a:extLst xmlns:a="http://schemas.openxmlformats.org/drawingml/2006/main">
              <a:ext uri="{FF2B5EF4-FFF2-40B4-BE49-F238E27FC236}">
                <a16:creationId xmlns:a16="http://schemas.microsoft.com/office/drawing/2014/main" id="{326D972D-1172-4607-9E0E-6ADA29F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8B57"/>
                </a:solidFill>
                <a:latin typeface="PingFang TC"/>
                <a:ea typeface="PingFang TC"/>
                <a:cs typeface="PingFang TC"/>
              </a:rPr>
              <a:t>雲端工程</a:t>
            </a:r>
          </a:p>
        </p:txBody>
      </p:sp>
      <p:sp>
        <p:nvSpPr>
          <p:cNvPr id="11" name="shape-j41205d">
            <a:extLst xmlns:a="http://schemas.openxmlformats.org/drawingml/2006/main">
              <a:ext uri="{FF2B5EF4-FFF2-40B4-BE49-F238E27FC236}">
                <a16:creationId xmlns:a16="http://schemas.microsoft.com/office/drawing/2014/main" id="{F6A16A14-CFC7-4CD7-8BA4-86931EE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</p:sp>
      <p:sp>
        <p:nvSpPr>
          <p:cNvPr id="12" name="text-yubyo2x">
            <a:extLst xmlns:a="http://schemas.openxmlformats.org/drawingml/2006/main">
              <a:ext uri="{FF2B5EF4-FFF2-40B4-BE49-F238E27FC236}">
                <a16:creationId xmlns:a16="http://schemas.microsoft.com/office/drawing/2014/main" id="{48840E3F-64C0-4262-A6C4-F1F0268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可部署與可維運</a:t>
            </a:r>
          </a:p>
        </p:txBody>
      </p:sp>
      <p:sp>
        <p:nvSpPr>
          <p:cNvPr id="13" name="text-138onj8">
            <a:extLst xmlns:a="http://schemas.openxmlformats.org/drawingml/2006/main">
              <a:ext uri="{FF2B5EF4-FFF2-40B4-BE49-F238E27FC236}">
                <a16:creationId xmlns:a16="http://schemas.microsoft.com/office/drawing/2014/main" id="{4DE59631-F107-4AB4-8D17-C3BB6F91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90825"/>
            <a:ext cx="2438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IaC · private data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SSM · CloudWatch</a:t>
            </a:r>
          </a:p>
        </p:txBody>
      </p:sp>
      <p:sp>
        <p:nvSpPr>
          <p:cNvPr id="14" name="text-3vxk4ki">
            <a:extLst xmlns:a="http://schemas.openxmlformats.org/drawingml/2006/main">
              <a:ext uri="{FF2B5EF4-FFF2-40B4-BE49-F238E27FC236}">
                <a16:creationId xmlns:a16="http://schemas.microsoft.com/office/drawing/2014/main" id="{2AB6CADD-4AF4-44F3-B92E-2099121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66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D7D16"/>
                </a:solidFill>
                <a:latin typeface="PingFang TC"/>
                <a:ea typeface="PingFang TC"/>
                <a:cs typeface="PingFang TC"/>
              </a:rPr>
              <a:t>持續演進</a:t>
            </a:r>
          </a:p>
        </p:txBody>
      </p:sp>
      <p:sp>
        <p:nvSpPr>
          <p:cNvPr id="15" name="shape-nhmftg6">
            <a:extLst xmlns:a="http://schemas.openxmlformats.org/drawingml/2006/main">
              <a:ext uri="{FF2B5EF4-FFF2-40B4-BE49-F238E27FC236}">
                <a16:creationId xmlns:a16="http://schemas.microsoft.com/office/drawing/2014/main" id="{FF5B194A-6453-4BA7-9783-E7962AA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D7D16"/>
            </a:solidFill>
            <a:prstDash val="solid"/>
          </a:ln>
        </p:spPr>
      </p:sp>
      <p:sp>
        <p:nvSpPr>
          <p:cNvPr id="16" name="text-43hopv3">
            <a:extLst xmlns:a="http://schemas.openxmlformats.org/drawingml/2006/main">
              <a:ext uri="{FF2B5EF4-FFF2-40B4-BE49-F238E27FC236}">
                <a16:creationId xmlns:a16="http://schemas.microsoft.com/office/drawing/2014/main" id="{79D5B988-0AD6-426E-A1E6-F3CD73D9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價值驅動架構</a:t>
            </a:r>
          </a:p>
        </p:txBody>
      </p:sp>
      <p:sp>
        <p:nvSpPr>
          <p:cNvPr id="17" name="text-1a57shj">
            <a:extLst xmlns:a="http://schemas.openxmlformats.org/drawingml/2006/main">
              <a:ext uri="{FF2B5EF4-FFF2-40B4-BE49-F238E27FC236}">
                <a16:creationId xmlns:a16="http://schemas.microsoft.com/office/drawing/2014/main" id="{60B91226-862C-4FA0-80D8-52EFB64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90825"/>
            <a:ext cx="2438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CI/CD · 微服務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RAG · Agentic AI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86150" y="3171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8B57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62750" y="3171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D7D16"/>
            </a:solidFill>
            <a:prstDash val="solid"/>
            <a:tailEnd type="arrow" w="med" len="med"/>
          </a:ln>
        </p:spPr>
      </p:cxnSp>
      <p:sp>
        <p:nvSpPr>
          <p:cNvPr id="20" name="shape-rm16rop">
            <a:extLst xmlns:a="http://schemas.openxmlformats.org/drawingml/2006/main">
              <a:ext uri="{FF2B5EF4-FFF2-40B4-BE49-F238E27FC236}">
                <a16:creationId xmlns:a16="http://schemas.microsoft.com/office/drawing/2014/main" id="{003889D8-7985-4CE7-A1F6-CB7E828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9220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text-2tlm2y7">
            <a:extLst xmlns:a="http://schemas.openxmlformats.org/drawingml/2006/main">
              <a:ext uri="{FF2B5EF4-FFF2-40B4-BE49-F238E27FC236}">
                <a16:creationId xmlns:a16="http://schemas.microsoft.com/office/drawing/2014/main" id="{4E86AFFE-1F24-48F9-9BC5-D80C22A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下一步：5xx alarm → AIOps incident</a:t>
            </a:r>
          </a:p>
        </p:txBody>
      </p:sp>
      <p:sp>
        <p:nvSpPr>
          <p:cNvPr id="22" name="text-v9k0v9m">
            <a:extLst xmlns:a="http://schemas.openxmlformats.org/drawingml/2006/main">
              <a:ext uri="{FF2B5EF4-FFF2-40B4-BE49-F238E27FC236}">
                <a16:creationId xmlns:a16="http://schemas.microsoft.com/office/drawing/2014/main" id="{FDB58AB1-1601-4035-B77A-93290C19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67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5717C"/>
                </a:solidFill>
                <a:latin typeface="PingFang TC"/>
                <a:ea typeface="PingFang TC"/>
                <a:cs typeface="PingFang TC"/>
              </a:rPr>
              <a:t>每次擴張都附帶成本、安全、rollback 與驗證</a:t>
            </a:r>
          </a:p>
        </p:txBody>
      </p:sp>
      <p:sp>
        <p:nvSpPr>
          <p:cNvPr id="23" name="text-dhz0vl2">
            <a:extLst xmlns:a="http://schemas.openxmlformats.org/drawingml/2006/main">
              <a:ext uri="{FF2B5EF4-FFF2-40B4-BE49-F238E27FC236}">
                <a16:creationId xmlns:a16="http://schemas.microsoft.com/office/drawing/2014/main" id="{5E53B27C-310F-4CFC-B093-19023EFB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7324D"/>
                </a:solidFill>
                <a:latin typeface="PingFang TC"/>
                <a:ea typeface="PingFang TC"/>
                <a:cs typeface="PingFang TC"/>
              </a:rPr>
              <a:t>共演計劃：一個能從作品成長為服務的 AWS 產品</a:t>
            </a:r>
          </a:p>
        </p:txBody>
      </p:sp>
    </p:spTree>
    <p:extLst>
      <p:ext uri="{BB962C8B-B14F-4D97-AF65-F5344CB8AC3E}">
        <p14:creationId xmlns:p14="http://schemas.microsoft.com/office/powerpoint/2010/main" val="512690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2026-08-24T03:49:27.2350000Z</dcterms:created>
  <dcterms:modified xsi:type="dcterms:W3CDTF">2026-08-24T03:49:27.2350000Z</dcterms:modified>
</coreProperties>
</file>